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1" r:id="Rd84d0f967edf4479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2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8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9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20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7.xml"/><Relationship Id="Rb39dd1583b024f6c" Type="http://schemas.openxmlformats.org/officeDocument/2006/relationships/slide" Target="slides/slide21.xml"/><Relationship Id="Rb95112417bb145c4" Type="http://schemas.openxmlformats.org/officeDocument/2006/relationships/slide" Target="slides/slide24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d84d0f967edf4479" Type="http://schemas.openxmlformats.org/officeDocument/2006/relationships/slide" Target="slides/slide16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3.xml"/><Relationship Id="rId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83dc468999404392" Type="http://schemas.openxmlformats.org/officeDocument/2006/relationships/slide" Target="../slides/slide16.xml"/><Relationship Id="Rf5c43c42726a4ca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7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8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9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20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1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2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4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秒】先談問題與營運，再由家全說明技術、功能與Demo，最後回到進度與限制。主講14分30秒，保留30秒緩衝；附錄供問答使用。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問答：用系統程式組出真實 prompt，最多約 9 千 token 輸入、2 千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資料預先切段並建立向量；向量無結果時回退關鍵字。引用支持人工回查，不保證每句結論都有充分證據。尚未完成專家知識庫和固定題組評估。來源：backend/app/services/rag_service.py（parse_question_intent、RRF_K、混合檢索）；embedding_service.py；article_compress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秒】PostgreSQL10項可核對2026/10/03原始XML；E2E4項可核對2026/09/27 17:14的all-results.xml，較早一份曾有1項失敗，保留失敗歷程。後端pytest與前端Vitest已於10/12重跑：後端493通過、1略過，前端43通過，報告存於backend/.test-artifacts。高負載、人工標註與檢索題組尚待驗證。來源：backend/.test-artifacts/pytest-20261012.xml、vitest-20261012.xml、postgres-results.xml、all-results.xml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提交數由GitHub遠端於2026/10/12確認：5月14、6月0、7月27、8月42、9月47、10月30，總160；7–10月146，皆已推送。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測試報告可核對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結束於14:30，保留30秒緩衝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52a0f6ed39fd419f" Type="http://schemas.openxmlformats.org/officeDocument/2006/relationships/notesSlide" Target="../notesSlides/notesSlide16.xml"/><Relationship Id="Re89930689b22490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160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15 MIN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7452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5577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14 分 30 秒主講，保留 30 秒緩衝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337ECD-DA45-4041-86CE-5B52C945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0:35–4:25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5CB081B-9640-426B-B589-1CA1FDE1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4:25–7:20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實機展示、測試證據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1707E0E-4583-4848-9066-6812488A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7:20–11:30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FCA79A7-477B-467C-A67D-655C618F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4937760"/>
            <a:ext cx="25237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11:30–14:30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項初評意見與回應頁碼，逐條對照於附錄 A、B</a:t>
            </a:r>
            <a:endParaRPr sz="1400"/>
          </a:p>
        </p:txBody>
      </p:sp>
      <p:sp>
        <p:nvSpPr>
          <p:cNvPr id="36" name="陳威帆 · 0:20–0:35">
            <a:extLst xmlns:a="http://schemas.openxmlformats.org/drawingml/2006/main">
              <a:ext uri="{FF2B5EF4-FFF2-40B4-BE49-F238E27FC236}">
                <a16:creationId xmlns:a16="http://schemas.microsoft.com/office/drawing/2014/main" id="{A7B5A32B-B239-4E44-AC24-585C9C8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0:20–0:35</a:t>
            </a:r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4" name="陳威帆 · 0:35–1:15">
            <a:extLst xmlns:a="http://schemas.openxmlformats.org/drawingml/2006/main">
              <a:ext uri="{FF2B5EF4-FFF2-40B4-BE49-F238E27FC236}">
                <a16:creationId xmlns:a16="http://schemas.microsoft.com/office/drawing/2014/main" id="{34BD9E31-64E3-4CAB-A968-734B96A5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0:35–1:15</a:t>
            </a:r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6" name="陳威帆 · 1:15–1:50">
            <a:extLst xmlns:a="http://schemas.openxmlformats.org/drawingml/2006/main">
              <a:ext uri="{FF2B5EF4-FFF2-40B4-BE49-F238E27FC236}">
                <a16:creationId xmlns:a16="http://schemas.microsoft.com/office/drawing/2014/main" id="{11F455A9-78D6-42C9-91DB-A24956B1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1:15–1:50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2" name="陳威帆 · 1:50–2:30">
            <a:extLst xmlns:a="http://schemas.openxmlformats.org/drawingml/2006/main">
              <a:ext uri="{FF2B5EF4-FFF2-40B4-BE49-F238E27FC236}">
                <a16:creationId xmlns:a16="http://schemas.microsoft.com/office/drawing/2014/main" id="{1239E67C-7E93-40E5-97FD-9F90C84D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1:50–2:30</a:t>
            </a:r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5" name="陳威帆 · 2:30–3:05">
            <a:extLst xmlns:a="http://schemas.openxmlformats.org/drawingml/2006/main">
              <a:ext uri="{FF2B5EF4-FFF2-40B4-BE49-F238E27FC236}">
                <a16:creationId xmlns:a16="http://schemas.microsoft.com/office/drawing/2014/main" id="{BC982EA8-545D-477C-8DB7-CB5D129D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2:30–3:05</a:t>
            </a:r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損益平衡點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個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專業版付費帳號／月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收入 1,960 ＞ 支出 1,558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每月 1,450 固定支出＋每帳號 27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8" name="陳威帆 · 3:05–3:50">
            <a:extLst xmlns:a="http://schemas.openxmlformats.org/drawingml/2006/main">
              <a:ext uri="{FF2B5EF4-FFF2-40B4-BE49-F238E27FC236}">
                <a16:creationId xmlns:a16="http://schemas.microsoft.com/office/drawing/2014/main" id="{6B13CACB-5429-4B4E-8705-C61874EE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3:05–3:50</a:t>
            </a:r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8" name="陳威帆 · 3:50–4:25">
            <a:extLst xmlns:a="http://schemas.openxmlformats.org/drawingml/2006/main">
              <a:ext uri="{FF2B5EF4-FFF2-40B4-BE49-F238E27FC236}">
                <a16:creationId xmlns:a16="http://schemas.microsoft.com/office/drawing/2014/main" id="{5E1A92CE-5E9B-40D4-AB1B-030C85CB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3:50–4:25</a:t>
            </a:r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3" name="許家全 · 4:25–5:10">
            <a:extLst xmlns:a="http://schemas.openxmlformats.org/drawingml/2006/main">
              <a:ext uri="{FF2B5EF4-FFF2-40B4-BE49-F238E27FC236}">
                <a16:creationId xmlns:a16="http://schemas.microsoft.com/office/drawing/2014/main" id="{D88E650D-A0FC-41A9-8332-49B526C1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4:25–5:10</a:t>
            </a:r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5" name="許家全 · 5:10–5:50">
            <a:extLst xmlns:a="http://schemas.openxmlformats.org/drawingml/2006/main">
              <a:ext uri="{FF2B5EF4-FFF2-40B4-BE49-F238E27FC236}">
                <a16:creationId xmlns:a16="http://schemas.microsoft.com/office/drawing/2014/main" id="{1199BFDD-CEBC-4035-91D6-76DEC2CF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5:10–5:50</a:t>
            </a:r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3" name="許家全 · 5:50–6:35">
            <a:extLst xmlns:a="http://schemas.openxmlformats.org/drawingml/2006/main">
              <a:ext uri="{FF2B5EF4-FFF2-40B4-BE49-F238E27FC236}">
                <a16:creationId xmlns:a16="http://schemas.microsoft.com/office/drawing/2014/main" id="{209D6858-4F66-42BB-AE07-5F5B74BF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5:50–6:35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3" name="許家全 · 6:35–7:20">
            <a:extLst xmlns:a="http://schemas.openxmlformats.org/drawingml/2006/main">
              <a:ext uri="{FF2B5EF4-FFF2-40B4-BE49-F238E27FC236}">
                <a16:creationId xmlns:a16="http://schemas.microsoft.com/office/drawing/2014/main" id="{FA88BA15-74D1-4710-8B9E-0D832E8B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6:35–7:20</a:t>
            </a:r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3" name="許家全 · 7:20–8:00">
            <a:extLst xmlns:a="http://schemas.openxmlformats.org/drawingml/2006/main">
              <a:ext uri="{FF2B5EF4-FFF2-40B4-BE49-F238E27FC236}">
                <a16:creationId xmlns:a16="http://schemas.microsoft.com/office/drawing/2014/main" id="{3CFAA62A-AF22-4B52-AE23-A600D1B9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7:20–8:00</a:t>
            </a:r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6" name="許家全 · 8:00–8:35">
            <a:extLst xmlns:a="http://schemas.openxmlformats.org/drawingml/2006/main">
              <a:ext uri="{FF2B5EF4-FFF2-40B4-BE49-F238E27FC236}">
                <a16:creationId xmlns:a16="http://schemas.microsoft.com/office/drawing/2014/main" id="{256D84E3-1A04-45AE-B6C2-61D7838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8:00–8:35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2" name="許家全 · 8:35–10:55">
            <a:extLst xmlns:a="http://schemas.openxmlformats.org/drawingml/2006/main">
              <a:ext uri="{FF2B5EF4-FFF2-40B4-BE49-F238E27FC236}">
                <a16:creationId xmlns:a16="http://schemas.microsoft.com/office/drawing/2014/main" id="{3FAED758-A0C2-4EBA-A42C-BB1D0193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8:35–10:55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分層測試：區分原始報告與原稿紀錄">
            <a:extLst xmlns:a="http://schemas.openxmlformats.org/drawingml/2006/main">
              <a:ext uri="{FF2B5EF4-FFF2-40B4-BE49-F238E27FC236}">
                <a16:creationId xmlns:a16="http://schemas.microsoft.com/office/drawing/2014/main" id="{D16A66BA-E063-48C5-8CED-B168A753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分層測試：每一層都有可核對的原始報告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A74EC-4A35-461F-ABDB-A1528177ABA7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4000500"/>
                <a:gridCol w="4305300"/>
              </a:tblGrid>
              <a:tr h="6381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層級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結果與日期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本次可核對的證據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PostgreSQL 整合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10 通過｜2026/10/03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postgres-results.xml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Chromium 端對端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 通過｜2026/09/27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all-results.xml 內 4 個 E2E 案例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後端 pytest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493 通過、1 略過｜2026/10/12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pytest-20261012.xml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前端 Vitest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43 通過｜2026/10/12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vitest-20261012.xml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測試能支持流程；外部模型的固定回應不能證明回答品質。">
            <a:extLst xmlns:a="http://schemas.openxmlformats.org/drawingml/2006/main">
              <a:ext uri="{FF2B5EF4-FFF2-40B4-BE49-F238E27FC236}">
                <a16:creationId xmlns:a16="http://schemas.microsoft.com/office/drawing/2014/main" id="{2794C48B-BB46-47CC-BC47-B9099746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81600"/>
            <a:ext cx="1072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測試能支持流程；外部模型的固定回應不能證明回答品質。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D7C7B-A4A7-4323-83BE-56D71FBE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以上為歷史紀錄，本次未重跑系統測試；不同日期、範圍的測試不累">
            <a:extLst xmlns:a="http://schemas.openxmlformats.org/drawingml/2006/main">
              <a:ext uri="{FF2B5EF4-FFF2-40B4-BE49-F238E27FC236}">
                <a16:creationId xmlns:a16="http://schemas.microsoft.com/office/drawing/2014/main" id="{474FE176-8F6C-43D2-BF97-B262F2A7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單元／API 測試 10/12 重跑並保存 XML；PostgreSQL、E2E 為先前報告，不同日期不累加。</a:t>
            </a:r>
          </a:p>
        </p:txBody>
      </p:sp>
      <p:sp>
        <p:nvSpPr>
          <p:cNvPr id="7" name="許家全 · 10:55–11:30">
            <a:extLst xmlns:a="http://schemas.openxmlformats.org/drawingml/2006/main">
              <a:ext uri="{FF2B5EF4-FFF2-40B4-BE49-F238E27FC236}">
                <a16:creationId xmlns:a16="http://schemas.microsoft.com/office/drawing/2014/main" id="{ADC34263-8249-4F0D-8E5E-90DCF42F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許家全 · 10:55–11:30</a:t>
            </a:r>
          </a:p>
        </p:txBody>
      </p:sp>
      <p:sp>
        <p:nvSpPr>
          <p:cNvPr id="8" name="16">
            <a:extLst xmlns:a="http://schemas.openxmlformats.org/drawingml/2006/main">
              <a:ext uri="{FF2B5EF4-FFF2-40B4-BE49-F238E27FC236}">
                <a16:creationId xmlns:a16="http://schemas.microsoft.com/office/drawing/2014/main" id="{0F8FF5F3-E919-4AB8-85B5-F26C52CD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438303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爬蟲、儀表板雛形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帳號、WebSocket、Threads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Dcard、Mobile01、方案額度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遷移、向量檢索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整合測試、情緒一致性修正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146 次提交（截至 10/12，皆已推送）；非逐人貢獻比例。</a:t>
            </a:r>
            <a:endParaRPr sz="1400"/>
          </a:p>
        </p:txBody>
      </p:sp>
      <p:sp>
        <p:nvSpPr>
          <p:cNvPr id="54" name="陳威帆 · 11:30–12:15">
            <a:extLst xmlns:a="http://schemas.openxmlformats.org/drawingml/2006/main">
              <a:ext uri="{FF2B5EF4-FFF2-40B4-BE49-F238E27FC236}">
                <a16:creationId xmlns:a16="http://schemas.microsoft.com/office/drawing/2014/main" id="{CB8A64D2-E498-4020-B1A2-49E6B8E7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11:30–12:15</a:t>
            </a:r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0" name="陳威帆 · 12:15–12:45">
            <a:extLst xmlns:a="http://schemas.openxmlformats.org/drawingml/2006/main">
              <a:ext uri="{FF2B5EF4-FFF2-40B4-BE49-F238E27FC236}">
                <a16:creationId xmlns:a16="http://schemas.microsoft.com/office/drawing/2014/main" id="{D2AEDEB7-F2B9-4051-8EE1-9EAEFFA5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12:15–12:45</a:t>
            </a:r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3" name="陳威帆 · 12:45–14:30">
            <a:extLst xmlns:a="http://schemas.openxmlformats.org/drawingml/2006/main">
              <a:ext uri="{FF2B5EF4-FFF2-40B4-BE49-F238E27FC236}">
                <a16:creationId xmlns:a16="http://schemas.microsoft.com/office/drawing/2014/main" id="{E7AAF622-5A08-4036-802C-FF55E468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7200"/>
            <a:ext cx="2790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陳威帆 · 12:45–14:30</a:t>
            </a:r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提交紀錄；p18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TOWS；p19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5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8,963＋輸出 2,150 token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