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6DB-481F-8D9D-1C27ECDCE1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1456</c:v>
                </c:pt>
                <c:pt idx="1">
                  <c:v>1562</c:v>
                </c:pt>
                <c:pt idx="2">
                  <c:v>1668</c:v>
                </c:pt>
                <c:pt idx="3">
                  <c:v>1774</c:v>
                </c:pt>
                <c:pt idx="4">
                  <c:v>1880</c:v>
                </c:pt>
                <c:pt idx="5">
                  <c:v>1986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6DB-481F-8D9D-1C27ECDCE1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zh-TW" altLang="en-US"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000"/>
        </c:scaling>
        <c:delete val="0"/>
        <c:axPos val="l"/>
        <c:majorGridlines>
          <c:spPr>
            <a:ln w="9525">
              <a:solidFill>
                <a:srgbClr val="E2EEF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50112"/>
        <c:crosses val="autoZero"/>
        <c:crossBetween val="between"/>
        <c:majorUnit val="2500"/>
      </c:valAx>
      <c:spPr>
        <a:solidFill>
          <a:srgbClr val="FFFFFF"/>
        </a:solidFill>
      </c:spPr>
    </c:plotArea>
    <c:legend>
      <c:legendPos val="r"/>
      <c:overlay val="0"/>
      <c:txPr>
        <a:bodyPr anchorCtr="1"/>
        <a:lstStyle/>
        <a:p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每月提交（共 </a:t>
            </a:r>
            <a:r>
              <a:rPr lang="en-US" altLang="zh-TW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166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次）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>
              <a:srgbClr val="2073B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>
                    <a:solidFill>
                      <a:srgbClr val="14243A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FB7-4236-9FEC-FAA926E00F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【陳威帆｜20 秒】老師好，我們是第115405組，專題為MeBOD醫美時尚輿情分析系統。今天說明初評後的修正、系統完成度及功能完整性。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【陳威帆｜15 秒】先談問題與營運，再由家全說明技術、功能與Demo，最後回到進度與限制；附錄供問答使用。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秒】初評說我們沒有量化，這頁用實測重算，不再沿用原稿的假設單價。一次 AI 問答包含問題解析與依證據回答兩次呼叫，用系統程式組出真實 prompt，最多約 9,800 token 輸入、2,150 token 輸出，以 Gemini 3.1 Flash-Lite 官方價每百萬 0.25／1.50 美元計算，約 0.18 元；一次洞察約 0.33 元。專業版用戶每月 100 次問答、60 次洞察，加上 3% 金流手續費，變動成本約 53 元。固定支出以 render.yaml 的雲端部署計：主機 25 美元、資料庫 19 美元，加網域與每日判讀約 1,456 元。收入 490N、支出 1,456＋53N，4 個帳號就能打平，每月餘 292 元。但這還沒算人力，算進去要 13 到 22 個帳號，見附錄 C；每個數字的出處在附錄 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秒】初評指出只有 keyword 比對。現在先解析問題意圖，再以關鍵字和向量雙路找證據，RRF 合併排序後給模型作答。在 AI 問答頁提問時，檢索範圍會套用使用者在 Dashboard 選的關鍵字與期間，回答以檢索到的文章為證據、Dashboard 數字為背景，引用清單就是這些文章。資料預先切段並建立向量；向量無結果時回退關鍵字，完全找不到文章時才只用 Dashboard 數字回答。引用支持人工回查，不保證每句結論都有充分證據；尚未完成專家知識庫和固定題組評估。來源：backend/app/services/rag_service.py（answer_question、scope_intent_to_dashboard、RRF_K）；embedding_service.py。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甘特圖保留原稿115/2至116/1的計畫，10月後為計畫工作。繳件與展覽日期沿用原稿，發表前仍按學校公告確認。右側里程碑依各功能第一次提交的月份：5月PTT爬蟲、儀表板與WebSocket；7月帳號登入；8月Dcard、Mobile01、Threads；9月方案額度、Alembic與向量檢索；10月情緒一致性、預警權限與問答檢索修正。提交數由GitHub於10/12統計：5月14、6月0、7月27、8月42、9月47、10月36，共166次，皆已推送；提交集中於單一帳號，不能當作兩位組員的貢獻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【陳威帆｜105 秒】總結三點：一、四平台到問答與報告形成完整研究流程；二、RAG與分數規則已可說明，後端498項、前端43項自動化測試通過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原第16頁測試頁已刪除，主講約13分55秒，可在Demo或此頁多說約35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備詢：編號與名稱依使用者提供初評評審意見整理.pdf第3頁。回應頁碼按本簡報更新。成本和商業模式屬文件與情境補強，不宣稱市場驗證完成。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500" b="1" spc="300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第115405組</a:t>
            </a:r>
            <a:endParaRPr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noGrp="1"/>
          </p:cNvSpPr>
          <p:nvPr/>
        </p:nvSpPr>
        <p:spPr>
          <a:xfrm>
            <a:off x="1783080" y="18745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noGrp="1"/>
          </p:cNvSpPr>
          <p:nvPr/>
        </p:nvSpPr>
        <p:spPr>
          <a:xfrm>
            <a:off x="731520" y="292608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noGrp="1"/>
          </p:cNvSpPr>
          <p:nvPr/>
        </p:nvSpPr>
        <p:spPr>
          <a:xfrm>
            <a:off x="731520" y="361188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noGrp="1"/>
          </p:cNvSpPr>
          <p:nvPr/>
        </p:nvSpPr>
        <p:spPr>
          <a:xfrm>
            <a:off x="731520" y="59893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noGrp="1"/>
          </p:cNvSpPr>
          <p:nvPr/>
        </p:nvSpPr>
        <p:spPr>
          <a:xfrm>
            <a:off x="731520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noGrp="1"/>
          </p:cNvSpPr>
          <p:nvPr/>
        </p:nvSpPr>
        <p:spPr>
          <a:xfrm>
            <a:off x="868680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noGrp="1"/>
          </p:cNvSpPr>
          <p:nvPr/>
        </p:nvSpPr>
        <p:spPr>
          <a:xfrm>
            <a:off x="3465576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noGrp="1"/>
          </p:cNvSpPr>
          <p:nvPr/>
        </p:nvSpPr>
        <p:spPr>
          <a:xfrm>
            <a:off x="3465576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noGrp="1"/>
          </p:cNvSpPr>
          <p:nvPr/>
        </p:nvSpPr>
        <p:spPr>
          <a:xfrm>
            <a:off x="3557016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noGrp="1"/>
          </p:cNvSpPr>
          <p:nvPr/>
        </p:nvSpPr>
        <p:spPr>
          <a:xfrm>
            <a:off x="3602736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noGrp="1"/>
          </p:cNvSpPr>
          <p:nvPr/>
        </p:nvSpPr>
        <p:spPr>
          <a:xfrm>
            <a:off x="6199632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noGrp="1"/>
          </p:cNvSpPr>
          <p:nvPr/>
        </p:nvSpPr>
        <p:spPr>
          <a:xfrm>
            <a:off x="6291072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noGrp="1"/>
          </p:cNvSpPr>
          <p:nvPr/>
        </p:nvSpPr>
        <p:spPr>
          <a:xfrm>
            <a:off x="6336792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noGrp="1"/>
          </p:cNvSpPr>
          <p:nvPr/>
        </p:nvSpPr>
        <p:spPr>
          <a:xfrm>
            <a:off x="8933688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noGrp="1"/>
          </p:cNvSpPr>
          <p:nvPr/>
        </p:nvSpPr>
        <p:spPr>
          <a:xfrm>
            <a:off x="8933688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noGrp="1"/>
          </p:cNvSpPr>
          <p:nvPr/>
        </p:nvSpPr>
        <p:spPr>
          <a:xfrm>
            <a:off x="9025128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noGrp="1"/>
          </p:cNvSpPr>
          <p:nvPr/>
        </p:nvSpPr>
        <p:spPr>
          <a:xfrm>
            <a:off x="9070848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</a:t>
            </a:r>
            <a:r>
              <a:rPr sz="14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項初評意見與回應頁碼</a:t>
            </a:r>
            <a:endParaRPr sz="1400" dirty="0"/>
          </a:p>
        </p:txBody>
      </p:sp>
      <p:sp>
        <p:nvSpPr>
          <p:cNvPr id="37" name="02">
            <a:extLst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noGrp="1"/>
          </p:cNvSpPr>
          <p:nvPr/>
        </p:nvSpPr>
        <p:spPr>
          <a:xfrm>
            <a:off x="211683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noGrp="1"/>
          </p:cNvSpPr>
          <p:nvPr/>
        </p:nvSpPr>
        <p:spPr>
          <a:xfrm>
            <a:off x="4517136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noGrp="1"/>
          </p:cNvSpPr>
          <p:nvPr/>
        </p:nvSpPr>
        <p:spPr>
          <a:xfrm>
            <a:off x="4517136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noGrp="1"/>
          </p:cNvSpPr>
          <p:nvPr/>
        </p:nvSpPr>
        <p:spPr>
          <a:xfrm>
            <a:off x="941374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20370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noGrp="1"/>
          </p:cNvSpPr>
          <p:nvPr/>
        </p:nvSpPr>
        <p:spPr>
          <a:xfrm>
            <a:off x="8165592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noGrp="1"/>
          </p:cNvSpPr>
          <p:nvPr/>
        </p:nvSpPr>
        <p:spPr>
          <a:xfrm>
            <a:off x="8165592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noGrp="1"/>
          </p:cNvSpPr>
          <p:nvPr/>
        </p:nvSpPr>
        <p:spPr>
          <a:xfrm>
            <a:off x="731520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noGrp="1"/>
          </p:cNvSpPr>
          <p:nvPr/>
        </p:nvSpPr>
        <p:spPr>
          <a:xfrm>
            <a:off x="731520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noGrp="1"/>
          </p:cNvSpPr>
          <p:nvPr/>
        </p:nvSpPr>
        <p:spPr>
          <a:xfrm>
            <a:off x="731520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709160"/>
            <a:ext cx="219456" cy="219456"/>
          </a:xfrm>
          <a:prstGeom prst="rect">
            <a:avLst/>
          </a:prstGeom>
        </p:spPr>
      </p:pic>
      <p:sp>
        <p:nvSpPr>
          <p:cNvPr id="25" name="Shape 19">
            <a:extLst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noGrp="1"/>
          </p:cNvSpPr>
          <p:nvPr/>
        </p:nvSpPr>
        <p:spPr>
          <a:xfrm>
            <a:off x="4379976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noGrp="1"/>
          </p:cNvSpPr>
          <p:nvPr/>
        </p:nvSpPr>
        <p:spPr>
          <a:xfrm>
            <a:off x="4379976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noGrp="1"/>
          </p:cNvSpPr>
          <p:nvPr/>
        </p:nvSpPr>
        <p:spPr>
          <a:xfrm>
            <a:off x="4379976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6" y="4709160"/>
            <a:ext cx="219456" cy="219456"/>
          </a:xfrm>
          <a:prstGeom prst="rect">
            <a:avLst/>
          </a:prstGeom>
        </p:spPr>
      </p:pic>
      <p:sp>
        <p:nvSpPr>
          <p:cNvPr id="29" name="Shape 22">
            <a:extLst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noGrp="1"/>
          </p:cNvSpPr>
          <p:nvPr/>
        </p:nvSpPr>
        <p:spPr>
          <a:xfrm>
            <a:off x="8028432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noGrp="1"/>
          </p:cNvSpPr>
          <p:nvPr/>
        </p:nvSpPr>
        <p:spPr>
          <a:xfrm>
            <a:off x="8028432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noGrp="1"/>
          </p:cNvSpPr>
          <p:nvPr/>
        </p:nvSpPr>
        <p:spPr>
          <a:xfrm>
            <a:off x="8028432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初評意見已轉成具體修正與待辦">
            <a:extLst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="733425" y="1771650"/>
          <a:ext cx="10725150" cy="3676650"/>
        </p:xfrm>
        <a:graphic>
          <a:graphicData uri="http://schemas.openxmlformats.org/drawingml/2006/table">
            <a:tbl>
              <a:tblPr/>
              <a:tblGrid>
                <a:gridCol w="226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本次分別說明：前次修正、系統完成度、功能完整性；未完成項目明">
            <a:extLst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12064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noGrp="1"/>
          </p:cNvSpPr>
          <p:nvPr/>
        </p:nvSpPr>
        <p:spPr>
          <a:xfrm>
            <a:off x="296265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noGrp="1"/>
          </p:cNvSpPr>
          <p:nvPr/>
        </p:nvSpPr>
        <p:spPr>
          <a:xfrm>
            <a:off x="731520" y="28346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noGrp="1"/>
          </p:cNvSpPr>
          <p:nvPr/>
        </p:nvSpPr>
        <p:spPr>
          <a:xfrm>
            <a:off x="731520" y="32918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noGrp="1"/>
          </p:cNvSpPr>
          <p:nvPr/>
        </p:nvSpPr>
        <p:spPr>
          <a:xfrm>
            <a:off x="6217920" y="1783080"/>
            <a:ext cx="5239512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551176"/>
            <a:ext cx="256032" cy="256032"/>
          </a:xfrm>
          <a:prstGeom prst="rect">
            <a:avLst/>
          </a:prstGeom>
        </p:spPr>
      </p:pic>
      <p:sp>
        <p:nvSpPr>
          <p:cNvPr id="23" name="Shape 19">
            <a:extLst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3319272"/>
            <a:ext cx="256032" cy="256032"/>
          </a:xfrm>
          <a:prstGeom prst="rect">
            <a:avLst/>
          </a:prstGeom>
        </p:spPr>
      </p:pic>
      <p:sp>
        <p:nvSpPr>
          <p:cNvPr id="28" name="Shape 23">
            <a:extLst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087368"/>
            <a:ext cx="256032" cy="256032"/>
          </a:xfrm>
          <a:prstGeom prst="rect">
            <a:avLst/>
          </a:prstGeom>
        </p:spPr>
      </p:pic>
      <p:sp>
        <p:nvSpPr>
          <p:cNvPr id="33" name="Shape 27">
            <a:extLst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855464"/>
            <a:ext cx="256032" cy="256032"/>
          </a:xfrm>
          <a:prstGeom prst="rect">
            <a:avLst/>
          </a:prstGeom>
        </p:spPr>
      </p:pic>
      <p:sp>
        <p:nvSpPr>
          <p:cNvPr id="38" name="Shape 31">
            <a:extLst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noGrp="1"/>
          </p:cNvSpPr>
          <p:nvPr/>
        </p:nvSpPr>
        <p:spPr>
          <a:xfrm>
            <a:off x="73152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noGrp="1"/>
          </p:cNvSpPr>
          <p:nvPr/>
        </p:nvSpPr>
        <p:spPr>
          <a:xfrm>
            <a:off x="86868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noGrp="1"/>
          </p:cNvSpPr>
          <p:nvPr/>
        </p:nvSpPr>
        <p:spPr>
          <a:xfrm>
            <a:off x="434340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905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noGrp="1"/>
          </p:cNvSpPr>
          <p:nvPr/>
        </p:nvSpPr>
        <p:spPr>
          <a:xfrm>
            <a:off x="434340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noGrp="1"/>
          </p:cNvSpPr>
          <p:nvPr/>
        </p:nvSpPr>
        <p:spPr>
          <a:xfrm>
            <a:off x="448056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noGrp="1"/>
          </p:cNvSpPr>
          <p:nvPr/>
        </p:nvSpPr>
        <p:spPr>
          <a:xfrm>
            <a:off x="795528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noGrp="1"/>
          </p:cNvSpPr>
          <p:nvPr/>
        </p:nvSpPr>
        <p:spPr>
          <a:xfrm>
            <a:off x="795528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noGrp="1"/>
          </p:cNvSpPr>
          <p:nvPr/>
        </p:nvSpPr>
        <p:spPr>
          <a:xfrm>
            <a:off x="809244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noGrp="1"/>
          </p:cNvSpPr>
          <p:nvPr/>
        </p:nvSpPr>
        <p:spPr>
          <a:xfrm>
            <a:off x="73152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noGrp="1"/>
          </p:cNvSpPr>
          <p:nvPr/>
        </p:nvSpPr>
        <p:spPr>
          <a:xfrm>
            <a:off x="73152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noGrp="1"/>
          </p:cNvSpPr>
          <p:nvPr/>
        </p:nvSpPr>
        <p:spPr>
          <a:xfrm>
            <a:off x="86868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noGrp="1"/>
          </p:cNvSpPr>
          <p:nvPr/>
        </p:nvSpPr>
        <p:spPr>
          <a:xfrm>
            <a:off x="434340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noGrp="1"/>
          </p:cNvSpPr>
          <p:nvPr/>
        </p:nvSpPr>
        <p:spPr>
          <a:xfrm>
            <a:off x="434340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noGrp="1"/>
          </p:cNvSpPr>
          <p:nvPr/>
        </p:nvSpPr>
        <p:spPr>
          <a:xfrm>
            <a:off x="448056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noGrp="1"/>
          </p:cNvSpPr>
          <p:nvPr/>
        </p:nvSpPr>
        <p:spPr>
          <a:xfrm>
            <a:off x="795528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noGrp="1"/>
          </p:cNvSpPr>
          <p:nvPr/>
        </p:nvSpPr>
        <p:spPr>
          <a:xfrm>
            <a:off x="795528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noGrp="1"/>
          </p:cNvSpPr>
          <p:nvPr/>
        </p:nvSpPr>
        <p:spPr>
          <a:xfrm>
            <a:off x="809244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noGrp="1"/>
          </p:cNvSpPr>
          <p:nvPr/>
        </p:nvSpPr>
        <p:spPr>
          <a:xfrm>
            <a:off x="73152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noGrp="1"/>
          </p:cNvSpPr>
          <p:nvPr/>
        </p:nvSpPr>
        <p:spPr>
          <a:xfrm>
            <a:off x="73152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noGrp="1"/>
          </p:cNvSpPr>
          <p:nvPr/>
        </p:nvSpPr>
        <p:spPr>
          <a:xfrm>
            <a:off x="86868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noGrp="1"/>
          </p:cNvSpPr>
          <p:nvPr/>
        </p:nvSpPr>
        <p:spPr>
          <a:xfrm>
            <a:off x="434340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noGrp="1"/>
          </p:cNvSpPr>
          <p:nvPr/>
        </p:nvSpPr>
        <p:spPr>
          <a:xfrm>
            <a:off x="434340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noGrp="1"/>
          </p:cNvSpPr>
          <p:nvPr/>
        </p:nvSpPr>
        <p:spPr>
          <a:xfrm>
            <a:off x="448056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noGrp="1"/>
          </p:cNvSpPr>
          <p:nvPr/>
        </p:nvSpPr>
        <p:spPr>
          <a:xfrm>
            <a:off x="795528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noGrp="1"/>
          </p:cNvSpPr>
          <p:nvPr/>
        </p:nvSpPr>
        <p:spPr>
          <a:xfrm>
            <a:off x="795528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noGrp="1"/>
          </p:cNvSpPr>
          <p:nvPr/>
        </p:nvSpPr>
        <p:spPr>
          <a:xfrm>
            <a:off x="809244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graphicFrame>
        <p:nvGraphicFramePr>
          <p:cNvPr id="30" name="Cost Table"/>
          <p:cNvGraphicFramePr>
            <a:graphicFrameLocks noGrp="1"/>
          </p:cNvGraphicFramePr>
          <p:nvPr/>
        </p:nvGraphicFramePr>
        <p:xfrm>
          <a:off x="731520" y="1627632"/>
          <a:ext cx="6492240" cy="3470148"/>
        </p:xfrm>
        <a:graphic>
          <a:graphicData uri="http://schemas.openxmlformats.org/drawingml/2006/table">
            <a:tbl>
              <a:tblPr/>
              <a:tblGrid>
                <a:gridCol w="1965960"/>
                <a:gridCol w="3429000"/>
                <a:gridCol w="1097280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元／月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F：每月都要付，與帳號數無關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雲端主機＋資料庫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（US$25＋US$19）× 匯率 32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網域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年費 420 ÷ 12 個月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情緒判讀＋向量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 30 天 897 篇＋3,216 則留言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v：每多 1 位專業版用戶，每月增加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問答 100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× 0.18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儀表板洞察 60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× 0.33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金流手續費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月費 490 × 3%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以上三項合計（每位用戶／月）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</a:tbl>
          </a:graphicData>
        </a:graphic>
      </p:graphicFrame>
      <p:sp>
        <p:nvSpPr>
          <p:cNvPr id="31" name="Unit Cost Formula"/>
          <p:cNvSpPr/>
          <p:nvPr/>
        </p:nvSpPr>
        <p:spPr>
          <a:xfrm>
            <a:off x="731520" y="5125212"/>
            <a:ext cx="64922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單次費用＝（輸入 token × 0.25＋輸出 token × 1.50）÷ 10⁶ × 32 → 問答 0.18 元、洞察 0.33 元</a:t>
            </a:r>
          </a:p>
        </p:txBody>
      </p:sp>
      <p:sp>
        <p:nvSpPr>
          <p:cNvPr id="32" name="Break-even Formula"/>
          <p:cNvSpPr/>
          <p:nvPr/>
        </p:nvSpPr>
        <p:spPr>
          <a:xfrm>
            <a:off x="7452360" y="1627632"/>
            <a:ext cx="4005072" cy="1298448"/>
          </a:xfrm>
          <a:prstGeom prst="roundRect">
            <a:avLst>
              <a:gd name="adj" fmla="val 6000"/>
            </a:avLst>
          </a:prstGeom>
          <a:solidFill>
            <a:srgbClr val="E2EDF9"/>
          </a:solidFill>
          <a:ln w="12700">
            <a:solidFill>
              <a:srgbClr val="C9D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損益平衡怎麼算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月收入 R(N)＝490 × N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月支出 C(N)＝1,456＋53 × 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073BE"/>
                </a:solidFill>
                <a:latin typeface="Microsoft JhengHei"/>
                <a:ea typeface="Microsoft JhengHei"/>
                <a:cs typeface="Microsoft JhengHei"/>
              </a:rPr>
              <a:t>打平：N ≥ 1,456 ÷（490－53）＝3.3 → 4 個</a:t>
            </a:r>
          </a:p>
        </p:txBody>
      </p:sp>
      <p:graphicFrame>
        <p:nvGraphicFramePr>
          <p:cNvPr id="33" name="Break-even Table"/>
          <p:cNvGraphicFramePr>
            <a:graphicFrameLocks noGrp="1"/>
          </p:cNvGraphicFramePr>
          <p:nvPr/>
        </p:nvGraphicFramePr>
        <p:xfrm>
          <a:off x="7452360" y="3017520"/>
          <a:ext cx="4005072" cy="2080260"/>
        </p:xfrm>
        <a:graphic>
          <a:graphicData uri="http://schemas.openxmlformats.org/drawingml/2006/table">
            <a:tbl>
              <a:tblPr/>
              <a:tblGrid>
                <a:gridCol w="914400"/>
                <a:gridCol w="987552"/>
                <a:gridCol w="987552"/>
                <a:gridCol w="1115568"/>
              </a:tblGrid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帳號數 N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收入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支出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損益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980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1,562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−582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1,470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−145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 個 ✓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1,960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1,668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+292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2,450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1,721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+729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4,900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1,986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+2,914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>
            <a:extLst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新臺幣／月；Gemini 3.1 Flash-Lite 每百萬 token 0.25／1.50 美元（10/18 查，1 USD≈32 元）；未含人力，見附錄 C、F。</a:t>
            </a:r>
            <a:endParaRPr sz="1400"/>
          </a:p>
        </p:txBody>
      </p:sp>
      <p:sp>
        <p:nvSpPr>
          <p:cNvPr id="29" name="07">
            <a:extLst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061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oundRect">
            <a:avLst>
              <a:gd name="adj" fmla="val 18824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noGrp="1"/>
          </p:cNvSpPr>
          <p:nvPr/>
        </p:nvSpPr>
        <p:spPr>
          <a:xfrm>
            <a:off x="3218688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noGrp="1"/>
          </p:cNvSpPr>
          <p:nvPr/>
        </p:nvSpPr>
        <p:spPr>
          <a:xfrm>
            <a:off x="3218688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noGrp="1"/>
          </p:cNvSpPr>
          <p:nvPr/>
        </p:nvSpPr>
        <p:spPr>
          <a:xfrm>
            <a:off x="3218688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noGrp="1"/>
          </p:cNvSpPr>
          <p:nvPr/>
        </p:nvSpPr>
        <p:spPr>
          <a:xfrm>
            <a:off x="7392924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noGrp="1"/>
          </p:cNvSpPr>
          <p:nvPr/>
        </p:nvSpPr>
        <p:spPr>
          <a:xfrm>
            <a:off x="7392924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noGrp="1"/>
          </p:cNvSpPr>
          <p:nvPr/>
        </p:nvSpPr>
        <p:spPr>
          <a:xfrm>
            <a:off x="7392924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noGrp="1"/>
          </p:cNvSpPr>
          <p:nvPr/>
        </p:nvSpPr>
        <p:spPr>
          <a:xfrm>
            <a:off x="731520" y="267004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noGrp="1"/>
          </p:cNvSpPr>
          <p:nvPr/>
        </p:nvSpPr>
        <p:spPr>
          <a:xfrm>
            <a:off x="731520" y="29443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noGrp="1"/>
          </p:cNvSpPr>
          <p:nvPr/>
        </p:nvSpPr>
        <p:spPr>
          <a:xfrm>
            <a:off x="731520" y="413308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noGrp="1"/>
          </p:cNvSpPr>
          <p:nvPr/>
        </p:nvSpPr>
        <p:spPr>
          <a:xfrm>
            <a:off x="731520" y="440740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noGrp="1"/>
          </p:cNvSpPr>
          <p:nvPr/>
        </p:nvSpPr>
        <p:spPr>
          <a:xfrm>
            <a:off x="731520" y="481888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noGrp="1"/>
          </p:cNvSpPr>
          <p:nvPr/>
        </p:nvSpPr>
        <p:spPr>
          <a:xfrm>
            <a:off x="3218688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noGrp="1"/>
          </p:cNvSpPr>
          <p:nvPr/>
        </p:nvSpPr>
        <p:spPr>
          <a:xfrm>
            <a:off x="3218688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noGrp="1"/>
          </p:cNvSpPr>
          <p:nvPr/>
        </p:nvSpPr>
        <p:spPr>
          <a:xfrm>
            <a:off x="3401568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noGrp="1"/>
          </p:cNvSpPr>
          <p:nvPr/>
        </p:nvSpPr>
        <p:spPr>
          <a:xfrm>
            <a:off x="7392924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DEEDF"/>
          </a:solidFill>
          <a:ln w="1905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noGrp="1"/>
          </p:cNvSpPr>
          <p:nvPr/>
        </p:nvSpPr>
        <p:spPr>
          <a:xfrm>
            <a:off x="7392924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noGrp="1"/>
          </p:cNvSpPr>
          <p:nvPr/>
        </p:nvSpPr>
        <p:spPr>
          <a:xfrm>
            <a:off x="7575804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noGrp="1"/>
          </p:cNvSpPr>
          <p:nvPr/>
        </p:nvSpPr>
        <p:spPr>
          <a:xfrm>
            <a:off x="7575804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noGrp="1"/>
          </p:cNvSpPr>
          <p:nvPr/>
        </p:nvSpPr>
        <p:spPr>
          <a:xfrm>
            <a:off x="3218688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noGrp="1"/>
          </p:cNvSpPr>
          <p:nvPr/>
        </p:nvSpPr>
        <p:spPr>
          <a:xfrm>
            <a:off x="3218688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noGrp="1"/>
          </p:cNvSpPr>
          <p:nvPr/>
        </p:nvSpPr>
        <p:spPr>
          <a:xfrm>
            <a:off x="3401568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noGrp="1"/>
          </p:cNvSpPr>
          <p:nvPr/>
        </p:nvSpPr>
        <p:spPr>
          <a:xfrm>
            <a:off x="3401568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noGrp="1"/>
          </p:cNvSpPr>
          <p:nvPr/>
        </p:nvSpPr>
        <p:spPr>
          <a:xfrm>
            <a:off x="7392924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noGrp="1"/>
          </p:cNvSpPr>
          <p:nvPr/>
        </p:nvSpPr>
        <p:spPr>
          <a:xfrm>
            <a:off x="7392924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noGrp="1"/>
          </p:cNvSpPr>
          <p:nvPr/>
        </p:nvSpPr>
        <p:spPr>
          <a:xfrm>
            <a:off x="7575804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noGrp="1"/>
          </p:cNvSpPr>
          <p:nvPr/>
        </p:nvSpPr>
        <p:spPr>
          <a:xfrm>
            <a:off x="7575804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noGrp="1"/>
          </p:cNvSpPr>
          <p:nvPr/>
        </p:nvSpPr>
        <p:spPr>
          <a:xfrm>
            <a:off x="195681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2999232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noGrp="1"/>
          </p:cNvSpPr>
          <p:nvPr/>
        </p:nvSpPr>
        <p:spPr>
          <a:xfrm>
            <a:off x="4539996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noGrp="1"/>
          </p:cNvSpPr>
          <p:nvPr/>
        </p:nvSpPr>
        <p:spPr>
          <a:xfrm>
            <a:off x="4677156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noGrp="1"/>
          </p:cNvSpPr>
          <p:nvPr/>
        </p:nvSpPr>
        <p:spPr>
          <a:xfrm>
            <a:off x="4677156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268" y="2999232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noGrp="1"/>
          </p:cNvSpPr>
          <p:nvPr/>
        </p:nvSpPr>
        <p:spPr>
          <a:xfrm>
            <a:off x="8348472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noGrp="1"/>
          </p:cNvSpPr>
          <p:nvPr/>
        </p:nvSpPr>
        <p:spPr>
          <a:xfrm>
            <a:off x="957376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noGrp="1"/>
          </p:cNvSpPr>
          <p:nvPr/>
        </p:nvSpPr>
        <p:spPr>
          <a:xfrm>
            <a:off x="8485632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noGrp="1"/>
          </p:cNvSpPr>
          <p:nvPr/>
        </p:nvSpPr>
        <p:spPr>
          <a:xfrm>
            <a:off x="8485632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noGrp="1"/>
          </p:cNvSpPr>
          <p:nvPr/>
        </p:nvSpPr>
        <p:spPr>
          <a:xfrm>
            <a:off x="156819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3017520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noGrp="1"/>
          </p:cNvSpPr>
          <p:nvPr/>
        </p:nvSpPr>
        <p:spPr>
          <a:xfrm>
            <a:off x="4366260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noGrp="1"/>
          </p:cNvSpPr>
          <p:nvPr/>
        </p:nvSpPr>
        <p:spPr>
          <a:xfrm>
            <a:off x="3666744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noGrp="1"/>
          </p:cNvSpPr>
          <p:nvPr/>
        </p:nvSpPr>
        <p:spPr>
          <a:xfrm>
            <a:off x="3666744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3017520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noGrp="1"/>
          </p:cNvSpPr>
          <p:nvPr/>
        </p:nvSpPr>
        <p:spPr>
          <a:xfrm>
            <a:off x="6327648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noGrp="1"/>
          </p:cNvSpPr>
          <p:nvPr/>
        </p:nvSpPr>
        <p:spPr>
          <a:xfrm>
            <a:off x="7164324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noGrp="1"/>
          </p:cNvSpPr>
          <p:nvPr/>
        </p:nvSpPr>
        <p:spPr>
          <a:xfrm>
            <a:off x="6464808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noGrp="1"/>
          </p:cNvSpPr>
          <p:nvPr/>
        </p:nvSpPr>
        <p:spPr>
          <a:xfrm>
            <a:off x="6464808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808" y="3017520"/>
            <a:ext cx="274320" cy="274320"/>
          </a:xfrm>
          <a:prstGeom prst="rect">
            <a:avLst/>
          </a:prstGeom>
        </p:spPr>
      </p:pic>
      <p:sp>
        <p:nvSpPr>
          <p:cNvPr id="24" name="Shape 16">
            <a:extLst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noGrp="1"/>
          </p:cNvSpPr>
          <p:nvPr/>
        </p:nvSpPr>
        <p:spPr>
          <a:xfrm>
            <a:off x="9125712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noGrp="1"/>
          </p:cNvSpPr>
          <p:nvPr/>
        </p:nvSpPr>
        <p:spPr>
          <a:xfrm>
            <a:off x="996238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6">
            <a:extLst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692" y="2203704"/>
            <a:ext cx="365760" cy="365760"/>
          </a:xfrm>
          <a:prstGeom prst="rect">
            <a:avLst/>
          </a:prstGeom>
        </p:spPr>
      </p:pic>
      <p:sp>
        <p:nvSpPr>
          <p:cNvPr id="27" name="Text 18">
            <a:extLst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noGrp="1"/>
          </p:cNvSpPr>
          <p:nvPr/>
        </p:nvSpPr>
        <p:spPr>
          <a:xfrm>
            <a:off x="9262872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noGrp="1"/>
          </p:cNvSpPr>
          <p:nvPr/>
        </p:nvSpPr>
        <p:spPr>
          <a:xfrm>
            <a:off x="9262872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G：先找證據，再依問題整理答案">
            <a:extLst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1｜解析問題">
            <a:extLst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noGrp="1"/>
          </p:cNvSpPr>
          <p:nvPr/>
        </p:nvSpPr>
        <p:spPr>
          <a:xfrm>
            <a:off x="92392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noGrp="1"/>
          </p:cNvSpPr>
          <p:nvPr/>
        </p:nvSpPr>
        <p:spPr>
          <a:xfrm>
            <a:off x="92392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noGrp="1"/>
          </p:cNvSpPr>
          <p:nvPr/>
        </p:nvSpPr>
        <p:spPr>
          <a:xfrm>
            <a:off x="320040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noGrp="1"/>
          </p:cNvSpPr>
          <p:nvPr/>
        </p:nvSpPr>
        <p:spPr>
          <a:xfrm>
            <a:off x="350520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2｜雙路檢索">
            <a:extLst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noGrp="1"/>
          </p:cNvSpPr>
          <p:nvPr/>
        </p:nvSpPr>
        <p:spPr>
          <a:xfrm>
            <a:off x="369570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noGrp="1"/>
          </p:cNvSpPr>
          <p:nvPr/>
        </p:nvSpPr>
        <p:spPr>
          <a:xfrm>
            <a:off x="369570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noGrp="1"/>
          </p:cNvSpPr>
          <p:nvPr/>
        </p:nvSpPr>
        <p:spPr>
          <a:xfrm>
            <a:off x="5972175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noGrp="1"/>
          </p:cNvSpPr>
          <p:nvPr/>
        </p:nvSpPr>
        <p:spPr>
          <a:xfrm>
            <a:off x="627697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3｜融合證據">
            <a:extLst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noGrp="1"/>
          </p:cNvSpPr>
          <p:nvPr/>
        </p:nvSpPr>
        <p:spPr>
          <a:xfrm>
            <a:off x="646747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noGrp="1"/>
          </p:cNvSpPr>
          <p:nvPr/>
        </p:nvSpPr>
        <p:spPr>
          <a:xfrm>
            <a:off x="646747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noGrp="1"/>
          </p:cNvSpPr>
          <p:nvPr/>
        </p:nvSpPr>
        <p:spPr>
          <a:xfrm>
            <a:off x="874395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noGrp="1"/>
          </p:cNvSpPr>
          <p:nvPr/>
        </p:nvSpPr>
        <p:spPr>
          <a:xfrm>
            <a:off x="904875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4｜生成與回查">
            <a:extLst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noGrp="1"/>
          </p:cNvSpPr>
          <p:nvPr/>
        </p:nvSpPr>
        <p:spPr>
          <a:xfrm>
            <a:off x="923925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noGrp="1"/>
          </p:cNvSpPr>
          <p:nvPr/>
        </p:nvSpPr>
        <p:spPr>
          <a:xfrm>
            <a:off x="923925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noGrp="1"/>
          </p:cNvSpPr>
          <p:nvPr/>
        </p:nvSpPr>
        <p:spPr>
          <a:xfrm>
            <a:off x="733425" y="1685925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noGrp="1"/>
          </p:cNvSpPr>
          <p:nvPr/>
        </p:nvSpPr>
        <p:spPr>
          <a:xfrm>
            <a:off x="6343650" y="1685925"/>
            <a:ext cx="514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noGrp="1"/>
          </p:cNvSpPr>
          <p:nvPr/>
        </p:nvSpPr>
        <p:spPr>
          <a:xfrm>
            <a:off x="733425" y="4829175"/>
            <a:ext cx="107251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向量無結果時回退關鍵字；引用可核對來源，但仍需驗證答案品質。">
            <a:extLst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noGrp="1"/>
          </p:cNvSpPr>
          <p:nvPr/>
        </p:nvSpPr>
        <p:spPr>
          <a:xfrm>
            <a:off x="822960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noGrp="1"/>
          </p:cNvSpPr>
          <p:nvPr/>
        </p:nvSpPr>
        <p:spPr>
          <a:xfrm>
            <a:off x="822960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noGrp="1"/>
          </p:cNvSpPr>
          <p:nvPr/>
        </p:nvSpPr>
        <p:spPr>
          <a:xfrm>
            <a:off x="868680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noGrp="1"/>
          </p:cNvSpPr>
          <p:nvPr/>
        </p:nvSpPr>
        <p:spPr>
          <a:xfrm>
            <a:off x="4471416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noGrp="1"/>
          </p:cNvSpPr>
          <p:nvPr/>
        </p:nvSpPr>
        <p:spPr>
          <a:xfrm>
            <a:off x="4471416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noGrp="1"/>
          </p:cNvSpPr>
          <p:nvPr/>
        </p:nvSpPr>
        <p:spPr>
          <a:xfrm>
            <a:off x="4517136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noGrp="1"/>
          </p:cNvSpPr>
          <p:nvPr/>
        </p:nvSpPr>
        <p:spPr>
          <a:xfrm>
            <a:off x="8119872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noGrp="1"/>
          </p:cNvSpPr>
          <p:nvPr/>
        </p:nvSpPr>
        <p:spPr>
          <a:xfrm>
            <a:off x="811987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noGrp="1"/>
          </p:cNvSpPr>
          <p:nvPr/>
        </p:nvSpPr>
        <p:spPr>
          <a:xfrm>
            <a:off x="8165592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10725912" cy="1280160"/>
          </a:xfrm>
          <a:prstGeom prst="roundRect">
            <a:avLst>
              <a:gd name="adj" fmla="val 11429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noGrp="1"/>
          </p:cNvSpPr>
          <p:nvPr/>
        </p:nvSpPr>
        <p:spPr>
          <a:xfrm>
            <a:off x="731520" y="420624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noGrp="1"/>
          </p:cNvSpPr>
          <p:nvPr/>
        </p:nvSpPr>
        <p:spPr>
          <a:xfrm>
            <a:off x="914400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905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noGrp="1"/>
          </p:cNvSpPr>
          <p:nvPr/>
        </p:nvSpPr>
        <p:spPr>
          <a:xfrm>
            <a:off x="4379976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noGrp="1"/>
          </p:cNvSpPr>
          <p:nvPr/>
        </p:nvSpPr>
        <p:spPr>
          <a:xfrm>
            <a:off x="4562856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noGrp="1"/>
          </p:cNvSpPr>
          <p:nvPr/>
        </p:nvSpPr>
        <p:spPr>
          <a:xfrm>
            <a:off x="8028432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noGrp="1"/>
          </p:cNvSpPr>
          <p:nvPr/>
        </p:nvSpPr>
        <p:spPr>
          <a:xfrm>
            <a:off x="8211312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一條研究流程，對應六組可操作功能">
            <a:extLst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="733425" y="1771650"/>
          <a:ext cx="10725150" cy="377190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涵蓋搜尋 → 分析 → 問答 → 回查 → 留存 → 輸出；">
            <a:extLst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：完成一次跨平台口碑研究">
            <a:extLst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4325" y="1771650"/>
            <a:ext cx="6032500" cy="3771900"/>
          </a:xfrm>
          <a:prstGeom prst="rect">
            <a:avLst/>
          </a:prstGeom>
        </p:spPr>
      </p:pic>
      <p:sp>
        <p:nvSpPr>
          <p:cNvPr id="4" name="01  範圍與趨勢">
            <a:extLst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noGrp="1"/>
          </p:cNvSpPr>
          <p:nvPr/>
        </p:nvSpPr>
        <p:spPr>
          <a:xfrm>
            <a:off x="8772525" y="1914525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noGrp="1"/>
          </p:cNvSpPr>
          <p:nvPr/>
        </p:nvSpPr>
        <p:spPr>
          <a:xfrm>
            <a:off x="8772525" y="2381250"/>
            <a:ext cx="26860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noGrp="1"/>
          </p:cNvSpPr>
          <p:nvPr/>
        </p:nvSpPr>
        <p:spPr>
          <a:xfrm>
            <a:off x="8772525" y="32575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noGrp="1"/>
          </p:cNvSpPr>
          <p:nvPr/>
        </p:nvSpPr>
        <p:spPr>
          <a:xfrm>
            <a:off x="8772525" y="3724275"/>
            <a:ext cx="26860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noGrp="1"/>
          </p:cNvSpPr>
          <p:nvPr/>
        </p:nvSpPr>
        <p:spPr>
          <a:xfrm>
            <a:off x="8772525" y="47434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noGrp="1"/>
          </p:cNvSpPr>
          <p:nvPr/>
        </p:nvSpPr>
        <p:spPr>
          <a:xfrm>
            <a:off x="8772525" y="5238750"/>
            <a:ext cx="26860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示範重點：相同查詢條件、可回查的來源、可留存的結果。">
            <a:extLst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noGrp="1"/>
          </p:cNvSpPr>
          <p:nvPr/>
        </p:nvSpPr>
        <p:spPr>
          <a:xfrm>
            <a:off x="162534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noGrp="1"/>
          </p:cNvSpPr>
          <p:nvPr/>
        </p:nvSpPr>
        <p:spPr>
          <a:xfrm>
            <a:off x="251917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noGrp="1"/>
          </p:cNvSpPr>
          <p:nvPr/>
        </p:nvSpPr>
        <p:spPr>
          <a:xfrm>
            <a:off x="341299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noGrp="1"/>
          </p:cNvSpPr>
          <p:nvPr/>
        </p:nvSpPr>
        <p:spPr>
          <a:xfrm>
            <a:off x="430682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noGrp="1"/>
          </p:cNvSpPr>
          <p:nvPr/>
        </p:nvSpPr>
        <p:spPr>
          <a:xfrm>
            <a:off x="520065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noGrp="1"/>
          </p:cNvSpPr>
          <p:nvPr/>
        </p:nvSpPr>
        <p:spPr>
          <a:xfrm>
            <a:off x="609447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noGrp="1"/>
          </p:cNvSpPr>
          <p:nvPr/>
        </p:nvSpPr>
        <p:spPr>
          <a:xfrm>
            <a:off x="698830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noGrp="1"/>
          </p:cNvSpPr>
          <p:nvPr/>
        </p:nvSpPr>
        <p:spPr>
          <a:xfrm>
            <a:off x="788212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noGrp="1"/>
          </p:cNvSpPr>
          <p:nvPr/>
        </p:nvSpPr>
        <p:spPr>
          <a:xfrm>
            <a:off x="877595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noGrp="1"/>
          </p:cNvSpPr>
          <p:nvPr/>
        </p:nvSpPr>
        <p:spPr>
          <a:xfrm>
            <a:off x="966978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noGrp="1"/>
          </p:cNvSpPr>
          <p:nvPr/>
        </p:nvSpPr>
        <p:spPr>
          <a:xfrm>
            <a:off x="1056360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noGrp="1"/>
          </p:cNvSpPr>
          <p:nvPr/>
        </p:nvSpPr>
        <p:spPr>
          <a:xfrm>
            <a:off x="758952" y="2112264"/>
            <a:ext cx="1285875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noGrp="1"/>
          </p:cNvSpPr>
          <p:nvPr/>
        </p:nvSpPr>
        <p:spPr>
          <a:xfrm>
            <a:off x="731520" y="2112264"/>
            <a:ext cx="1340739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noGrp="1"/>
          </p:cNvSpPr>
          <p:nvPr/>
        </p:nvSpPr>
        <p:spPr>
          <a:xfrm>
            <a:off x="2099691" y="2112264"/>
            <a:ext cx="1554023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noGrp="1"/>
          </p:cNvSpPr>
          <p:nvPr/>
        </p:nvSpPr>
        <p:spPr>
          <a:xfrm>
            <a:off x="2072259" y="2112264"/>
            <a:ext cx="160888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noGrp="1"/>
          </p:cNvSpPr>
          <p:nvPr/>
        </p:nvSpPr>
        <p:spPr>
          <a:xfrm>
            <a:off x="3708578" y="2112264"/>
            <a:ext cx="4414266" cy="384048"/>
          </a:xfrm>
          <a:prstGeom prst="roundRect">
            <a:avLst>
              <a:gd name="adj" fmla="val 2381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noGrp="1"/>
          </p:cNvSpPr>
          <p:nvPr/>
        </p:nvSpPr>
        <p:spPr>
          <a:xfrm>
            <a:off x="3681146" y="2112264"/>
            <a:ext cx="446913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noGrp="1"/>
          </p:cNvSpPr>
          <p:nvPr/>
        </p:nvSpPr>
        <p:spPr>
          <a:xfrm>
            <a:off x="8177708" y="2112264"/>
            <a:ext cx="3252292" cy="384048"/>
          </a:xfrm>
          <a:prstGeom prst="roundRect">
            <a:avLst>
              <a:gd name="adj" fmla="val 23810"/>
            </a:avLst>
          </a:prstGeom>
          <a:solidFill>
            <a:srgbClr val="FDEEDF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noGrp="1"/>
          </p:cNvSpPr>
          <p:nvPr/>
        </p:nvSpPr>
        <p:spPr>
          <a:xfrm>
            <a:off x="8150276" y="2112264"/>
            <a:ext cx="33071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noGrp="1"/>
          </p:cNvSpPr>
          <p:nvPr/>
        </p:nvSpPr>
        <p:spPr>
          <a:xfrm>
            <a:off x="4251343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noGrp="1"/>
          </p:cNvSpPr>
          <p:nvPr/>
        </p:nvSpPr>
        <p:spPr>
          <a:xfrm>
            <a:off x="3784999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noGrp="1"/>
          </p:cNvSpPr>
          <p:nvPr/>
        </p:nvSpPr>
        <p:spPr>
          <a:xfrm>
            <a:off x="8157362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noGrp="1"/>
          </p:cNvSpPr>
          <p:nvPr/>
        </p:nvSpPr>
        <p:spPr>
          <a:xfrm>
            <a:off x="7691018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noGrp="1"/>
          </p:cNvSpPr>
          <p:nvPr/>
        </p:nvSpPr>
        <p:spPr>
          <a:xfrm>
            <a:off x="94087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noGrp="1"/>
          </p:cNvSpPr>
          <p:nvPr/>
        </p:nvSpPr>
        <p:spPr>
          <a:xfrm>
            <a:off x="89423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noGrp="1"/>
          </p:cNvSpPr>
          <p:nvPr/>
        </p:nvSpPr>
        <p:spPr>
          <a:xfrm>
            <a:off x="104366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noGrp="1"/>
          </p:cNvSpPr>
          <p:nvPr/>
        </p:nvSpPr>
        <p:spPr>
          <a:xfrm>
            <a:off x="99702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noGrp="1"/>
          </p:cNvSpPr>
          <p:nvPr/>
        </p:nvSpPr>
        <p:spPr>
          <a:xfrm>
            <a:off x="6949440" y="3383280"/>
            <a:ext cx="4507992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noGrp="1"/>
          </p:cNvSpPr>
          <p:nvPr/>
        </p:nvSpPr>
        <p:spPr>
          <a:xfrm>
            <a:off x="8183880" y="3547872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noGrp="1"/>
          </p:cNvSpPr>
          <p:nvPr/>
        </p:nvSpPr>
        <p:spPr>
          <a:xfrm>
            <a:off x="8183880" y="3931920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noGrp="1"/>
          </p:cNvSpPr>
          <p:nvPr/>
        </p:nvSpPr>
        <p:spPr>
          <a:xfrm>
            <a:off x="8183880" y="4315968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noGrp="1"/>
          </p:cNvSpPr>
          <p:nvPr/>
        </p:nvSpPr>
        <p:spPr>
          <a:xfrm>
            <a:off x="8183880" y="470001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noGrp="1"/>
          </p:cNvSpPr>
          <p:nvPr/>
        </p:nvSpPr>
        <p:spPr>
          <a:xfrm>
            <a:off x="8183880" y="5084064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情緒一致性、預警與問答修正</a:t>
            </a:r>
            <a:endParaRPr sz="1400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152 次提交（10/12 統計，皆已推送）；非逐人貢獻比例。</a:t>
            </a:r>
            <a:endParaRPr sz="1400"/>
          </a:p>
        </p:txBody>
      </p:sp>
      <p:sp>
        <p:nvSpPr>
          <p:cNvPr id="55" name="17">
            <a:extLst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="914400" y="3474720"/>
          <a:ext cx="566928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noGrp="1"/>
          </p:cNvSpPr>
          <p:nvPr/>
        </p:nvSpPr>
        <p:spPr>
          <a:xfrm>
            <a:off x="30312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5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noGrp="1"/>
          </p:cNvSpPr>
          <p:nvPr/>
        </p:nvSpPr>
        <p:spPr>
          <a:xfrm>
            <a:off x="1005840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noGrp="1"/>
          </p:cNvSpPr>
          <p:nvPr/>
        </p:nvSpPr>
        <p:spPr>
          <a:xfrm>
            <a:off x="84993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1">
            <a:extLst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652" y="2157984"/>
            <a:ext cx="365760" cy="365760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noGrp="1"/>
          </p:cNvSpPr>
          <p:nvPr/>
        </p:nvSpPr>
        <p:spPr>
          <a:xfrm>
            <a:off x="6199632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noGrp="1"/>
          </p:cNvSpPr>
          <p:nvPr/>
        </p:nvSpPr>
        <p:spPr>
          <a:xfrm>
            <a:off x="6199632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noGrp="1"/>
          </p:cNvSpPr>
          <p:nvPr/>
        </p:nvSpPr>
        <p:spPr>
          <a:xfrm>
            <a:off x="6473952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noGrp="1"/>
          </p:cNvSpPr>
          <p:nvPr/>
        </p:nvSpPr>
        <p:spPr>
          <a:xfrm>
            <a:off x="731520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noGrp="1"/>
          </p:cNvSpPr>
          <p:nvPr/>
        </p:nvSpPr>
        <p:spPr>
          <a:xfrm>
            <a:off x="914400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noGrp="1"/>
          </p:cNvSpPr>
          <p:nvPr/>
        </p:nvSpPr>
        <p:spPr>
          <a:xfrm>
            <a:off x="4379976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noGrp="1"/>
          </p:cNvSpPr>
          <p:nvPr/>
        </p:nvSpPr>
        <p:spPr>
          <a:xfrm>
            <a:off x="4562856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905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noGrp="1"/>
          </p:cNvSpPr>
          <p:nvPr/>
        </p:nvSpPr>
        <p:spPr>
          <a:xfrm>
            <a:off x="8028432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noGrp="1"/>
          </p:cNvSpPr>
          <p:nvPr/>
        </p:nvSpPr>
        <p:spPr>
          <a:xfrm>
            <a:off x="8211312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定位、營運與實作（1/2）">
            <a:extLst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20">
            <a:extLst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資料品質與驗證（2/2）">
            <a:extLst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編號依「初評評審意見整理」第 3 頁；原錄音 29:58 後">
            <a:extLst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150" cy="2781300"/>
        </p:xfrm>
        <a:graphic>
          <a:graphicData uri="http://schemas.openxmlformats.org/drawingml/2006/table">
            <a:tbl>
              <a:tblPr/>
              <a:tblGrid>
                <a:gridCol w="529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每帳號月貢獻＝月費 490 − 變動費 45＝445 元">
            <a:extLst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noGrp="1"/>
          </p:cNvSpPr>
          <p:nvPr/>
        </p:nvSpPr>
        <p:spPr>
          <a:xfrm>
            <a:off x="733425" y="4876800"/>
            <a:ext cx="107251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I 問答：從回答回到引用文章">
            <a:extLst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既有管理員操作截圖（2026/10/07）；示範引用回查，不">
            <a:extLst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歷史比較：保留兩次查詢的分析結果">
            <a:extLst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沿用原稿實際畫面；確認兩次範圍與分母後再解讀差異。">
            <a:extLst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912" cy="3712463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兩次呼叫：輸入 9,794＋輸出 2,150 ≈ 0.06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2670</Words>
  <Application>Microsoft Office PowerPoint</Application>
  <DocSecurity>0</DocSecurity>
  <PresentationFormat>Widescreen</PresentationFormat>
  <Paragraphs>488</Paragraphs>
  <Slides>24</Slides>
  <Notes>24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Microsoft JhengHei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JiaQuan Xu</cp:lastModifiedBy>
  <cp:revision>2</cp:revision>
  <dcterms:created xsi:type="dcterms:W3CDTF">2026-10-12T01:12:13Z</dcterms:created>
  <dcterms:modified xsi:type="dcterms:W3CDTF">2026-10-12T16:19:48Z</dcterms:modified>
</cp:coreProperties>
</file>