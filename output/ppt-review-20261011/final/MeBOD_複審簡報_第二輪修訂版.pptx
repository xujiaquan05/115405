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</c:v>
                </c:pt>
              </c:strCache>
            </c:strRef>
          </c:tx>
          <c:spPr>
            <a:ln w="28575">
              <a:solidFill>
                <a:srgbClr val="2073BE"/>
              </a:solidFill>
            </a:ln>
          </c:spPr>
          <c:marker>
            <c:symbol val="circle"/>
            <c:size val="5"/>
            <c:spPr>
              <a:solidFill>
                <a:srgbClr val="2073BE"/>
              </a:solidFill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980</c:v>
                </c:pt>
                <c:pt idx="2">
                  <c:v>1960</c:v>
                </c:pt>
                <c:pt idx="3">
                  <c:v>2940</c:v>
                </c:pt>
                <c:pt idx="4">
                  <c:v>3920</c:v>
                </c:pt>
                <c:pt idx="5">
                  <c:v>4900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DB-481F-8D9D-1C27ECDCE1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</c:v>
                </c:pt>
              </c:strCache>
            </c:strRef>
          </c:tx>
          <c:spPr>
            <a:ln w="28575">
              <a:solidFill>
                <a:srgbClr val="D46A12"/>
              </a:solidFill>
            </a:ln>
          </c:spPr>
          <c:marker>
            <c:symbol val="circle"/>
            <c:size val="5"/>
            <c:spPr>
              <a:solidFill>
                <a:srgbClr val="D46A12"/>
              </a:solidFill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1456</c:v>
                </c:pt>
                <c:pt idx="1">
                  <c:v>1562</c:v>
                </c:pt>
                <c:pt idx="2">
                  <c:v>1668</c:v>
                </c:pt>
                <c:pt idx="3">
                  <c:v>1774</c:v>
                </c:pt>
                <c:pt idx="4">
                  <c:v>1880</c:v>
                </c:pt>
                <c:pt idx="5">
                  <c:v>1986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6DB-481F-8D9D-1C27ECDCE1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Microsoft JhengHei"/>
                    <a:ea typeface="Microsoft JhengHei"/>
                    <a:cs typeface="Microsoft JhengHei"/>
                  </a:rPr>
                  <a:t>付費帳號數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00"/>
        </c:scaling>
        <c:delete val="0"/>
        <c:axPos val="l"/>
        <c:majorGridlines>
          <c:spPr>
            <a:ln w="9525">
              <a:solidFill>
                <a:srgbClr val="E2EEF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defRPr>
            </a:pPr>
            <a:endParaRPr lang="en-US"/>
          </a:p>
        </c:txPr>
        <c:crossAx val="48650112"/>
        <c:crosses val="autoZero"/>
        <c:crossBetween val="between"/>
        <c:majorUnit val="2500"/>
      </c:valAx>
      <c:spPr>
        <a:solidFill>
          <a:srgbClr val="FFFFFF"/>
        </a:solidFill>
      </c:spPr>
    </c:plotArea>
    <c:legend>
      <c:legendPos val="r"/>
      <c:overlay val="0"/>
      <c:txPr>
        <a:bodyPr anchorCtr="1"/>
        <a:lstStyle/>
        <a:p>
          <a:pPr>
            <a:defRPr sz="1200">
              <a:solidFill>
                <a:srgbClr val="465E78"/>
              </a:solidFill>
              <a:latin typeface="Microsoft JhengHei"/>
              <a:ea typeface="Microsoft JhengHei"/>
              <a:cs typeface="Microsoft JhengHe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GitHub </a:t>
            </a:r>
            <a:r>
              <a:rPr lang="zh-TW" altLang="en-US"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每月提交（共 </a:t>
            </a:r>
            <a:r>
              <a:rPr lang="en-US" altLang="zh-TW"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166 </a:t>
            </a:r>
            <a:r>
              <a:rPr lang="zh-TW" altLang="en-US"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次）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提交數</c:v>
                </c:pt>
              </c:strCache>
            </c:strRef>
          </c:tx>
          <c:spPr>
            <a:solidFill>
              <a:srgbClr val="2073B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>
                    <a:solidFill>
                      <a:srgbClr val="14243A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5月</c:v>
                </c:pt>
                <c:pt idx="1">
                  <c:v>6月</c:v>
                </c:pt>
                <c:pt idx="2">
                  <c:v>7月</c:v>
                </c:pt>
                <c:pt idx="3">
                  <c:v>8月</c:v>
                </c:pt>
                <c:pt idx="4">
                  <c:v>9月</c:v>
                </c:pt>
                <c:pt idx="5">
                  <c:v>10月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0</c:v>
                </c:pt>
                <c:pt idx="2">
                  <c:v>27</c:v>
                </c:pt>
                <c:pt idx="3">
                  <c:v>42</c:v>
                </c:pt>
                <c:pt idx="4">
                  <c:v>47</c:v>
                </c:pt>
                <c:pt idx="5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FB7-4236-9FEC-FAA926E00F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【陳威帆｜20 秒】老師好，我們是第115405組，專題為MeBOD醫美時尚輿情分析系統。今天說明初評後的修正、系統完成度及功能完整性。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【陳威帆｜15 秒】先談問題與營運，再由家全說明技術、功能與Demo，最後回到進度與限制；附錄供問答使用。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【陳威帆｜40 秒】原始動機是資料分散、觀點混雜、結論難回查。研究人員需要先定義範圍，閱讀圖表與原文，再留存追蹤。MeBOD整合這段流程，是行銷觀察工具；網路討論不等同醫療療效。來源：使用者原稿第3頁；初評評審意見整理.pdf第1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【陳威帆｜35 秒】這頁先回應初評。定位、檢索、評分與驗證都有具體補強，但實作完成不代表品質驗證完成。完整 16 項對照列在附錄。來源：初評評審意見整理.pdf 第 3 頁；backend/app/models/database_models.py；backend/app/services/rag_service.py。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【陳威帆｜40 秒】主要使用者是需定期觀察口碑的小型團隊。以機構規模、觀察主題與頻率區隔。MeBOD 把查詢、歷史與監測放在固定流程；不宣稱通用 AI 無法搜尋或引用。需求交流依初評口頭報告，正式訪談紀錄待補。來源：初評評審意見整理.pdf 第 1、3 頁；frontend/src/views/HistoryView.vue、ReportView.vue。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【陳威帆｜35 秒】九個區塊串起訂閱服務：小型團隊透過網頁整理口碑，我們維護收錄、分析與檢索，以方案額度區分免費、專業、企業三級。專業版 490、企業版 1,990 都是假設價格，系統已有方案額度但尚未串接收款。成本結構依下一頁實測重算：雲端主機與資料庫是主要固定支出，模型呼叫很便宜，金流手續費與維運人力反而是大頭。來源：backend/app/models/database_models.py（plans）；附錄 C、F。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【陳威帆｜45 秒】初評說我們沒有量化，這頁用實測重算，不再沿用原稿的假設單價。一次 AI 問答包含問題解析與依證據回答兩次呼叫，用系統程式組出真實 prompt，最多約 9,800 token 輸入、2,150 token 輸出，以 Gemini 3.1 Flash-Lite 官方價每百萬 0.25／1.50 美元計算，約 0.18 元；一次洞察約 0.33 元。專業版用戶每月 100 次問答、60 次洞察，加上 3% 金流手續費，變動成本約 53 元。固定支出以 render.yaml 的雲端部署計：主機 25 美元、資料庫 19 美元，加網域與每日判讀約 1,456 元。收入 490N、支出 1,456＋53N，4 個帳號就能打平，每月餘 292 元。但這還沒算人力，算進去要 13 到 22 個帳號，見附錄 C；每個數字的出處在附錄 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【陳威帆｜35 秒】SWOT不能停在名詞，TOWS把條件轉成行動：用持續監測爭取試用，以歷史資料和回查流程面對通用代理，透過人工標註補品質，並以額度與備份降低外部服務風險。這些是待驗證策略，不是已量測的優勢。評審最後一段錄音未完整轉錄，仍需補聽。來源：初評評審意見整理.pdf第2–3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【許家全｜45 秒】Vue介面透過FastAPI存取PostgreSQL，服務層提供分析、檢索及匯出，另接Gemini和四平台收錄。現行ORM有18張表。權限一律在後端檢查；上一版列為缺口的預警已讀端點，已於10/12修正為只能操作自己的預警，並補上跨帳號測試。來源：backend/app/models/database_models.py、backend/app/routers/monitor.py、backend/tests/test_monitor_api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【許家全｜40 秒】管理員手動與每日排程觸發收錄；租約鎖避免重複執行，WebSocket推進度。相關性分數是標題命中權重3、內文1；Dcard/Mobile01/Threads門檻2。PTT依看板另判斷，不能一概說同一門檻。這些只是相關性規則，不等於辨識業配與真假。來源：backend/app/services/relevance_filter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【許家全｜45 秒】初評指出只有 keyword 比對。現在先解析問題意圖，再以關鍵字和向量雙路找證據，RRF 合併排序後給模型作答。在 AI 問答頁提問時，檢索範圍會套用使用者在 Dashboard 選的關鍵字與期間，回答以檢索到的文章為證據、Dashboard 數字為背景，引用清單就是這些文章。資料預先切段並建立向量；向量無結果時回退關鍵字，完全找不到文章時才只用 Dashboard 數字回答。引用支持人工回查，不保證每句結論都有充分證據；尚未完成專家知識庫和固定題組評估。來源：backend/app/services/rag_service.py（answer_question、scope_intent_to_dashboard、RRF_K）；embedding_service.py。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【許家全｜45 秒】兩種問題分開回答。第一，同一批100篇由另一模型Claude盲標，與目前report.txt結果82%一致，kappa0.726約0.73，負面precision18/27約0.67。第二，temperature從0.3改為0後，本批重跑變動從12篇降到0篇；10/06已用相同設定重評全庫10,344篇文章與6,319則留言。分數是50+(正面百分比−負面百分比)/2，例60%、10%得到75。比較須固定資料範圍與分母，分數不是療程成效。來源：docs/manual-work/sentiment-eval/report.txt、temp0_run1.txt、temp0_run2.txt；backend/app/routers/analysi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【許家全｜40 秒】系統完成度用已實作、待驗證及規劃三欄說明。未建立權重和驗收分母，不用百分比。上一版的預警已讀帳號隔離已修正並補測試；Linux部署、負載與模型品質仍需驗證。來源：backend/app/routers/monitor.py；各前端功能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【許家全｜35 秒】功能完整性從使用者流程檢查。從範圍設定、讀圖、問答回查，到歷史與匯出都有對應畫面與輸出。監測預警依帳號隔離，10/12 補上跨帳號測試。報告使用瀏覽器列印，不是獨立伺服器PDF生成。來源：frontend/src/views/DashboardView.vue、QAView.vue、HistoryView.vue、ReportView.vue、MonitorView.vue；backend/app/routers/monitor.py。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【許家全｜140 秒】預先登入正確帳號並備妥兩筆歷史。0–45秒：查詢醫美、設定平台與期間，讀趨勢並點文章。45–95秒：詢問消費者關注重點，展開引用並回原文；可用已完成的答案避免現場等待。95–140秒：歷史比較並匯出Excel。若網站10秒無回應，改以本頁和附錄實際畫面說明，不宣稱即時成功。畫面為原稿嵌入截圖，其數字只屬拍攝當時查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【陳威帆｜45 秒】甘特圖保留原稿115/2至116/1的計畫，10月後為計畫工作。繳件與展覽日期沿用原稿，發表前仍按學校公告確認。右側里程碑依各功能第一次提交的月份：5月PTT爬蟲、儀表板與WebSocket；7月帳號登入；8月Dcard、Mobile01、Threads；9月方案額度、Alembic與向量檢索；10月情緒一致性、預警權限與問答檢索修正。提交數由GitHub於10/12統計：5月14、6月0、7月27、8月42、9月47、10月36，共166次，皆已推送；提交集中於單一帳號，不能當作兩位組員的貢獻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【陳威帆｜30 秒】威帆負責需求、營運、文件統整與報告；家全負責架構、後端、爬蟲、模型、前端與測試。沿用原稿工作分配；程式提交和文件交付分別佐證，不能把單一作者提交數當兩人貢獻比例。來源：使用者原稿第16頁；本機Git提交歷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【陳威帆｜105 秒】總結三點：一、四平台到問答與報告形成完整研究流程；二、RAG與分數規則已可說明，後端498項、前端43項自動化測試通過；三、尚未把品質驗證說成全部完成。下一步依序補Linux部署回歸、建立人工標註和檢索題組、辨識業配，再與實際使用者訪談試用。營運上，實測重算後4個專業版帳號可打平雲端支出，算入人力則需12到21個。與通用代理的差異需要同題實測，現階段著重長期資料、來源回查與持續監測。原第16頁測試頁已刪除，主講約13分55秒，可在Demo或此頁多說約35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備詢：編號與名稱依使用者提供初評評審意見整理.pdf第3頁。回應頁碼按本簡報更新。成本和商業模式屬文件與情境補強，不宣稱市場驗證完成。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來源：使用者提供初評評審意見整理.pdf第3頁編號；第1–2頁轉錄範圍。R13是與通用AI的差異，不是R12使用對象的重複。現有手冊未在本次全面重做驗收，所以R16保留同步確認，不標成完全完成。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備詢：人力以115年基本工資時薪196元計，每月20或40小時維運。固定支出1,450＋3,920＝5,370，÷463取整為12；1,450＋7,840＝9,290，÷463取整為21。企業版建議價1,990為假設：重度使用者每月1,000次問答約60元、200次洞察約20元、金流3%約60元，貢獻約1,850元，約等於4個專業版。要回答何時獲利，還需實際帳單、獲客速度與開發投入，目前沒有可支持的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來源：docs/demo-work/admin-male/screens/09-sources.png。現場備援，不計入主講時間。可說明引用清單、平台與文章連結；不要把畫面個案當作模型整體準確度。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來源：使用者原稿第13頁第三張圖片。此圖證明比較介面，不把查詢分數當作商業績效。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備詢：本頁列出第7頁與附錄C每個數字的算法。token數由backend/scripts/measure_llm_cost.py以系統實際組prompt的函式量測，不呼叫模型；中文以1字約1 token估算，英文與數字其實更省，結果偏高。Gemini單價查自ai.google.dev/gemini-api/docs/pricing（10/12）；embedding單價依Google開發者部落格公告；Render價格為第三方整理，正式採用前要以官網確認；金流3%為假設。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ver Illustration" descr="cover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0"/>
            <a:ext cx="5880199" cy="68580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8299F6D-A59C-49BF-8431-2BE0FFE0798E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b="1" spc="300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 第115405組</a:t>
            </a:r>
            <a:endParaRPr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CB59D67-8F00-4E6B-969E-27A23325634D}"/>
              </a:ext>
            </a:extLst>
          </p:cNvPr>
          <p:cNvSpPr>
            <a:spLocks noGrp="1"/>
          </p:cNvSpPr>
          <p:nvPr/>
        </p:nvSpPr>
        <p:spPr>
          <a:xfrm>
            <a:off x="1783080" y="187452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MeBOD</a:t>
            </a:r>
            <a:endParaRPr sz="60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2BBA0C7-C65B-4A5A-A81C-BD764BE4BF97}"/>
              </a:ext>
            </a:extLst>
          </p:cNvPr>
          <p:cNvSpPr>
            <a:spLocks noGrp="1"/>
          </p:cNvSpPr>
          <p:nvPr/>
        </p:nvSpPr>
        <p:spPr>
          <a:xfrm>
            <a:off x="731520" y="2926080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醫美時尚輿情分析系統</a:t>
            </a:r>
            <a:endParaRPr sz="26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4D94B11-641D-4372-B4D1-2214B79F3764}"/>
              </a:ext>
            </a:extLst>
          </p:cNvPr>
          <p:cNvSpPr>
            <a:spLocks noGrp="1"/>
          </p:cNvSpPr>
          <p:nvPr/>
        </p:nvSpPr>
        <p:spPr>
          <a:xfrm>
            <a:off x="731520" y="3611880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跨平台資料分析、可回查的 AI 問答與持續監測</a:t>
            </a:r>
            <a:endParaRPr sz="18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974977E-391F-4E85-8CE8-27CB8C534BB1}"/>
              </a:ext>
            </a:extLst>
          </p:cNvPr>
          <p:cNvSpPr>
            <a:spLocks noGrp="1"/>
          </p:cNvSpPr>
          <p:nvPr/>
        </p:nvSpPr>
        <p:spPr>
          <a:xfrm>
            <a:off x="731520" y="525780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組長 陳威帆 11246044　｜　組員 許家全 11246039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指導老師 陳信宏 老師</a:t>
            </a:r>
            <a:endParaRPr sz="1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0B47819-AA2E-4420-A0EF-F27B41BF6A32}"/>
              </a:ext>
            </a:extLst>
          </p:cNvPr>
          <p:cNvSpPr>
            <a:spLocks noGrp="1"/>
          </p:cNvSpPr>
          <p:nvPr/>
        </p:nvSpPr>
        <p:spPr>
          <a:xfrm>
            <a:off x="731520" y="598932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國立臺北商業大學 資訊管理系</a:t>
            </a:r>
            <a:endParaRPr sz="1200"/>
          </a:p>
        </p:txBody>
      </p:sp>
      <p:sp>
        <p:nvSpPr>
          <p:cNvPr id="11" name="01">
            <a:extLst>
              <a:ext uri="{FF2B5EF4-FFF2-40B4-BE49-F238E27FC236}">
                <a16:creationId xmlns:a16="http://schemas.microsoft.com/office/drawing/2014/main" id="{4EA35771-81D9-467E-854C-0FBF9AAB4E4D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01</a:t>
            </a:r>
          </a:p>
        </p:txBody>
      </p:sp>
      <p:pic>
        <p:nvPicPr>
          <p:cNvPr id="13" name="MeBOD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84248"/>
            <a:ext cx="868680" cy="868680"/>
          </a:xfrm>
          <a:prstGeom prst="rect">
            <a:avLst/>
          </a:prstGeom>
          <a:effectLst>
            <a:outerShdw blurRad="152400" dist="50800" dir="5400000" algn="t" rotWithShape="0">
              <a:srgbClr val="4F46E5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0548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568291D-8866-4EFD-B6A9-739524AFD19D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報告流程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6F7EDEF-87BE-487F-829E-8D05DE6BAB7A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2523744" cy="36118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FE2235-C488-46FA-9968-A8E4453038C8}"/>
              </a:ext>
            </a:extLst>
          </p:cNvPr>
          <p:cNvSpPr>
            <a:spLocks noGrp="1"/>
          </p:cNvSpPr>
          <p:nvPr/>
        </p:nvSpPr>
        <p:spPr>
          <a:xfrm>
            <a:off x="731520" y="2057400"/>
            <a:ext cx="252374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 sz="4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AAF241-ABE9-471E-B64D-4E82AA9DE8C9}"/>
              </a:ext>
            </a:extLst>
          </p:cNvPr>
          <p:cNvSpPr>
            <a:spLocks noGrp="1"/>
          </p:cNvSpPr>
          <p:nvPr/>
        </p:nvSpPr>
        <p:spPr>
          <a:xfrm>
            <a:off x="822960" y="2926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為什麼做、做給誰</a:t>
            </a:r>
            <a:endParaRPr sz="1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B9E3FFD-D454-4CBD-A4E6-B7F0FC4452AA}"/>
              </a:ext>
            </a:extLst>
          </p:cNvPr>
          <p:cNvSpPr>
            <a:spLocks noGrp="1"/>
          </p:cNvSpPr>
          <p:nvPr/>
        </p:nvSpPr>
        <p:spPr>
          <a:xfrm>
            <a:off x="868680" y="347472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問題、使用者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商業模式、成本、TOWS</a:t>
            </a:r>
            <a:endParaRPr sz="1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AEE99FC-695A-471B-88E0-425C727D2B41}"/>
              </a:ext>
            </a:extLst>
          </p:cNvPr>
          <p:cNvSpPr>
            <a:spLocks noGrp="1"/>
          </p:cNvSpPr>
          <p:nvPr/>
        </p:nvSpPr>
        <p:spPr>
          <a:xfrm>
            <a:off x="1170432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AF6D2E-C916-43B4-B39E-A07B8BADE41E}"/>
              </a:ext>
            </a:extLst>
          </p:cNvPr>
          <p:cNvSpPr>
            <a:spLocks noGrp="1"/>
          </p:cNvSpPr>
          <p:nvPr/>
        </p:nvSpPr>
        <p:spPr>
          <a:xfrm>
            <a:off x="1170432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 dirty="0" err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陳威帆</a:t>
            </a:r>
            <a:endParaRPr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31F49D7-9215-4C44-8DC6-DB022DCC5B10}"/>
              </a:ext>
            </a:extLst>
          </p:cNvPr>
          <p:cNvSpPr>
            <a:spLocks noGrp="1"/>
          </p:cNvSpPr>
          <p:nvPr/>
        </p:nvSpPr>
        <p:spPr>
          <a:xfrm>
            <a:off x="3465576" y="1783080"/>
            <a:ext cx="2523744" cy="36118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0337B4-99B6-4A74-A890-D45BDC6DB5F0}"/>
              </a:ext>
            </a:extLst>
          </p:cNvPr>
          <p:cNvSpPr>
            <a:spLocks noGrp="1"/>
          </p:cNvSpPr>
          <p:nvPr/>
        </p:nvSpPr>
        <p:spPr>
          <a:xfrm>
            <a:off x="3465576" y="2057400"/>
            <a:ext cx="252374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 sz="4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F997F99-60F5-4019-AC65-98BC0805A7C1}"/>
              </a:ext>
            </a:extLst>
          </p:cNvPr>
          <p:cNvSpPr>
            <a:spLocks noGrp="1"/>
          </p:cNvSpPr>
          <p:nvPr/>
        </p:nvSpPr>
        <p:spPr>
          <a:xfrm>
            <a:off x="3557016" y="2926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怎麼做</a:t>
            </a:r>
            <a:endParaRPr sz="18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7AC978F-E8EB-4E0A-9110-3579F60DE5F6}"/>
              </a:ext>
            </a:extLst>
          </p:cNvPr>
          <p:cNvSpPr>
            <a:spLocks noGrp="1"/>
          </p:cNvSpPr>
          <p:nvPr/>
        </p:nvSpPr>
        <p:spPr>
          <a:xfrm>
            <a:off x="3602736" y="347472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架構、資料收錄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情緒分數一致性</a:t>
            </a:r>
            <a:endParaRPr sz="14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4D8CDB8-C444-4743-ACC4-342DD2E3BE62}"/>
              </a:ext>
            </a:extLst>
          </p:cNvPr>
          <p:cNvSpPr>
            <a:spLocks noGrp="1"/>
          </p:cNvSpPr>
          <p:nvPr/>
        </p:nvSpPr>
        <p:spPr>
          <a:xfrm>
            <a:off x="3904488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516CD95-4CCA-4E6D-BCAA-68A8E45BCBBE}"/>
              </a:ext>
            </a:extLst>
          </p:cNvPr>
          <p:cNvSpPr>
            <a:spLocks noGrp="1"/>
          </p:cNvSpPr>
          <p:nvPr/>
        </p:nvSpPr>
        <p:spPr>
          <a:xfrm>
            <a:off x="3904488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200" b="1" dirty="0">
                <a:solidFill>
                  <a:srgbClr val="1F6FB8"/>
                </a:solidFill>
              </a:rPr>
              <a:t>陳威帆</a:t>
            </a:r>
            <a:endParaRPr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58F3A69-E4F1-4209-818B-C2A4109E6CA3}"/>
              </a:ext>
            </a:extLst>
          </p:cNvPr>
          <p:cNvSpPr>
            <a:spLocks noGrp="1"/>
          </p:cNvSpPr>
          <p:nvPr/>
        </p:nvSpPr>
        <p:spPr>
          <a:xfrm>
            <a:off x="6199632" y="1783080"/>
            <a:ext cx="2523744" cy="36118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5FCD0CB-B16A-48F2-A2C8-869F2FB0B929}"/>
              </a:ext>
            </a:extLst>
          </p:cNvPr>
          <p:cNvSpPr>
            <a:spLocks noGrp="1"/>
          </p:cNvSpPr>
          <p:nvPr/>
        </p:nvSpPr>
        <p:spPr>
          <a:xfrm>
            <a:off x="6199632" y="2057400"/>
            <a:ext cx="252374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 sz="4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FC4CAFE-9974-4D9D-9A5F-E075DA19299F}"/>
              </a:ext>
            </a:extLst>
          </p:cNvPr>
          <p:cNvSpPr>
            <a:spLocks noGrp="1"/>
          </p:cNvSpPr>
          <p:nvPr/>
        </p:nvSpPr>
        <p:spPr>
          <a:xfrm>
            <a:off x="6291072" y="2926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做到哪</a:t>
            </a:r>
            <a:endParaRPr sz="18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EAD1606-9FAC-437D-BC8B-6FE99C656590}"/>
              </a:ext>
            </a:extLst>
          </p:cNvPr>
          <p:cNvSpPr>
            <a:spLocks noGrp="1"/>
          </p:cNvSpPr>
          <p:nvPr/>
        </p:nvSpPr>
        <p:spPr>
          <a:xfrm>
            <a:off x="6336792" y="347472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功能完成度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實機展示</a:t>
            </a:r>
            <a:endParaRPr sz="1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7DA017B-2A37-45E1-9BF5-403FD57B71DC}"/>
              </a:ext>
            </a:extLst>
          </p:cNvPr>
          <p:cNvSpPr>
            <a:spLocks noGrp="1"/>
          </p:cNvSpPr>
          <p:nvPr/>
        </p:nvSpPr>
        <p:spPr>
          <a:xfrm>
            <a:off x="6638544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1F33E70-64EE-4CE5-AFEB-BAA682BF390D}"/>
              </a:ext>
            </a:extLst>
          </p:cNvPr>
          <p:cNvSpPr>
            <a:spLocks noGrp="1"/>
          </p:cNvSpPr>
          <p:nvPr/>
        </p:nvSpPr>
        <p:spPr>
          <a:xfrm>
            <a:off x="6638544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200" b="1" dirty="0">
                <a:solidFill>
                  <a:srgbClr val="1F6FB8"/>
                </a:solidFill>
              </a:rPr>
              <a:t>陳威帆</a:t>
            </a:r>
            <a:endParaRPr sz="1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C005F6A-0FA2-472C-BA57-5ECDD809F898}"/>
              </a:ext>
            </a:extLst>
          </p:cNvPr>
          <p:cNvSpPr>
            <a:spLocks noGrp="1"/>
          </p:cNvSpPr>
          <p:nvPr/>
        </p:nvSpPr>
        <p:spPr>
          <a:xfrm>
            <a:off x="8933688" y="1783080"/>
            <a:ext cx="2523744" cy="36118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EC66ACC-03AA-43AD-99F2-2E2E732B09E6}"/>
              </a:ext>
            </a:extLst>
          </p:cNvPr>
          <p:cNvSpPr>
            <a:spLocks noGrp="1"/>
          </p:cNvSpPr>
          <p:nvPr/>
        </p:nvSpPr>
        <p:spPr>
          <a:xfrm>
            <a:off x="8933688" y="2057400"/>
            <a:ext cx="252374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  <a:endParaRPr sz="4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6B147D5-EE5F-4EE7-B372-FF9BA35C5B26}"/>
              </a:ext>
            </a:extLst>
          </p:cNvPr>
          <p:cNvSpPr>
            <a:spLocks noGrp="1"/>
          </p:cNvSpPr>
          <p:nvPr/>
        </p:nvSpPr>
        <p:spPr>
          <a:xfrm>
            <a:off x="9025128" y="2926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怎麼管、下一步</a:t>
            </a:r>
            <a:endParaRPr sz="18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E72B34F-4A9E-4796-BC1D-27A16EA49B38}"/>
              </a:ext>
            </a:extLst>
          </p:cNvPr>
          <p:cNvSpPr>
            <a:spLocks noGrp="1"/>
          </p:cNvSpPr>
          <p:nvPr/>
        </p:nvSpPr>
        <p:spPr>
          <a:xfrm>
            <a:off x="9070848" y="347472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時程與 GitHub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分工、結論</a:t>
            </a:r>
            <a:endParaRPr sz="14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FA62E81-73DC-44E5-BDD9-5F76359D6817}"/>
              </a:ext>
            </a:extLst>
          </p:cNvPr>
          <p:cNvSpPr>
            <a:spLocks noGrp="1"/>
          </p:cNvSpPr>
          <p:nvPr/>
        </p:nvSpPr>
        <p:spPr>
          <a:xfrm>
            <a:off x="9372600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C2C9254-E34F-4B45-9544-6577AE63DB94}"/>
              </a:ext>
            </a:extLst>
          </p:cNvPr>
          <p:cNvSpPr>
            <a:spLocks noGrp="1"/>
          </p:cNvSpPr>
          <p:nvPr/>
        </p:nvSpPr>
        <p:spPr>
          <a:xfrm>
            <a:off x="9372600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許家全</a:t>
            </a:r>
            <a:endParaRPr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E43DCBC-DD71-4B89-9A82-763A4CCBB094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89D0AC0-8472-49F9-9FBA-762EF44ACA57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 dirty="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16 </a:t>
            </a:r>
            <a:r>
              <a:rPr sz="1400" b="1" dirty="0" err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項初評意見與回應頁碼</a:t>
            </a:r>
            <a:endParaRPr sz="1400" dirty="0"/>
          </a:p>
        </p:txBody>
      </p:sp>
      <p:sp>
        <p:nvSpPr>
          <p:cNvPr id="37" name="02">
            <a:extLst>
              <a:ext uri="{FF2B5EF4-FFF2-40B4-BE49-F238E27FC236}">
                <a16:creationId xmlns:a16="http://schemas.microsoft.com/office/drawing/2014/main" id="{5530B98C-4B3A-4176-8E77-B202184269E0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938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A16A367-2A25-4100-93BD-F46A25344E54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使用者要的，是完成一次口碑研究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21FF437-3577-44AA-97B4-9D822BEC5F4A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AC20D2E-E529-42D2-AD03-D762323D9035}"/>
              </a:ext>
            </a:extLst>
          </p:cNvPr>
          <p:cNvSpPr>
            <a:spLocks noGrp="1"/>
          </p:cNvSpPr>
          <p:nvPr/>
        </p:nvSpPr>
        <p:spPr>
          <a:xfrm>
            <a:off x="2116836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33AA9622-39F9-4D75-943A-18DFD1461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0" y="220370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713FC5CD-E166-4F7A-9B8A-8863B646CBC3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資料分散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0979B56-5CA9-4735-AD47-0D8C4446AB40}"/>
              </a:ext>
            </a:extLst>
          </p:cNvPr>
          <p:cNvSpPr>
            <a:spLocks noGrp="1"/>
          </p:cNvSpPr>
          <p:nvPr/>
        </p:nvSpPr>
        <p:spPr>
          <a:xfrm>
            <a:off x="868680" y="338328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四個平台各自搜尋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欄位與格式都不一樣</a:t>
            </a:r>
            <a:endParaRPr sz="1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34F52A6-7D52-44EB-B16D-FBC0CCB0FE32}"/>
              </a:ext>
            </a:extLst>
          </p:cNvPr>
          <p:cNvSpPr>
            <a:spLocks noGrp="1"/>
          </p:cNvSpPr>
          <p:nvPr/>
        </p:nvSpPr>
        <p:spPr>
          <a:xfrm>
            <a:off x="4379976" y="178308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9C69150-CD2D-49DC-A25E-AD5C0F4A002C}"/>
              </a:ext>
            </a:extLst>
          </p:cNvPr>
          <p:cNvSpPr>
            <a:spLocks noGrp="1"/>
          </p:cNvSpPr>
          <p:nvPr/>
        </p:nvSpPr>
        <p:spPr>
          <a:xfrm>
            <a:off x="5765292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3C5A2E19-B6CD-448B-98DF-A1AA7ACE3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203704"/>
            <a:ext cx="365760" cy="36576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890CEC1F-EA8D-4286-823E-E73F5D7D4A9A}"/>
              </a:ext>
            </a:extLst>
          </p:cNvPr>
          <p:cNvSpPr>
            <a:spLocks noGrp="1"/>
          </p:cNvSpPr>
          <p:nvPr/>
        </p:nvSpPr>
        <p:spPr>
          <a:xfrm>
            <a:off x="4517136" y="28803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觀點混雜</a:t>
            </a:r>
            <a:endParaRPr sz="18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A5A7257-C0E2-460D-B597-8A7FE01AF9BE}"/>
              </a:ext>
            </a:extLst>
          </p:cNvPr>
          <p:cNvSpPr>
            <a:spLocks noGrp="1"/>
          </p:cNvSpPr>
          <p:nvPr/>
        </p:nvSpPr>
        <p:spPr>
          <a:xfrm>
            <a:off x="4517136" y="338328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心得、提問、廣告、留言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只看標題容易誤判</a:t>
            </a:r>
            <a:endParaRPr sz="14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A8C8129-F73C-4901-AE34-71BFECFEB06B}"/>
              </a:ext>
            </a:extLst>
          </p:cNvPr>
          <p:cNvSpPr>
            <a:spLocks noGrp="1"/>
          </p:cNvSpPr>
          <p:nvPr/>
        </p:nvSpPr>
        <p:spPr>
          <a:xfrm>
            <a:off x="8028432" y="178308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97F7C6A-87D4-456E-8DED-4BFBBC70AEAB}"/>
              </a:ext>
            </a:extLst>
          </p:cNvPr>
          <p:cNvSpPr>
            <a:spLocks noGrp="1"/>
          </p:cNvSpPr>
          <p:nvPr/>
        </p:nvSpPr>
        <p:spPr>
          <a:xfrm>
            <a:off x="9413748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49E459FA-0CD7-4B77-A77C-801E6F7FA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052" y="2203704"/>
            <a:ext cx="365760" cy="365760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8ED0E91C-99EC-442E-97FD-1352DB1EA3C8}"/>
              </a:ext>
            </a:extLst>
          </p:cNvPr>
          <p:cNvSpPr>
            <a:spLocks noGrp="1"/>
          </p:cNvSpPr>
          <p:nvPr/>
        </p:nvSpPr>
        <p:spPr>
          <a:xfrm>
            <a:off x="8165592" y="28803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結論難回查</a:t>
            </a:r>
            <a:endParaRPr sz="18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CE896B4-BAE8-4E46-B6F9-C06367BF2A4B}"/>
              </a:ext>
            </a:extLst>
          </p:cNvPr>
          <p:cNvSpPr>
            <a:spLocks noGrp="1"/>
          </p:cNvSpPr>
          <p:nvPr/>
        </p:nvSpPr>
        <p:spPr>
          <a:xfrm>
            <a:off x="8165592" y="338328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摘要寫完了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卻找不回原文佐證</a:t>
            </a:r>
            <a:endParaRPr sz="14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7A1FB00-0C4A-4A92-B3F7-DE216939C7DF}"/>
              </a:ext>
            </a:extLst>
          </p:cNvPr>
          <p:cNvSpPr>
            <a:spLocks noGrp="1"/>
          </p:cNvSpPr>
          <p:nvPr/>
        </p:nvSpPr>
        <p:spPr>
          <a:xfrm>
            <a:off x="731520" y="4297680"/>
            <a:ext cx="3429000" cy="1097280"/>
          </a:xfrm>
          <a:prstGeom prst="roundRect">
            <a:avLst>
              <a:gd name="adj" fmla="val 13333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41F5A28-2304-4539-A929-645142A00444}"/>
              </a:ext>
            </a:extLst>
          </p:cNvPr>
          <p:cNvSpPr>
            <a:spLocks noGrp="1"/>
          </p:cNvSpPr>
          <p:nvPr/>
        </p:nvSpPr>
        <p:spPr>
          <a:xfrm>
            <a:off x="731520" y="44348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① 定義範圍</a:t>
            </a:r>
            <a:endParaRPr sz="18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A25D7A02-4C3C-44C3-B0C2-54E2EB9D184B}"/>
              </a:ext>
            </a:extLst>
          </p:cNvPr>
          <p:cNvSpPr>
            <a:spLocks noGrp="1"/>
          </p:cNvSpPr>
          <p:nvPr/>
        </p:nvSpPr>
        <p:spPr>
          <a:xfrm>
            <a:off x="731520" y="489204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關鍵字＋平台＋期間</a:t>
            </a:r>
            <a:endParaRPr sz="1400"/>
          </a:p>
        </p:txBody>
      </p:sp>
      <p:pic>
        <p:nvPicPr>
          <p:cNvPr id="24" name="Image 3">
            <a:extLst>
              <a:ext uri="{FF2B5EF4-FFF2-40B4-BE49-F238E27FC236}">
                <a16:creationId xmlns:a16="http://schemas.microsoft.com/office/drawing/2014/main" id="{C8D23219-0AC7-4F72-869A-F7ED90B98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4709160"/>
            <a:ext cx="219456" cy="219456"/>
          </a:xfrm>
          <a:prstGeom prst="rect">
            <a:avLst/>
          </a:prstGeom>
        </p:spPr>
      </p:pic>
      <p:sp>
        <p:nvSpPr>
          <p:cNvPr id="25" name="Shape 19">
            <a:extLst>
              <a:ext uri="{FF2B5EF4-FFF2-40B4-BE49-F238E27FC236}">
                <a16:creationId xmlns:a16="http://schemas.microsoft.com/office/drawing/2014/main" id="{F6F9C38D-1F11-48C6-BC6E-F2213879F6A8}"/>
              </a:ext>
            </a:extLst>
          </p:cNvPr>
          <p:cNvSpPr>
            <a:spLocks noGrp="1"/>
          </p:cNvSpPr>
          <p:nvPr/>
        </p:nvSpPr>
        <p:spPr>
          <a:xfrm>
            <a:off x="4379976" y="4297680"/>
            <a:ext cx="3429000" cy="1097280"/>
          </a:xfrm>
          <a:prstGeom prst="roundRect">
            <a:avLst>
              <a:gd name="adj" fmla="val 13333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FEBFD265-52FC-4957-89CE-CB09FC581719}"/>
              </a:ext>
            </a:extLst>
          </p:cNvPr>
          <p:cNvSpPr>
            <a:spLocks noGrp="1"/>
          </p:cNvSpPr>
          <p:nvPr/>
        </p:nvSpPr>
        <p:spPr>
          <a:xfrm>
            <a:off x="4379976" y="44348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② 閱讀核對</a:t>
            </a:r>
            <a:endParaRPr sz="180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EAAFF19C-62C4-4ED6-B996-426F7FD4BFB6}"/>
              </a:ext>
            </a:extLst>
          </p:cNvPr>
          <p:cNvSpPr>
            <a:spLocks noGrp="1"/>
          </p:cNvSpPr>
          <p:nvPr/>
        </p:nvSpPr>
        <p:spPr>
          <a:xfrm>
            <a:off x="4379976" y="489204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趨勢、情緒、回到原文</a:t>
            </a:r>
            <a:endParaRPr sz="1400"/>
          </a:p>
        </p:txBody>
      </p:sp>
      <p:pic>
        <p:nvPicPr>
          <p:cNvPr id="28" name="Image 4">
            <a:extLst>
              <a:ext uri="{FF2B5EF4-FFF2-40B4-BE49-F238E27FC236}">
                <a16:creationId xmlns:a16="http://schemas.microsoft.com/office/drawing/2014/main" id="{D8D82CF0-D712-4034-9BAD-6B1B522AE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76" y="4709160"/>
            <a:ext cx="219456" cy="219456"/>
          </a:xfrm>
          <a:prstGeom prst="rect">
            <a:avLst/>
          </a:prstGeom>
        </p:spPr>
      </p:pic>
      <p:sp>
        <p:nvSpPr>
          <p:cNvPr id="29" name="Shape 22">
            <a:extLst>
              <a:ext uri="{FF2B5EF4-FFF2-40B4-BE49-F238E27FC236}">
                <a16:creationId xmlns:a16="http://schemas.microsoft.com/office/drawing/2014/main" id="{0157CEB1-311F-46E4-ADE5-E3AE38490AAF}"/>
              </a:ext>
            </a:extLst>
          </p:cNvPr>
          <p:cNvSpPr>
            <a:spLocks noGrp="1"/>
          </p:cNvSpPr>
          <p:nvPr/>
        </p:nvSpPr>
        <p:spPr>
          <a:xfrm>
            <a:off x="8028432" y="4297680"/>
            <a:ext cx="3429000" cy="1097280"/>
          </a:xfrm>
          <a:prstGeom prst="roundRect">
            <a:avLst>
              <a:gd name="adj" fmla="val 13333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779FB8C9-C831-4AAC-BCA5-E69304361342}"/>
              </a:ext>
            </a:extLst>
          </p:cNvPr>
          <p:cNvSpPr>
            <a:spLocks noGrp="1"/>
          </p:cNvSpPr>
          <p:nvPr/>
        </p:nvSpPr>
        <p:spPr>
          <a:xfrm>
            <a:off x="8028432" y="44348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③ 留存追蹤</a:t>
            </a:r>
            <a:endParaRPr sz="180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2C2225D1-0EAC-4751-891A-9D15D3246D17}"/>
              </a:ext>
            </a:extLst>
          </p:cNvPr>
          <p:cNvSpPr>
            <a:spLocks noGrp="1"/>
          </p:cNvSpPr>
          <p:nvPr/>
        </p:nvSpPr>
        <p:spPr>
          <a:xfrm>
            <a:off x="8028432" y="489204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歷史、比較、監測、匯出</a:t>
            </a:r>
            <a:endParaRPr sz="1400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2C75B6EE-6B39-4C67-B5CA-C6D1A9240019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0989A6E0-86FD-4F13-885A-2562C0D70B53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MeBOD 是行銷觀察工具：討論聲量不等於療程成效，也不取代醫療判斷</a:t>
            </a:r>
            <a:endParaRPr sz="1400"/>
          </a:p>
        </p:txBody>
      </p:sp>
      <p:sp>
        <p:nvSpPr>
          <p:cNvPr id="35" name="03">
            <a:extLst>
              <a:ext uri="{FF2B5EF4-FFF2-40B4-BE49-F238E27FC236}">
                <a16:creationId xmlns:a16="http://schemas.microsoft.com/office/drawing/2014/main" id="{72A76EEC-AA91-4D5C-889A-261FAE0AB09E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953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初評意見已轉成具體修正與待辦">
            <a:extLst>
              <a:ext uri="{FF2B5EF4-FFF2-40B4-BE49-F238E27FC236}">
                <a16:creationId xmlns:a16="http://schemas.microsoft.com/office/drawing/2014/main" id="{4FD84B34-62B7-42E5-BDA4-DEAC158EE649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前次評審意見修正情形：初評意見已轉成具體修正與待辦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578FEC-83F4-48A2-B585-110C4C12A34F}"/>
              </a:ext>
            </a:extLst>
          </p:cNvPr>
          <p:cNvGraphicFramePr/>
          <p:nvPr/>
        </p:nvGraphicFramePr>
        <p:xfrm>
          <a:off x="733425" y="1771650"/>
          <a:ext cx="10725150" cy="3676650"/>
        </p:xfrm>
        <a:graphic>
          <a:graphicData uri="http://schemas.openxmlformats.org/drawingml/2006/table">
            <a:tbl>
              <a:tblPr/>
              <a:tblGrid>
                <a:gridCol w="22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初評關切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本次修正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目前邊界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目標客戶與營運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聚焦小型行銷團隊；STP、成本試算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需求訪談、實際帳單待補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RAG 只有關鍵字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文章切段＋向量＋關鍵字混合檢索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固定題組評估待補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分數與資料品質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固定分類參數；100 篇一致性評估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人工標註、業配辨識待補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系統與文件證據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四平台、18 張表、分層測試紀錄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部署驗證、負載測試待補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A53835-C781-4DB3-9900-0DD219442836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本次分別說明：前次修正、系統完成度、功能完整性；未完成項目明">
            <a:extLst>
              <a:ext uri="{FF2B5EF4-FFF2-40B4-BE49-F238E27FC236}">
                <a16:creationId xmlns:a16="http://schemas.microsoft.com/office/drawing/2014/main" id="{DB4087EC-C5CB-4FC3-8B33-59E9E8E4A846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本次分別說明：前次修正、系統完成度、功能完整性；未完成項目明列。</a:t>
            </a:r>
          </a:p>
        </p:txBody>
      </p:sp>
      <p:sp>
        <p:nvSpPr>
          <p:cNvPr id="7" name="04">
            <a:extLst>
              <a:ext uri="{FF2B5EF4-FFF2-40B4-BE49-F238E27FC236}">
                <a16:creationId xmlns:a16="http://schemas.microsoft.com/office/drawing/2014/main" id="{5E176C02-579C-4EA4-A7E2-8799185A534A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040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92BD872-6076-4F21-88E0-A83C64B22D7D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鎖定一群人：要定期看口碑的小團隊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7705D8B-0D52-4310-9299-B62C101DD65C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51206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255F5A5-4559-4CDE-8052-CE2F3B9CB6AD}"/>
              </a:ext>
            </a:extLst>
          </p:cNvPr>
          <p:cNvSpPr>
            <a:spLocks noGrp="1"/>
          </p:cNvSpPr>
          <p:nvPr/>
        </p:nvSpPr>
        <p:spPr>
          <a:xfrm>
            <a:off x="2962656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A14425BB-4C6E-4D19-8716-198A95A46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0370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4E95D8AD-DD41-4F7C-B669-C4E62D2CEB75}"/>
              </a:ext>
            </a:extLst>
          </p:cNvPr>
          <p:cNvSpPr>
            <a:spLocks noGrp="1"/>
          </p:cNvSpPr>
          <p:nvPr/>
        </p:nvSpPr>
        <p:spPr>
          <a:xfrm>
            <a:off x="731520" y="28346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目標使用者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6272697-F2AF-471D-AA7B-9F8E208DE0AA}"/>
              </a:ext>
            </a:extLst>
          </p:cNvPr>
          <p:cNvSpPr>
            <a:spLocks noGrp="1"/>
          </p:cNvSpPr>
          <p:nvPr/>
        </p:nvSpPr>
        <p:spPr>
          <a:xfrm>
            <a:off x="731520" y="32918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小型診所、保養品牌、行銷研究團隊</a:t>
            </a:r>
            <a:endParaRPr sz="1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271D884-C12B-49EC-9B37-B375AD4969D3}"/>
              </a:ext>
            </a:extLst>
          </p:cNvPr>
          <p:cNvSpPr>
            <a:spLocks noGrp="1"/>
          </p:cNvSpPr>
          <p:nvPr/>
        </p:nvSpPr>
        <p:spPr>
          <a:xfrm>
            <a:off x="731520" y="3840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STP 區隔變數</a:t>
            </a:r>
            <a:endParaRPr sz="1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8FC03CB-5DEB-4538-9DC5-CC36A79A1149}"/>
              </a:ext>
            </a:extLst>
          </p:cNvPr>
          <p:cNvSpPr>
            <a:spLocks noGrp="1"/>
          </p:cNvSpPr>
          <p:nvPr/>
        </p:nvSpPr>
        <p:spPr>
          <a:xfrm>
            <a:off x="1143000" y="4251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3BC98E7-348F-44DC-A9A5-9F458D366835}"/>
              </a:ext>
            </a:extLst>
          </p:cNvPr>
          <p:cNvSpPr>
            <a:spLocks noGrp="1"/>
          </p:cNvSpPr>
          <p:nvPr/>
        </p:nvSpPr>
        <p:spPr>
          <a:xfrm>
            <a:off x="1143000" y="4251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機構規模</a:t>
            </a:r>
            <a:endParaRPr sz="12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51E8CDD-19A9-493B-8824-63C5FC7B356D}"/>
              </a:ext>
            </a:extLst>
          </p:cNvPr>
          <p:cNvSpPr>
            <a:spLocks noGrp="1"/>
          </p:cNvSpPr>
          <p:nvPr/>
        </p:nvSpPr>
        <p:spPr>
          <a:xfrm>
            <a:off x="2606040" y="4251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D7F5BB2-39B3-43BE-96F8-0C8B993EB6DC}"/>
              </a:ext>
            </a:extLst>
          </p:cNvPr>
          <p:cNvSpPr>
            <a:spLocks noGrp="1"/>
          </p:cNvSpPr>
          <p:nvPr/>
        </p:nvSpPr>
        <p:spPr>
          <a:xfrm>
            <a:off x="2606040" y="4251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觀察主題</a:t>
            </a:r>
            <a:endParaRPr sz="12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3583E3A-EEF4-4A4E-BC5C-B3EF31AA9B05}"/>
              </a:ext>
            </a:extLst>
          </p:cNvPr>
          <p:cNvSpPr>
            <a:spLocks noGrp="1"/>
          </p:cNvSpPr>
          <p:nvPr/>
        </p:nvSpPr>
        <p:spPr>
          <a:xfrm>
            <a:off x="4069080" y="4251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0439D1A-686A-4773-8AC4-4E41865714D3}"/>
              </a:ext>
            </a:extLst>
          </p:cNvPr>
          <p:cNvSpPr>
            <a:spLocks noGrp="1"/>
          </p:cNvSpPr>
          <p:nvPr/>
        </p:nvSpPr>
        <p:spPr>
          <a:xfrm>
            <a:off x="4069080" y="4251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使用頻率</a:t>
            </a:r>
            <a:endParaRPr sz="12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DE9C54C-F233-42AB-8B5B-EE3840EF57A4}"/>
              </a:ext>
            </a:extLst>
          </p:cNvPr>
          <p:cNvSpPr>
            <a:spLocks noGrp="1"/>
          </p:cNvSpPr>
          <p:nvPr/>
        </p:nvSpPr>
        <p:spPr>
          <a:xfrm>
            <a:off x="731520" y="4846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一般消費者版需要療程知識補充，列入下一步</a:t>
            </a:r>
            <a:endParaRPr sz="12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C2EF53F-BABB-435D-9E49-BA12D8BDAE13}"/>
              </a:ext>
            </a:extLst>
          </p:cNvPr>
          <p:cNvSpPr>
            <a:spLocks noGrp="1"/>
          </p:cNvSpPr>
          <p:nvPr/>
        </p:nvSpPr>
        <p:spPr>
          <a:xfrm>
            <a:off x="6217920" y="1783080"/>
            <a:ext cx="5239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為行銷研究整合哪些工作？</a:t>
            </a:r>
            <a:endParaRPr sz="18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AA6BD65-4097-4C6E-9ECD-063E10D20EA2}"/>
              </a:ext>
            </a:extLst>
          </p:cNvPr>
          <p:cNvSpPr>
            <a:spLocks noGrp="1"/>
          </p:cNvSpPr>
          <p:nvPr/>
        </p:nvSpPr>
        <p:spPr>
          <a:xfrm>
            <a:off x="6217920" y="2377440"/>
            <a:ext cx="2194560" cy="603504"/>
          </a:xfrm>
          <a:prstGeom prst="roundRect">
            <a:avLst>
              <a:gd name="adj" fmla="val 24242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25AD148-EAC6-4031-9425-B96E5DD555CF}"/>
              </a:ext>
            </a:extLst>
          </p:cNvPr>
          <p:cNvSpPr>
            <a:spLocks noGrp="1"/>
          </p:cNvSpPr>
          <p:nvPr/>
        </p:nvSpPr>
        <p:spPr>
          <a:xfrm>
            <a:off x="6217920" y="2377440"/>
            <a:ext cx="2194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持續觀察</a:t>
            </a:r>
            <a:endParaRPr sz="1400"/>
          </a:p>
        </p:txBody>
      </p:sp>
      <p:pic>
        <p:nvPicPr>
          <p:cNvPr id="22" name="Image 1">
            <a:extLst>
              <a:ext uri="{FF2B5EF4-FFF2-40B4-BE49-F238E27FC236}">
                <a16:creationId xmlns:a16="http://schemas.microsoft.com/office/drawing/2014/main" id="{B2A598C7-2AD9-4230-B552-A393D2D46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551176"/>
            <a:ext cx="256032" cy="256032"/>
          </a:xfrm>
          <a:prstGeom prst="rect">
            <a:avLst/>
          </a:prstGeom>
        </p:spPr>
      </p:pic>
      <p:sp>
        <p:nvSpPr>
          <p:cNvPr id="23" name="Shape 19">
            <a:extLst>
              <a:ext uri="{FF2B5EF4-FFF2-40B4-BE49-F238E27FC236}">
                <a16:creationId xmlns:a16="http://schemas.microsoft.com/office/drawing/2014/main" id="{5A43E4E6-0534-472D-AAEA-1C4A35DC199B}"/>
              </a:ext>
            </a:extLst>
          </p:cNvPr>
          <p:cNvSpPr>
            <a:spLocks noGrp="1"/>
          </p:cNvSpPr>
          <p:nvPr/>
        </p:nvSpPr>
        <p:spPr>
          <a:xfrm>
            <a:off x="8961120" y="2377440"/>
            <a:ext cx="2496312" cy="603504"/>
          </a:xfrm>
          <a:prstGeom prst="roundRect">
            <a:avLst>
              <a:gd name="adj" fmla="val 24242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537F47C-CB7A-4F36-AD11-94C0F9A86741}"/>
              </a:ext>
            </a:extLst>
          </p:cNvPr>
          <p:cNvSpPr>
            <a:spLocks noGrp="1"/>
          </p:cNvSpPr>
          <p:nvPr/>
        </p:nvSpPr>
        <p:spPr>
          <a:xfrm>
            <a:off x="8961120" y="2377440"/>
            <a:ext cx="2496312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每日自動追蹤＋負面預警</a:t>
            </a:r>
            <a:endParaRPr sz="140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FF1BECA0-76FB-4292-B238-3EF5FEE96D48}"/>
              </a:ext>
            </a:extLst>
          </p:cNvPr>
          <p:cNvSpPr>
            <a:spLocks noGrp="1"/>
          </p:cNvSpPr>
          <p:nvPr/>
        </p:nvSpPr>
        <p:spPr>
          <a:xfrm>
            <a:off x="6217920" y="3145536"/>
            <a:ext cx="2194560" cy="603504"/>
          </a:xfrm>
          <a:prstGeom prst="roundRect">
            <a:avLst>
              <a:gd name="adj" fmla="val 24242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F65B291-AA8F-4C29-BC55-CA3B5ABE7F6D}"/>
              </a:ext>
            </a:extLst>
          </p:cNvPr>
          <p:cNvSpPr>
            <a:spLocks noGrp="1"/>
          </p:cNvSpPr>
          <p:nvPr/>
        </p:nvSpPr>
        <p:spPr>
          <a:xfrm>
            <a:off x="6217920" y="3145536"/>
            <a:ext cx="2194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證據核對</a:t>
            </a:r>
            <a:endParaRPr sz="1400"/>
          </a:p>
        </p:txBody>
      </p:sp>
      <p:pic>
        <p:nvPicPr>
          <p:cNvPr id="27" name="Image 2">
            <a:extLst>
              <a:ext uri="{FF2B5EF4-FFF2-40B4-BE49-F238E27FC236}">
                <a16:creationId xmlns:a16="http://schemas.microsoft.com/office/drawing/2014/main" id="{8F50DF4D-5409-4DC6-8409-6EA408BE0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3319272"/>
            <a:ext cx="256032" cy="256032"/>
          </a:xfrm>
          <a:prstGeom prst="rect">
            <a:avLst/>
          </a:prstGeom>
        </p:spPr>
      </p:pic>
      <p:sp>
        <p:nvSpPr>
          <p:cNvPr id="28" name="Shape 23">
            <a:extLst>
              <a:ext uri="{FF2B5EF4-FFF2-40B4-BE49-F238E27FC236}">
                <a16:creationId xmlns:a16="http://schemas.microsoft.com/office/drawing/2014/main" id="{C259AE0D-5754-491C-9DDA-366187DDB5A4}"/>
              </a:ext>
            </a:extLst>
          </p:cNvPr>
          <p:cNvSpPr>
            <a:spLocks noGrp="1"/>
          </p:cNvSpPr>
          <p:nvPr/>
        </p:nvSpPr>
        <p:spPr>
          <a:xfrm>
            <a:off x="8961120" y="3145536"/>
            <a:ext cx="2496312" cy="603504"/>
          </a:xfrm>
          <a:prstGeom prst="roundRect">
            <a:avLst>
              <a:gd name="adj" fmla="val 24242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18B7BB7D-FC23-48DA-A226-8355653E0007}"/>
              </a:ext>
            </a:extLst>
          </p:cNvPr>
          <p:cNvSpPr>
            <a:spLocks noGrp="1"/>
          </p:cNvSpPr>
          <p:nvPr/>
        </p:nvSpPr>
        <p:spPr>
          <a:xfrm>
            <a:off x="8961120" y="3145536"/>
            <a:ext cx="2496312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回答附原文，點了就看</a:t>
            </a:r>
            <a:endParaRPr sz="140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ABCFBF94-4698-4500-9CAE-C3DF7B87FDA0}"/>
              </a:ext>
            </a:extLst>
          </p:cNvPr>
          <p:cNvSpPr>
            <a:spLocks noGrp="1"/>
          </p:cNvSpPr>
          <p:nvPr/>
        </p:nvSpPr>
        <p:spPr>
          <a:xfrm>
            <a:off x="6217920" y="3913632"/>
            <a:ext cx="2194560" cy="603504"/>
          </a:xfrm>
          <a:prstGeom prst="roundRect">
            <a:avLst>
              <a:gd name="adj" fmla="val 24242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A157392-80BD-4119-97C4-952103026103}"/>
              </a:ext>
            </a:extLst>
          </p:cNvPr>
          <p:cNvSpPr>
            <a:spLocks noGrp="1"/>
          </p:cNvSpPr>
          <p:nvPr/>
        </p:nvSpPr>
        <p:spPr>
          <a:xfrm>
            <a:off x="6217920" y="3913632"/>
            <a:ext cx="2194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期間比較</a:t>
            </a:r>
            <a:endParaRPr sz="1400"/>
          </a:p>
        </p:txBody>
      </p:sp>
      <p:pic>
        <p:nvPicPr>
          <p:cNvPr id="32" name="Image 3">
            <a:extLst>
              <a:ext uri="{FF2B5EF4-FFF2-40B4-BE49-F238E27FC236}">
                <a16:creationId xmlns:a16="http://schemas.microsoft.com/office/drawing/2014/main" id="{67FA3406-E978-402F-A81E-DE8E1D42C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4087368"/>
            <a:ext cx="256032" cy="256032"/>
          </a:xfrm>
          <a:prstGeom prst="rect">
            <a:avLst/>
          </a:prstGeom>
        </p:spPr>
      </p:pic>
      <p:sp>
        <p:nvSpPr>
          <p:cNvPr id="33" name="Shape 27">
            <a:extLst>
              <a:ext uri="{FF2B5EF4-FFF2-40B4-BE49-F238E27FC236}">
                <a16:creationId xmlns:a16="http://schemas.microsoft.com/office/drawing/2014/main" id="{3C718A5A-6EEA-41A8-9D37-9EFCD4BA7864}"/>
              </a:ext>
            </a:extLst>
          </p:cNvPr>
          <p:cNvSpPr>
            <a:spLocks noGrp="1"/>
          </p:cNvSpPr>
          <p:nvPr/>
        </p:nvSpPr>
        <p:spPr>
          <a:xfrm>
            <a:off x="8961120" y="3913632"/>
            <a:ext cx="2496312" cy="603504"/>
          </a:xfrm>
          <a:prstGeom prst="roundRect">
            <a:avLst>
              <a:gd name="adj" fmla="val 24242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240582E-5B39-4018-B47F-4E462F6B76AD}"/>
              </a:ext>
            </a:extLst>
          </p:cNvPr>
          <p:cNvSpPr>
            <a:spLocks noGrp="1"/>
          </p:cNvSpPr>
          <p:nvPr/>
        </p:nvSpPr>
        <p:spPr>
          <a:xfrm>
            <a:off x="8961120" y="3913632"/>
            <a:ext cx="2496312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依期間、平台出趨勢圖</a:t>
            </a:r>
            <a:endParaRPr sz="140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4336B683-C109-4D43-8E40-634F0A229D06}"/>
              </a:ext>
            </a:extLst>
          </p:cNvPr>
          <p:cNvSpPr>
            <a:spLocks noGrp="1"/>
          </p:cNvSpPr>
          <p:nvPr/>
        </p:nvSpPr>
        <p:spPr>
          <a:xfrm>
            <a:off x="6217920" y="4681728"/>
            <a:ext cx="2194560" cy="603504"/>
          </a:xfrm>
          <a:prstGeom prst="roundRect">
            <a:avLst>
              <a:gd name="adj" fmla="val 24242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3EE2C696-383D-4642-9730-81A8EEF471DF}"/>
              </a:ext>
            </a:extLst>
          </p:cNvPr>
          <p:cNvSpPr>
            <a:spLocks noGrp="1"/>
          </p:cNvSpPr>
          <p:nvPr/>
        </p:nvSpPr>
        <p:spPr>
          <a:xfrm>
            <a:off x="6217920" y="4681728"/>
            <a:ext cx="2194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成果留存</a:t>
            </a:r>
            <a:endParaRPr sz="1400"/>
          </a:p>
        </p:txBody>
      </p:sp>
      <p:pic>
        <p:nvPicPr>
          <p:cNvPr id="37" name="Image 4">
            <a:extLst>
              <a:ext uri="{FF2B5EF4-FFF2-40B4-BE49-F238E27FC236}">
                <a16:creationId xmlns:a16="http://schemas.microsoft.com/office/drawing/2014/main" id="{7E5ED0B8-692D-4EB2-9B72-4B6979905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4855464"/>
            <a:ext cx="256032" cy="256032"/>
          </a:xfrm>
          <a:prstGeom prst="rect">
            <a:avLst/>
          </a:prstGeom>
        </p:spPr>
      </p:pic>
      <p:sp>
        <p:nvSpPr>
          <p:cNvPr id="38" name="Shape 31">
            <a:extLst>
              <a:ext uri="{FF2B5EF4-FFF2-40B4-BE49-F238E27FC236}">
                <a16:creationId xmlns:a16="http://schemas.microsoft.com/office/drawing/2014/main" id="{1CF12B8F-A026-45F9-AC0C-66B5505604C8}"/>
              </a:ext>
            </a:extLst>
          </p:cNvPr>
          <p:cNvSpPr>
            <a:spLocks noGrp="1"/>
          </p:cNvSpPr>
          <p:nvPr/>
        </p:nvSpPr>
        <p:spPr>
          <a:xfrm>
            <a:off x="8961120" y="4681728"/>
            <a:ext cx="2496312" cy="603504"/>
          </a:xfrm>
          <a:prstGeom prst="roundRect">
            <a:avLst>
              <a:gd name="adj" fmla="val 24242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9B9CDD5D-318C-49A5-A1A6-4AF97E5CCCCB}"/>
              </a:ext>
            </a:extLst>
          </p:cNvPr>
          <p:cNvSpPr>
            <a:spLocks noGrp="1"/>
          </p:cNvSpPr>
          <p:nvPr/>
        </p:nvSpPr>
        <p:spPr>
          <a:xfrm>
            <a:off x="8961120" y="4681728"/>
            <a:ext cx="2496312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個人帳號、匯出報表</a:t>
            </a:r>
            <a:endParaRPr sz="1400"/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3672E564-5385-405B-B5F0-D1112B64CC69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FFB37A8C-2AE6-4C9F-9194-5ED1F2BA1759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初評口頭報告提及與雜誌社交流；正式訪談紀錄及需求驗收仍待補。</a:t>
            </a:r>
            <a:endParaRPr sz="1400"/>
          </a:p>
        </p:txBody>
      </p:sp>
      <p:sp>
        <p:nvSpPr>
          <p:cNvPr id="43" name="05">
            <a:extLst>
              <a:ext uri="{FF2B5EF4-FFF2-40B4-BE49-F238E27FC236}">
                <a16:creationId xmlns:a16="http://schemas.microsoft.com/office/drawing/2014/main" id="{DBB75A9E-1AE3-4458-BCA6-1C6ADFDAB06F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981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FC2E084-788E-4AA1-A011-FD608BAA4D84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商業模式：九個區塊串成一個訂閱服務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3D501D-EF9C-4DC0-A6B9-AEA384A9540F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FE5D26-E9A9-4018-BEC7-4816BA86AF59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顧客區隔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400AA4B-03A8-4949-8B4F-67E13CDEBF24}"/>
              </a:ext>
            </a:extLst>
          </p:cNvPr>
          <p:cNvSpPr>
            <a:spLocks noGrp="1"/>
          </p:cNvSpPr>
          <p:nvPr/>
        </p:nvSpPr>
        <p:spPr>
          <a:xfrm>
            <a:off x="868680" y="225856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小型診所、保養品牌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行銷研究團隊</a:t>
            </a:r>
            <a:endParaRPr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9726D99-C0C6-41BE-AB13-1C9EE93599E7}"/>
              </a:ext>
            </a:extLst>
          </p:cNvPr>
          <p:cNvSpPr>
            <a:spLocks noGrp="1"/>
          </p:cNvSpPr>
          <p:nvPr/>
        </p:nvSpPr>
        <p:spPr>
          <a:xfrm>
            <a:off x="4343400" y="178308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905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6506BE-3EB8-4EA7-81F8-743C61A035B3}"/>
              </a:ext>
            </a:extLst>
          </p:cNvPr>
          <p:cNvSpPr>
            <a:spLocks noGrp="1"/>
          </p:cNvSpPr>
          <p:nvPr/>
        </p:nvSpPr>
        <p:spPr>
          <a:xfrm>
            <a:off x="4343400" y="189280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價值主張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A49E480-BB4E-48EB-9414-1C1A414C013E}"/>
              </a:ext>
            </a:extLst>
          </p:cNvPr>
          <p:cNvSpPr>
            <a:spLocks noGrp="1"/>
          </p:cNvSpPr>
          <p:nvPr/>
        </p:nvSpPr>
        <p:spPr>
          <a:xfrm>
            <a:off x="4480560" y="225856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跨平台口碑一次看完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結論可回查原文</a:t>
            </a:r>
            <a:endParaRPr sz="14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1CA4986-7EC6-4FCC-8B8E-90A9B21004BF}"/>
              </a:ext>
            </a:extLst>
          </p:cNvPr>
          <p:cNvSpPr>
            <a:spLocks noGrp="1"/>
          </p:cNvSpPr>
          <p:nvPr/>
        </p:nvSpPr>
        <p:spPr>
          <a:xfrm>
            <a:off x="7955280" y="178308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630EB6D-B991-406D-AD0B-8BDD99799A4C}"/>
              </a:ext>
            </a:extLst>
          </p:cNvPr>
          <p:cNvSpPr>
            <a:spLocks noGrp="1"/>
          </p:cNvSpPr>
          <p:nvPr/>
        </p:nvSpPr>
        <p:spPr>
          <a:xfrm>
            <a:off x="7955280" y="189280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通路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CCA089-EBE0-406D-9612-B58122073FBE}"/>
              </a:ext>
            </a:extLst>
          </p:cNvPr>
          <p:cNvSpPr>
            <a:spLocks noGrp="1"/>
          </p:cNvSpPr>
          <p:nvPr/>
        </p:nvSpPr>
        <p:spPr>
          <a:xfrm>
            <a:off x="8092440" y="225856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網頁服務、專題展示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客戶試用</a:t>
            </a:r>
            <a:endParaRPr sz="14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42C9A5A-701C-4DE4-9BE2-FE241CDA6E35}"/>
              </a:ext>
            </a:extLst>
          </p:cNvPr>
          <p:cNvSpPr>
            <a:spLocks noGrp="1"/>
          </p:cNvSpPr>
          <p:nvPr/>
        </p:nvSpPr>
        <p:spPr>
          <a:xfrm>
            <a:off x="731520" y="301752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A906EF3-819E-4325-9117-4B01A9DD2512}"/>
              </a:ext>
            </a:extLst>
          </p:cNvPr>
          <p:cNvSpPr>
            <a:spLocks noGrp="1"/>
          </p:cNvSpPr>
          <p:nvPr/>
        </p:nvSpPr>
        <p:spPr>
          <a:xfrm>
            <a:off x="731520" y="312724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顧客關係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5986184-DEF8-4875-8B06-131DA4E35BC0}"/>
              </a:ext>
            </a:extLst>
          </p:cNvPr>
          <p:cNvSpPr>
            <a:spLocks noGrp="1"/>
          </p:cNvSpPr>
          <p:nvPr/>
        </p:nvSpPr>
        <p:spPr>
          <a:xfrm>
            <a:off x="868680" y="349300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帳號服務、使用教學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問題回報</a:t>
            </a:r>
            <a:endParaRPr sz="14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65C9346-EE06-4CF2-96A9-D5DCB6A810FA}"/>
              </a:ext>
            </a:extLst>
          </p:cNvPr>
          <p:cNvSpPr>
            <a:spLocks noGrp="1"/>
          </p:cNvSpPr>
          <p:nvPr/>
        </p:nvSpPr>
        <p:spPr>
          <a:xfrm>
            <a:off x="4343400" y="301752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95422CB-ADAB-4EF0-BC00-3301F7585ABC}"/>
              </a:ext>
            </a:extLst>
          </p:cNvPr>
          <p:cNvSpPr>
            <a:spLocks noGrp="1"/>
          </p:cNvSpPr>
          <p:nvPr/>
        </p:nvSpPr>
        <p:spPr>
          <a:xfrm>
            <a:off x="4343400" y="312724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收益來源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6DB83AB-A8D6-4ACA-A6C4-C91D08C8DB92}"/>
              </a:ext>
            </a:extLst>
          </p:cNvPr>
          <p:cNvSpPr>
            <a:spLocks noGrp="1"/>
          </p:cNvSpPr>
          <p:nvPr/>
        </p:nvSpPr>
        <p:spPr>
          <a:xfrm>
            <a:off x="4480560" y="349300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免費／專業 490／企業 1,990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月費皆為假設，待付費意願驗證</a:t>
            </a:r>
            <a:endParaRPr sz="1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1C55690-3280-4369-B0A9-73F6C9029BC7}"/>
              </a:ext>
            </a:extLst>
          </p:cNvPr>
          <p:cNvSpPr>
            <a:spLocks noGrp="1"/>
          </p:cNvSpPr>
          <p:nvPr/>
        </p:nvSpPr>
        <p:spPr>
          <a:xfrm>
            <a:off x="7955280" y="301752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110F48-5D7A-476F-A9F1-092DA040914B}"/>
              </a:ext>
            </a:extLst>
          </p:cNvPr>
          <p:cNvSpPr>
            <a:spLocks noGrp="1"/>
          </p:cNvSpPr>
          <p:nvPr/>
        </p:nvSpPr>
        <p:spPr>
          <a:xfrm>
            <a:off x="7955280" y="312724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關鍵資源</a:t>
            </a:r>
            <a:endParaRPr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E6883-1E4B-4B36-A8E4-67587517C916}"/>
              </a:ext>
            </a:extLst>
          </p:cNvPr>
          <p:cNvSpPr>
            <a:spLocks noGrp="1"/>
          </p:cNvSpPr>
          <p:nvPr/>
        </p:nvSpPr>
        <p:spPr>
          <a:xfrm>
            <a:off x="8092440" y="349300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累積的文章資料庫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領域詞庫、程式</a:t>
            </a:r>
            <a:endParaRPr sz="1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0DFBF11-BC8E-4DF5-BE40-B491BD8324DF}"/>
              </a:ext>
            </a:extLst>
          </p:cNvPr>
          <p:cNvSpPr>
            <a:spLocks noGrp="1"/>
          </p:cNvSpPr>
          <p:nvPr/>
        </p:nvSpPr>
        <p:spPr>
          <a:xfrm>
            <a:off x="731520" y="425196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6504BA7-3C1C-459E-A6D2-E03498D614FF}"/>
              </a:ext>
            </a:extLst>
          </p:cNvPr>
          <p:cNvSpPr>
            <a:spLocks noGrp="1"/>
          </p:cNvSpPr>
          <p:nvPr/>
        </p:nvSpPr>
        <p:spPr>
          <a:xfrm>
            <a:off x="731520" y="436168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關鍵活動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30B8C84-20BC-40FA-8568-0EA4EF838017}"/>
              </a:ext>
            </a:extLst>
          </p:cNvPr>
          <p:cNvSpPr>
            <a:spLocks noGrp="1"/>
          </p:cNvSpPr>
          <p:nvPr/>
        </p:nvSpPr>
        <p:spPr>
          <a:xfrm>
            <a:off x="868680" y="472744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爬取清理、情緒評分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向量建立、品質檢查</a:t>
            </a:r>
            <a:endParaRPr sz="14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8E8E952-5B75-4B74-B902-6D8B3ABB8A35}"/>
              </a:ext>
            </a:extLst>
          </p:cNvPr>
          <p:cNvSpPr>
            <a:spLocks noGrp="1"/>
          </p:cNvSpPr>
          <p:nvPr/>
        </p:nvSpPr>
        <p:spPr>
          <a:xfrm>
            <a:off x="4343400" y="425196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8480925-CF0B-438D-88C8-D236348556B4}"/>
              </a:ext>
            </a:extLst>
          </p:cNvPr>
          <p:cNvSpPr>
            <a:spLocks noGrp="1"/>
          </p:cNvSpPr>
          <p:nvPr/>
        </p:nvSpPr>
        <p:spPr>
          <a:xfrm>
            <a:off x="4343400" y="436168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關鍵夥伴</a:t>
            </a:r>
            <a:endParaRPr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79153E2-D8BC-4B92-98BC-83E3803EE553}"/>
              </a:ext>
            </a:extLst>
          </p:cNvPr>
          <p:cNvSpPr>
            <a:spLocks noGrp="1"/>
          </p:cNvSpPr>
          <p:nvPr/>
        </p:nvSpPr>
        <p:spPr>
          <a:xfrm>
            <a:off x="4480560" y="472744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模型 API 供應商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主機與網路服務商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49AA711-747F-40F3-B2F5-CA47FF227741}"/>
              </a:ext>
            </a:extLst>
          </p:cNvPr>
          <p:cNvSpPr>
            <a:spLocks noGrp="1"/>
          </p:cNvSpPr>
          <p:nvPr/>
        </p:nvSpPr>
        <p:spPr>
          <a:xfrm>
            <a:off x="7955280" y="425196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17465AA-BCAF-4107-8F03-06189B8EC457}"/>
              </a:ext>
            </a:extLst>
          </p:cNvPr>
          <p:cNvSpPr>
            <a:spLocks noGrp="1"/>
          </p:cNvSpPr>
          <p:nvPr/>
        </p:nvSpPr>
        <p:spPr>
          <a:xfrm>
            <a:off x="7955280" y="436168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成本結構</a:t>
            </a:r>
            <a:endParaRPr sz="16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F88FD6C-B894-4AD9-A81B-AA6E2AA43FD8}"/>
              </a:ext>
            </a:extLst>
          </p:cNvPr>
          <p:cNvSpPr>
            <a:spLocks noGrp="1"/>
          </p:cNvSpPr>
          <p:nvPr/>
        </p:nvSpPr>
        <p:spPr>
          <a:xfrm>
            <a:off x="8092440" y="472744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雲端主機、資料庫、模型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金流手續費、維運人力</a:t>
            </a:r>
            <a:endParaRPr sz="14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5BE08BA-F7BC-411B-8CDA-FFD86C9DD603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F1237A8-245D-444C-AD78-5EA43828784D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方案額度已實作；訂閱收款尚未串接，月費與付費意願仍屬營運假設。</a:t>
            </a:r>
            <a:endParaRPr sz="1400"/>
          </a:p>
        </p:txBody>
      </p:sp>
      <p:sp>
        <p:nvSpPr>
          <p:cNvPr id="36" name="06">
            <a:extLst>
              <a:ext uri="{FF2B5EF4-FFF2-40B4-BE49-F238E27FC236}">
                <a16:creationId xmlns:a16="http://schemas.microsoft.com/office/drawing/2014/main" id="{2EBC2E49-1D76-434B-A184-C5A48BA69F18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7781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AB2D361-6AEC-43A3-B0E1-1370DFE98552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成本重算：4 個專業版帳號可打平雲端支出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ABE0FF-C9C7-43A7-B316-AB3805180185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25603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5A3F5F-CAC5-40D7-A02D-39DBD2B4ABE9}"/>
              </a:ext>
            </a:extLst>
          </p:cNvPr>
          <p:cNvSpPr>
            <a:spLocks noGrp="1"/>
          </p:cNvSpPr>
          <p:nvPr/>
        </p:nvSpPr>
        <p:spPr>
          <a:xfrm>
            <a:off x="822960" y="20574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0.18 元</a:t>
            </a:r>
            <a:endParaRPr sz="3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BEA3D9-A009-4CEA-B0DD-D5E222787E0A}"/>
              </a:ext>
            </a:extLst>
          </p:cNvPr>
          <p:cNvSpPr>
            <a:spLocks noGrp="1"/>
          </p:cNvSpPr>
          <p:nvPr/>
        </p:nvSpPr>
        <p:spPr>
          <a:xfrm>
            <a:off x="822960" y="28803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每次 AI 問答（保守上限）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C76224E-6880-42E4-BCC5-DD201F63DAD7}"/>
              </a:ext>
            </a:extLst>
          </p:cNvPr>
          <p:cNvSpPr>
            <a:spLocks noGrp="1"/>
          </p:cNvSpPr>
          <p:nvPr/>
        </p:nvSpPr>
        <p:spPr>
          <a:xfrm>
            <a:off x="868680" y="32918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實測 prompt×官方單價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F5898B4-0D91-400B-A3E6-1EA3FA362362}"/>
              </a:ext>
            </a:extLst>
          </p:cNvPr>
          <p:cNvSpPr>
            <a:spLocks noGrp="1"/>
          </p:cNvSpPr>
          <p:nvPr/>
        </p:nvSpPr>
        <p:spPr>
          <a:xfrm>
            <a:off x="3474720" y="1783080"/>
            <a:ext cx="25603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A85723-AC44-4CA2-ACCB-8AE9A59763C9}"/>
              </a:ext>
            </a:extLst>
          </p:cNvPr>
          <p:cNvSpPr>
            <a:spLocks noGrp="1"/>
          </p:cNvSpPr>
          <p:nvPr/>
        </p:nvSpPr>
        <p:spPr>
          <a:xfrm>
            <a:off x="3566160" y="20574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53 元</a:t>
            </a:r>
            <a:endParaRPr sz="3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DCBBE7D-2D2D-4D5C-8E2C-9C15E8694073}"/>
              </a:ext>
            </a:extLst>
          </p:cNvPr>
          <p:cNvSpPr>
            <a:spLocks noGrp="1"/>
          </p:cNvSpPr>
          <p:nvPr/>
        </p:nvSpPr>
        <p:spPr>
          <a:xfrm>
            <a:off x="3566160" y="28803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每位專業版用戶／月</a:t>
            </a:r>
            <a:endParaRPr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7B73D4-0CE7-48A5-BF08-571B22683F5C}"/>
              </a:ext>
            </a:extLst>
          </p:cNvPr>
          <p:cNvSpPr>
            <a:spLocks noGrp="1"/>
          </p:cNvSpPr>
          <p:nvPr/>
        </p:nvSpPr>
        <p:spPr>
          <a:xfrm>
            <a:off x="3611880" y="32918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問答100、洞察60、金流3%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69880F6-9021-42D8-857E-6B3D32E8F860}"/>
              </a:ext>
            </a:extLst>
          </p:cNvPr>
          <p:cNvSpPr>
            <a:spLocks noGrp="1"/>
          </p:cNvSpPr>
          <p:nvPr/>
        </p:nvSpPr>
        <p:spPr>
          <a:xfrm>
            <a:off x="6217920" y="1783080"/>
            <a:ext cx="25603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4D12D62-5D8D-4E45-BCFC-ED5E485912D6}"/>
              </a:ext>
            </a:extLst>
          </p:cNvPr>
          <p:cNvSpPr>
            <a:spLocks noGrp="1"/>
          </p:cNvSpPr>
          <p:nvPr/>
        </p:nvSpPr>
        <p:spPr>
          <a:xfrm>
            <a:off x="6309360" y="20574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1,456 元</a:t>
            </a:r>
            <a:endParaRPr sz="3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ED8EA77-2B5E-469E-8275-5A4B4D5F31DC}"/>
              </a:ext>
            </a:extLst>
          </p:cNvPr>
          <p:cNvSpPr>
            <a:spLocks noGrp="1"/>
          </p:cNvSpPr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每月雲端固定支出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AC93142-C0A9-4B69-9623-0ABACA098C3D}"/>
              </a:ext>
            </a:extLst>
          </p:cNvPr>
          <p:cNvSpPr>
            <a:spLocks noGrp="1"/>
          </p:cNvSpPr>
          <p:nvPr/>
        </p:nvSpPr>
        <p:spPr>
          <a:xfrm>
            <a:off x="6355080" y="32918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主機、資料庫、網域、判讀</a:t>
            </a:r>
            <a:endParaRPr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EC6AB01-C01E-4038-B70A-DD2D8BA2BB57}"/>
              </a:ext>
            </a:extLst>
          </p:cNvPr>
          <p:cNvSpPr>
            <a:spLocks noGrp="1"/>
          </p:cNvSpPr>
          <p:nvPr/>
        </p:nvSpPr>
        <p:spPr>
          <a:xfrm>
            <a:off x="9052560" y="1783080"/>
            <a:ext cx="2404872" cy="3703320"/>
          </a:xfrm>
          <a:prstGeom prst="roundRect">
            <a:avLst>
              <a:gd name="adj" fmla="val 6084"/>
            </a:avLst>
          </a:prstGeom>
          <a:solidFill>
            <a:srgbClr val="E2EDF9"/>
          </a:solidFill>
          <a:ln w="1905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F08BD10-8E54-4639-B49F-5A1262B8B7C0}"/>
              </a:ext>
            </a:extLst>
          </p:cNvPr>
          <p:cNvSpPr>
            <a:spLocks noGrp="1"/>
          </p:cNvSpPr>
          <p:nvPr/>
        </p:nvSpPr>
        <p:spPr>
          <a:xfrm>
            <a:off x="9052560" y="2057400"/>
            <a:ext cx="24048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損益平衡點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CBD95C2-6776-488D-8AA1-A33AB42A5892}"/>
              </a:ext>
            </a:extLst>
          </p:cNvPr>
          <p:cNvSpPr>
            <a:spLocks noGrp="1"/>
          </p:cNvSpPr>
          <p:nvPr/>
        </p:nvSpPr>
        <p:spPr>
          <a:xfrm>
            <a:off x="9052560" y="2514600"/>
            <a:ext cx="2404872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5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4 個</a:t>
            </a:r>
            <a:endParaRPr sz="5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99349E-721C-4384-ABAB-AE70C0D15DA7}"/>
              </a:ext>
            </a:extLst>
          </p:cNvPr>
          <p:cNvSpPr>
            <a:spLocks noGrp="1"/>
          </p:cNvSpPr>
          <p:nvPr/>
        </p:nvSpPr>
        <p:spPr>
          <a:xfrm>
            <a:off x="9052560" y="3657600"/>
            <a:ext cx="240487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專業版付費帳號／月</a:t>
            </a:r>
            <a:endParaRPr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05FECCB-D9C7-4154-8CE1-A7738D358DAF}"/>
              </a:ext>
            </a:extLst>
          </p:cNvPr>
          <p:cNvSpPr>
            <a:spLocks noGrp="1"/>
          </p:cNvSpPr>
          <p:nvPr/>
        </p:nvSpPr>
        <p:spPr>
          <a:xfrm>
            <a:off x="9052560" y="4069080"/>
            <a:ext cx="240487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收入 1,960 ＞ 支出 1,668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31788AA-EE2A-4983-B910-E496729D9D25}"/>
              </a:ext>
            </a:extLst>
          </p:cNvPr>
          <p:cNvSpPr>
            <a:spLocks noGrp="1"/>
          </p:cNvSpPr>
          <p:nvPr/>
        </p:nvSpPr>
        <p:spPr>
          <a:xfrm>
            <a:off x="9052560" y="4754880"/>
            <a:ext cx="240487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每月 1,456 固定支出＋每帳號 53</a:t>
            </a:r>
            <a:endParaRPr sz="1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1E81070-A35F-42FD-8834-66AC620E07BF}"/>
              </a:ext>
            </a:extLst>
          </p:cNvPr>
          <p:cNvSpPr>
            <a:spLocks noGrp="1"/>
          </p:cNvSpPr>
          <p:nvPr/>
        </p:nvSpPr>
        <p:spPr>
          <a:xfrm>
            <a:off x="731520" y="3886200"/>
            <a:ext cx="80467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C7886CE8-19D6-4214-A643-3748AB0D9F41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5383211-1DB8-4E4C-A4B9-04E90E7B6D22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新臺幣／月；Gemini 3.1 Flash-Lite 官方單價查於 10/18（1 USD≈32 元）；未含人力，見附錄 C、F。</a:t>
            </a:r>
            <a:endParaRPr sz="1400"/>
          </a:p>
        </p:txBody>
      </p:sp>
      <p:sp>
        <p:nvSpPr>
          <p:cNvPr id="29" name="07">
            <a:extLst>
              <a:ext uri="{FF2B5EF4-FFF2-40B4-BE49-F238E27FC236}">
                <a16:creationId xmlns:a16="http://schemas.microsoft.com/office/drawing/2014/main" id="{732FBB28-8821-4EFE-850A-BFD028580A39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07</a:t>
            </a:r>
          </a:p>
        </p:txBody>
      </p:sp>
      <p:graphicFrame>
        <p:nvGraphicFramePr>
          <p:cNvPr id="30" name="Chart">
            <a:extLst>
              <a:ext uri="{FF2B5EF4-FFF2-40B4-BE49-F238E27FC236}">
                <a16:creationId xmlns:a16="http://schemas.microsoft.com/office/drawing/2014/main" id="{CF1A1B14-1B85-4032-AA9E-AA4200B256E5}"/>
              </a:ext>
            </a:extLst>
          </p:cNvPr>
          <p:cNvGraphicFramePr/>
          <p:nvPr/>
        </p:nvGraphicFramePr>
        <p:xfrm>
          <a:off x="868680" y="3959352"/>
          <a:ext cx="77724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0616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7CCBAA3-821B-4617-9BE5-5BCB697360B9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TOWS：把優劣勢變成可驗證的策略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07BB1A-FDDD-48D4-98C1-4BFB7442D180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2377440" cy="777240"/>
          </a:xfrm>
          <a:prstGeom prst="roundRect">
            <a:avLst>
              <a:gd name="adj" fmla="val 18824"/>
            </a:avLst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6DD236-593D-46E3-A5C5-14CD0AA9171E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內部 ＼ 外部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F171F00-F09F-4512-A758-183E3B1868F1}"/>
              </a:ext>
            </a:extLst>
          </p:cNvPr>
          <p:cNvSpPr>
            <a:spLocks noGrp="1"/>
          </p:cNvSpPr>
          <p:nvPr/>
        </p:nvSpPr>
        <p:spPr>
          <a:xfrm>
            <a:off x="3218688" y="1783080"/>
            <a:ext cx="4064508" cy="777240"/>
          </a:xfrm>
          <a:prstGeom prst="roundRect">
            <a:avLst>
              <a:gd name="adj" fmla="val 18824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E1491D-5706-4CE1-A412-CD7F551BACE9}"/>
              </a:ext>
            </a:extLst>
          </p:cNvPr>
          <p:cNvSpPr>
            <a:spLocks noGrp="1"/>
          </p:cNvSpPr>
          <p:nvPr/>
        </p:nvSpPr>
        <p:spPr>
          <a:xfrm>
            <a:off x="3218688" y="1837944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機會 O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177DCF-4722-4646-9FA2-1DCB5D314689}"/>
              </a:ext>
            </a:extLst>
          </p:cNvPr>
          <p:cNvSpPr>
            <a:spLocks noGrp="1"/>
          </p:cNvSpPr>
          <p:nvPr/>
        </p:nvSpPr>
        <p:spPr>
          <a:xfrm>
            <a:off x="3218688" y="2148840"/>
            <a:ext cx="40645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團隊需要持續整理公開討論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06EF465-1938-45FA-A8F2-B30AA029119D}"/>
              </a:ext>
            </a:extLst>
          </p:cNvPr>
          <p:cNvSpPr>
            <a:spLocks noGrp="1"/>
          </p:cNvSpPr>
          <p:nvPr/>
        </p:nvSpPr>
        <p:spPr>
          <a:xfrm>
            <a:off x="7392924" y="1783080"/>
            <a:ext cx="4064508" cy="777240"/>
          </a:xfrm>
          <a:prstGeom prst="roundRect">
            <a:avLst>
              <a:gd name="adj" fmla="val 18824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04E204-F39D-4589-8632-0718D859D8E8}"/>
              </a:ext>
            </a:extLst>
          </p:cNvPr>
          <p:cNvSpPr>
            <a:spLocks noGrp="1"/>
          </p:cNvSpPr>
          <p:nvPr/>
        </p:nvSpPr>
        <p:spPr>
          <a:xfrm>
            <a:off x="7392924" y="1837944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威脅 T</a:t>
            </a:r>
            <a:endParaRPr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4B73569-3FFA-4FCF-96F6-60658D29D4F7}"/>
              </a:ext>
            </a:extLst>
          </p:cNvPr>
          <p:cNvSpPr>
            <a:spLocks noGrp="1"/>
          </p:cNvSpPr>
          <p:nvPr/>
        </p:nvSpPr>
        <p:spPr>
          <a:xfrm>
            <a:off x="7392924" y="2148840"/>
            <a:ext cx="40645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網站改版、模型費用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通用 AI 代理（Agentic AI）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4DFD663-6F1B-41F6-9D66-5525770A78FE}"/>
              </a:ext>
            </a:extLst>
          </p:cNvPr>
          <p:cNvSpPr>
            <a:spLocks noGrp="1"/>
          </p:cNvSpPr>
          <p:nvPr/>
        </p:nvSpPr>
        <p:spPr>
          <a:xfrm>
            <a:off x="731520" y="2670048"/>
            <a:ext cx="2377440" cy="1353312"/>
          </a:xfrm>
          <a:prstGeom prst="roundRect">
            <a:avLst>
              <a:gd name="adj" fmla="val 10811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087561-95F5-4B1A-A1DA-CE2174FDF0C3}"/>
              </a:ext>
            </a:extLst>
          </p:cNvPr>
          <p:cNvSpPr>
            <a:spLocks noGrp="1"/>
          </p:cNvSpPr>
          <p:nvPr/>
        </p:nvSpPr>
        <p:spPr>
          <a:xfrm>
            <a:off x="731520" y="29443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優勢 S</a:t>
            </a:r>
            <a:endParaRPr sz="1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0C57ADA-1148-44C0-B8CE-7ED4C7D8D1E7}"/>
              </a:ext>
            </a:extLst>
          </p:cNvPr>
          <p:cNvSpPr>
            <a:spLocks noGrp="1"/>
          </p:cNvSpPr>
          <p:nvPr/>
        </p:nvSpPr>
        <p:spPr>
          <a:xfrm>
            <a:off x="731520" y="335584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垂直詞庫、多平台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結構化資料</a:t>
            </a:r>
            <a:endParaRPr sz="12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B917158-53D7-4A98-8786-0128C2776E3F}"/>
              </a:ext>
            </a:extLst>
          </p:cNvPr>
          <p:cNvSpPr>
            <a:spLocks noGrp="1"/>
          </p:cNvSpPr>
          <p:nvPr/>
        </p:nvSpPr>
        <p:spPr>
          <a:xfrm>
            <a:off x="731520" y="4133088"/>
            <a:ext cx="2377440" cy="1353312"/>
          </a:xfrm>
          <a:prstGeom prst="roundRect">
            <a:avLst>
              <a:gd name="adj" fmla="val 10811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D476D84-CB34-4ACE-94D9-4FAB379725FC}"/>
              </a:ext>
            </a:extLst>
          </p:cNvPr>
          <p:cNvSpPr>
            <a:spLocks noGrp="1"/>
          </p:cNvSpPr>
          <p:nvPr/>
        </p:nvSpPr>
        <p:spPr>
          <a:xfrm>
            <a:off x="731520" y="440740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劣勢 W</a:t>
            </a:r>
            <a:endParaRPr sz="1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14BE4AE-327B-4CCC-935D-DEAC68145B77}"/>
              </a:ext>
            </a:extLst>
          </p:cNvPr>
          <p:cNvSpPr>
            <a:spLocks noGrp="1"/>
          </p:cNvSpPr>
          <p:nvPr/>
        </p:nvSpPr>
        <p:spPr>
          <a:xfrm>
            <a:off x="731520" y="481888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資料與模型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依賴外部服務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DE308C3-0086-4189-976E-14BD80E7EDDD}"/>
              </a:ext>
            </a:extLst>
          </p:cNvPr>
          <p:cNvSpPr>
            <a:spLocks noGrp="1"/>
          </p:cNvSpPr>
          <p:nvPr/>
        </p:nvSpPr>
        <p:spPr>
          <a:xfrm>
            <a:off x="3218688" y="2670048"/>
            <a:ext cx="406450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B32B576-9F39-473E-A90C-6173B4AA4DBA}"/>
              </a:ext>
            </a:extLst>
          </p:cNvPr>
          <p:cNvSpPr>
            <a:spLocks noGrp="1"/>
          </p:cNvSpPr>
          <p:nvPr/>
        </p:nvSpPr>
        <p:spPr>
          <a:xfrm>
            <a:off x="3218688" y="2807208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SO 擴大試用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B98F55-5C1E-4BE0-9AE2-DDDB811213A4}"/>
              </a:ext>
            </a:extLst>
          </p:cNvPr>
          <p:cNvSpPr>
            <a:spLocks noGrp="1"/>
          </p:cNvSpPr>
          <p:nvPr/>
        </p:nvSpPr>
        <p:spPr>
          <a:xfrm>
            <a:off x="3401568" y="3145536"/>
            <a:ext cx="36987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用固定關鍵字監測，先給診所與品牌試用</a:t>
            </a:r>
            <a:endParaRPr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D9E894C-4A68-4A27-B7DB-041B5724B1B7}"/>
              </a:ext>
            </a:extLst>
          </p:cNvPr>
          <p:cNvSpPr>
            <a:spLocks noGrp="1"/>
          </p:cNvSpPr>
          <p:nvPr/>
        </p:nvSpPr>
        <p:spPr>
          <a:xfrm>
            <a:off x="3401568" y="3657600"/>
            <a:ext cx="36987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驗證：試用帳號每週查詢與匯出次數</a:t>
            </a:r>
            <a:endParaRPr sz="1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D302650-AFA3-4604-97AF-4CE54EE16B2E}"/>
              </a:ext>
            </a:extLst>
          </p:cNvPr>
          <p:cNvSpPr>
            <a:spLocks noGrp="1"/>
          </p:cNvSpPr>
          <p:nvPr/>
        </p:nvSpPr>
        <p:spPr>
          <a:xfrm>
            <a:off x="7392924" y="2670048"/>
            <a:ext cx="4064508" cy="1353312"/>
          </a:xfrm>
          <a:prstGeom prst="roundRect">
            <a:avLst>
              <a:gd name="adj" fmla="val 10811"/>
            </a:avLst>
          </a:prstGeom>
          <a:solidFill>
            <a:srgbClr val="FDEEDF"/>
          </a:solidFill>
          <a:ln w="1905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8377BD2-1390-4EB4-9C68-1D14EAED8AA0}"/>
              </a:ext>
            </a:extLst>
          </p:cNvPr>
          <p:cNvSpPr>
            <a:spLocks noGrp="1"/>
          </p:cNvSpPr>
          <p:nvPr/>
        </p:nvSpPr>
        <p:spPr>
          <a:xfrm>
            <a:off x="7392924" y="2807208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ST 拉開差異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C78A3C1-B85A-4F31-9660-A0F4A91E7DE7}"/>
              </a:ext>
            </a:extLst>
          </p:cNvPr>
          <p:cNvSpPr>
            <a:spLocks noGrp="1"/>
          </p:cNvSpPr>
          <p:nvPr/>
        </p:nvSpPr>
        <p:spPr>
          <a:xfrm>
            <a:off x="7575804" y="3145536"/>
            <a:ext cx="36987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長期歷史資料＋原文回查＋持續監測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與通用 AI 代理區隔</a:t>
            </a:r>
            <a:endParaRPr sz="14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9BF74F6-C499-4F46-90DF-A3B8844ABB91}"/>
              </a:ext>
            </a:extLst>
          </p:cNvPr>
          <p:cNvSpPr>
            <a:spLocks noGrp="1"/>
          </p:cNvSpPr>
          <p:nvPr/>
        </p:nvSpPr>
        <p:spPr>
          <a:xfrm>
            <a:off x="7575804" y="3657600"/>
            <a:ext cx="36987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驗證：與通用 AI 同題任務比較</a:t>
            </a:r>
            <a:endParaRPr sz="12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82F97A8-DBEE-46B3-9B10-6B358B95F6C7}"/>
              </a:ext>
            </a:extLst>
          </p:cNvPr>
          <p:cNvSpPr>
            <a:spLocks noGrp="1"/>
          </p:cNvSpPr>
          <p:nvPr/>
        </p:nvSpPr>
        <p:spPr>
          <a:xfrm>
            <a:off x="3218688" y="4133088"/>
            <a:ext cx="406450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7244F9F-9F55-4D57-A57D-1A4B8A73EE28}"/>
              </a:ext>
            </a:extLst>
          </p:cNvPr>
          <p:cNvSpPr>
            <a:spLocks noGrp="1"/>
          </p:cNvSpPr>
          <p:nvPr/>
        </p:nvSpPr>
        <p:spPr>
          <a:xfrm>
            <a:off x="3218688" y="4270248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WO 補品質</a:t>
            </a:r>
            <a:endParaRPr sz="16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7278167-D4AE-47FF-8A49-389C561E25F4}"/>
              </a:ext>
            </a:extLst>
          </p:cNvPr>
          <p:cNvSpPr>
            <a:spLocks noGrp="1"/>
          </p:cNvSpPr>
          <p:nvPr/>
        </p:nvSpPr>
        <p:spPr>
          <a:xfrm>
            <a:off x="3401568" y="4608576"/>
            <a:ext cx="36987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人工抽樣標註，建立情緒與相關性基準</a:t>
            </a:r>
            <a:endParaRPr sz="14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9AEB992-C521-43AD-86DA-08A71E87DC28}"/>
              </a:ext>
            </a:extLst>
          </p:cNvPr>
          <p:cNvSpPr>
            <a:spLocks noGrp="1"/>
          </p:cNvSpPr>
          <p:nvPr/>
        </p:nvSpPr>
        <p:spPr>
          <a:xfrm>
            <a:off x="3401568" y="5120640"/>
            <a:ext cx="36987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驗證：抽樣一致率、領域合作者複核</a:t>
            </a:r>
            <a:endParaRPr sz="12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1640254-8473-41BE-98BF-3DE9787DF860}"/>
              </a:ext>
            </a:extLst>
          </p:cNvPr>
          <p:cNvSpPr>
            <a:spLocks noGrp="1"/>
          </p:cNvSpPr>
          <p:nvPr/>
        </p:nvSpPr>
        <p:spPr>
          <a:xfrm>
            <a:off x="7392924" y="4133088"/>
            <a:ext cx="406450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5DC46B8-55B7-4207-AC0F-541B08D2F3FE}"/>
              </a:ext>
            </a:extLst>
          </p:cNvPr>
          <p:cNvSpPr>
            <a:spLocks noGrp="1"/>
          </p:cNvSpPr>
          <p:nvPr/>
        </p:nvSpPr>
        <p:spPr>
          <a:xfrm>
            <a:off x="7392924" y="4270248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WT 降風險</a:t>
            </a:r>
            <a:endParaRPr sz="16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DC63F14-F402-48DD-9911-6384C21DE7CE}"/>
              </a:ext>
            </a:extLst>
          </p:cNvPr>
          <p:cNvSpPr>
            <a:spLocks noGrp="1"/>
          </p:cNvSpPr>
          <p:nvPr/>
        </p:nvSpPr>
        <p:spPr>
          <a:xfrm>
            <a:off x="7575804" y="4608576"/>
            <a:ext cx="36987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停用故障平台、方案額度、問答快取、備份</a:t>
            </a:r>
            <a:endParaRPr sz="14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8CB0705-16E3-42C3-A4F0-DAA65DF9C70B}"/>
              </a:ext>
            </a:extLst>
          </p:cNvPr>
          <p:cNvSpPr>
            <a:spLocks noGrp="1"/>
          </p:cNvSpPr>
          <p:nvPr/>
        </p:nvSpPr>
        <p:spPr>
          <a:xfrm>
            <a:off x="7575804" y="5120640"/>
            <a:ext cx="36987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驗證：用量紀錄與備份還原測試</a:t>
            </a:r>
            <a:endParaRPr sz="12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18A8F5E-2D8E-4B81-9EFA-3204C31238B0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B25984E-EAEC-47F6-92CA-36239A5DA729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Agentic AI 是評審C最後的提問：通用 AI 能自己搜尋整理，我們靠累積資料與可回查做區隔</a:t>
            </a:r>
            <a:endParaRPr sz="1400"/>
          </a:p>
        </p:txBody>
      </p:sp>
      <p:sp>
        <p:nvSpPr>
          <p:cNvPr id="39" name="08">
            <a:extLst>
              <a:ext uri="{FF2B5EF4-FFF2-40B4-BE49-F238E27FC236}">
                <a16:creationId xmlns:a16="http://schemas.microsoft.com/office/drawing/2014/main" id="{229CB9A2-69C0-4C75-85FB-11A89FBA0544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309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0A85B40-B96A-4BB1-BD59-C068ED22EB9A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三層架構：介面、服務、資料各司其職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3EE594-5EDB-41D5-BE3E-3295AFAFB81E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10896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5F89204-804D-4C6F-A555-4A6F12DD93A5}"/>
              </a:ext>
            </a:extLst>
          </p:cNvPr>
          <p:cNvSpPr>
            <a:spLocks noGrp="1"/>
          </p:cNvSpPr>
          <p:nvPr/>
        </p:nvSpPr>
        <p:spPr>
          <a:xfrm>
            <a:off x="1956816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17A77513-39CF-4F27-8FF0-A8A6A8B97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20370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74A656B7-DF83-4AFB-BA98-70487856B84C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4B04266-7968-48EC-839F-0794A6C3197E}"/>
              </a:ext>
            </a:extLst>
          </p:cNvPr>
          <p:cNvSpPr>
            <a:spLocks noGrp="1"/>
          </p:cNvSpPr>
          <p:nvPr/>
        </p:nvSpPr>
        <p:spPr>
          <a:xfrm>
            <a:off x="868680" y="3383280"/>
            <a:ext cx="283464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Vue 3 ＋ Chart.js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儀表板、問答、歷史、管理</a:t>
            </a:r>
            <a:endParaRPr sz="140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AAA88FCC-54F8-4A98-9B7A-242591F61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999232"/>
            <a:ext cx="274320" cy="27432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DB0C8BB0-8FAB-4F7B-9CD1-8E6413E12A76}"/>
              </a:ext>
            </a:extLst>
          </p:cNvPr>
          <p:cNvSpPr>
            <a:spLocks noGrp="1"/>
          </p:cNvSpPr>
          <p:nvPr/>
        </p:nvSpPr>
        <p:spPr>
          <a:xfrm>
            <a:off x="4539996" y="1783080"/>
            <a:ext cx="310896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A46EAA1-0024-4E88-A877-B817B00EB215}"/>
              </a:ext>
            </a:extLst>
          </p:cNvPr>
          <p:cNvSpPr>
            <a:spLocks noGrp="1"/>
          </p:cNvSpPr>
          <p:nvPr/>
        </p:nvSpPr>
        <p:spPr>
          <a:xfrm>
            <a:off x="5765292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6B868C35-7FAF-4E6D-85D7-7C2533098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2203704"/>
            <a:ext cx="365760" cy="36576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8B396E06-7935-4F69-8CA0-F6C17232F9C3}"/>
              </a:ext>
            </a:extLst>
          </p:cNvPr>
          <p:cNvSpPr>
            <a:spLocks noGrp="1"/>
          </p:cNvSpPr>
          <p:nvPr/>
        </p:nvSpPr>
        <p:spPr>
          <a:xfrm>
            <a:off x="4677156" y="28803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應用服務</a:t>
            </a:r>
            <a:endParaRPr sz="18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343DCAE-088D-467D-8243-70F1E0AB789E}"/>
              </a:ext>
            </a:extLst>
          </p:cNvPr>
          <p:cNvSpPr>
            <a:spLocks noGrp="1"/>
          </p:cNvSpPr>
          <p:nvPr/>
        </p:nvSpPr>
        <p:spPr>
          <a:xfrm>
            <a:off x="4677156" y="3383280"/>
            <a:ext cx="283464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FastAPI ＋ 服務層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授權、分析、檢索、匯出</a:t>
            </a:r>
            <a:endParaRPr sz="1400"/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B18B74B6-6479-43C4-A545-09C863EDB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268" y="2999232"/>
            <a:ext cx="274320" cy="274320"/>
          </a:xfrm>
          <a:prstGeom prst="rect">
            <a:avLst/>
          </a:prstGeom>
        </p:spPr>
      </p:pic>
      <p:sp>
        <p:nvSpPr>
          <p:cNvPr id="18" name="Shape 12">
            <a:extLst>
              <a:ext uri="{FF2B5EF4-FFF2-40B4-BE49-F238E27FC236}">
                <a16:creationId xmlns:a16="http://schemas.microsoft.com/office/drawing/2014/main" id="{B5B3E279-45FD-4B70-B404-921CE58145EB}"/>
              </a:ext>
            </a:extLst>
          </p:cNvPr>
          <p:cNvSpPr>
            <a:spLocks noGrp="1"/>
          </p:cNvSpPr>
          <p:nvPr/>
        </p:nvSpPr>
        <p:spPr>
          <a:xfrm>
            <a:off x="8348472" y="1783080"/>
            <a:ext cx="310896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CC3FEFD1-EE3C-491B-848D-5295F4039E1B}"/>
              </a:ext>
            </a:extLst>
          </p:cNvPr>
          <p:cNvSpPr>
            <a:spLocks noGrp="1"/>
          </p:cNvSpPr>
          <p:nvPr/>
        </p:nvSpPr>
        <p:spPr>
          <a:xfrm>
            <a:off x="9573768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00D2973F-29C1-4627-8278-F6CE0DD79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2203704"/>
            <a:ext cx="365760" cy="36576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4F8A541F-FC5B-499D-B2BA-DA7F8ED2FDE8}"/>
              </a:ext>
            </a:extLst>
          </p:cNvPr>
          <p:cNvSpPr>
            <a:spLocks noGrp="1"/>
          </p:cNvSpPr>
          <p:nvPr/>
        </p:nvSpPr>
        <p:spPr>
          <a:xfrm>
            <a:off x="8485632" y="28803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資料與外部服務</a:t>
            </a:r>
            <a:endParaRPr sz="18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3CCB1A8-6878-4626-93D8-4F1B26E97E94}"/>
              </a:ext>
            </a:extLst>
          </p:cNvPr>
          <p:cNvSpPr>
            <a:spLocks noGrp="1"/>
          </p:cNvSpPr>
          <p:nvPr/>
        </p:nvSpPr>
        <p:spPr>
          <a:xfrm>
            <a:off x="8485632" y="3383280"/>
            <a:ext cx="283464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PostgreSQL ＋ SQLAlchemy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四平台爬蟲、Gemini API</a:t>
            </a:r>
            <a:endParaRPr sz="140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55DCD4F6-04AB-47AD-A817-2C060B02C50C}"/>
              </a:ext>
            </a:extLst>
          </p:cNvPr>
          <p:cNvSpPr>
            <a:spLocks noGrp="1"/>
          </p:cNvSpPr>
          <p:nvPr/>
        </p:nvSpPr>
        <p:spPr>
          <a:xfrm>
            <a:off x="731520" y="47548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E5FE95C-0D73-41E5-B6B7-365C1F22F2AF}"/>
              </a:ext>
            </a:extLst>
          </p:cNvPr>
          <p:cNvSpPr>
            <a:spLocks noGrp="1"/>
          </p:cNvSpPr>
          <p:nvPr/>
        </p:nvSpPr>
        <p:spPr>
          <a:xfrm>
            <a:off x="731520" y="4754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18 張表・Alembic 遷移</a:t>
            </a:r>
            <a:endParaRPr sz="120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600FC39A-0A2D-4EDE-AE89-E236798BB404}"/>
              </a:ext>
            </a:extLst>
          </p:cNvPr>
          <p:cNvSpPr>
            <a:spLocks noGrp="1"/>
          </p:cNvSpPr>
          <p:nvPr/>
        </p:nvSpPr>
        <p:spPr>
          <a:xfrm>
            <a:off x="3453689" y="47548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9804428B-B261-410C-9E6E-D1188CD3BDDB}"/>
              </a:ext>
            </a:extLst>
          </p:cNvPr>
          <p:cNvSpPr>
            <a:spLocks noGrp="1"/>
          </p:cNvSpPr>
          <p:nvPr/>
        </p:nvSpPr>
        <p:spPr>
          <a:xfrm>
            <a:off x="3453689" y="4754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問答：關鍵字＋向量 RRF</a:t>
            </a:r>
            <a:endParaRPr sz="120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2DBFD1B-3A96-44D2-984C-2BFD22527474}"/>
              </a:ext>
            </a:extLst>
          </p:cNvPr>
          <p:cNvSpPr>
            <a:spLocks noGrp="1"/>
          </p:cNvSpPr>
          <p:nvPr/>
        </p:nvSpPr>
        <p:spPr>
          <a:xfrm>
            <a:off x="6175858" y="47548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3F04553E-9670-46C5-AD97-A31B89A39F82}"/>
              </a:ext>
            </a:extLst>
          </p:cNvPr>
          <p:cNvSpPr>
            <a:spLocks noGrp="1"/>
          </p:cNvSpPr>
          <p:nvPr/>
        </p:nvSpPr>
        <p:spPr>
          <a:xfrm>
            <a:off x="6175858" y="4754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WebSocket：爬取進度推送</a:t>
            </a:r>
            <a:endParaRPr sz="120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B5B492EC-BAF0-4474-9106-B7115F8412D4}"/>
              </a:ext>
            </a:extLst>
          </p:cNvPr>
          <p:cNvSpPr>
            <a:spLocks noGrp="1"/>
          </p:cNvSpPr>
          <p:nvPr/>
        </p:nvSpPr>
        <p:spPr>
          <a:xfrm>
            <a:off x="8898026" y="47548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BA5E8A2E-0EED-4FB1-95E4-F8595C93A657}"/>
              </a:ext>
            </a:extLst>
          </p:cNvPr>
          <p:cNvSpPr>
            <a:spLocks noGrp="1"/>
          </p:cNvSpPr>
          <p:nvPr/>
        </p:nvSpPr>
        <p:spPr>
          <a:xfrm>
            <a:off x="8898026" y="4754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cloudflared：HTTPS 對外</a:t>
            </a:r>
            <a:endParaRPr sz="120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8FBCDF45-118E-4FBE-98E3-451060B5649C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78CB195D-AC11-4DB4-9EEC-E5137624177B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權限與額度皆在後端檢查；預警的查詢、已讀與即時檢查已依帳號隔離。</a:t>
            </a:r>
            <a:endParaRPr sz="1400"/>
          </a:p>
        </p:txBody>
      </p:sp>
      <p:sp>
        <p:nvSpPr>
          <p:cNvPr id="34" name="09">
            <a:extLst>
              <a:ext uri="{FF2B5EF4-FFF2-40B4-BE49-F238E27FC236}">
                <a16:creationId xmlns:a16="http://schemas.microsoft.com/office/drawing/2014/main" id="{F9B4ED37-4DCC-419D-B661-AADC07E1575C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4693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A082D87-CCD7-43A8-91CA-40A94DBB65A5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從一個論壇，到四個平台自動收錄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221DA69-9696-4C45-A925-D461420BEE49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2331720" cy="274320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06CE69-A9A4-4981-B25F-8F711E9A174F}"/>
              </a:ext>
            </a:extLst>
          </p:cNvPr>
          <p:cNvSpPr>
            <a:spLocks noGrp="1"/>
          </p:cNvSpPr>
          <p:nvPr/>
        </p:nvSpPr>
        <p:spPr>
          <a:xfrm>
            <a:off x="1568196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67540054-5A8D-477E-9B21-C96785634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20370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C870681-CC95-4CE7-B3E1-6F9779BF9767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觸發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50A0FCC-D00C-4C22-9E37-7D01AC13D097}"/>
              </a:ext>
            </a:extLst>
          </p:cNvPr>
          <p:cNvSpPr>
            <a:spLocks noGrp="1"/>
          </p:cNvSpPr>
          <p:nvPr/>
        </p:nvSpPr>
        <p:spPr>
          <a:xfrm>
            <a:off x="868680" y="3383280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管理員手動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或每日排程</a:t>
            </a:r>
            <a:endParaRPr sz="140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7E07D1F4-56F3-4DC1-8514-D098450FC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017520"/>
            <a:ext cx="274320" cy="27432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E5235BA2-4DF4-47EA-A4A7-EDEEE4545169}"/>
              </a:ext>
            </a:extLst>
          </p:cNvPr>
          <p:cNvSpPr>
            <a:spLocks noGrp="1"/>
          </p:cNvSpPr>
          <p:nvPr/>
        </p:nvSpPr>
        <p:spPr>
          <a:xfrm>
            <a:off x="3529584" y="1783080"/>
            <a:ext cx="2331720" cy="274320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A5E936C-8D45-4659-AB91-BC037CED44F2}"/>
              </a:ext>
            </a:extLst>
          </p:cNvPr>
          <p:cNvSpPr>
            <a:spLocks noGrp="1"/>
          </p:cNvSpPr>
          <p:nvPr/>
        </p:nvSpPr>
        <p:spPr>
          <a:xfrm>
            <a:off x="4366260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D24F1D12-48F5-4CA3-B3FF-BD1E58BC1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2203704"/>
            <a:ext cx="365760" cy="36576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048570E2-B196-43D5-8C75-E1EE20B78371}"/>
              </a:ext>
            </a:extLst>
          </p:cNvPr>
          <p:cNvSpPr>
            <a:spLocks noGrp="1"/>
          </p:cNvSpPr>
          <p:nvPr/>
        </p:nvSpPr>
        <p:spPr>
          <a:xfrm>
            <a:off x="3666744" y="28803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爬取</a:t>
            </a:r>
            <a:endParaRPr sz="18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A670059-18CE-4BE9-8D06-FE786DC486EF}"/>
              </a:ext>
            </a:extLst>
          </p:cNvPr>
          <p:cNvSpPr>
            <a:spLocks noGrp="1"/>
          </p:cNvSpPr>
          <p:nvPr/>
        </p:nvSpPr>
        <p:spPr>
          <a:xfrm>
            <a:off x="3666744" y="3383280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PTT・Dcard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Mobile01・Threads</a:t>
            </a:r>
            <a:endParaRPr sz="1400"/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75BE6797-EC12-4239-800A-D7733C804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3017520"/>
            <a:ext cx="274320" cy="274320"/>
          </a:xfrm>
          <a:prstGeom prst="rect">
            <a:avLst/>
          </a:prstGeom>
        </p:spPr>
      </p:pic>
      <p:sp>
        <p:nvSpPr>
          <p:cNvPr id="18" name="Shape 12">
            <a:extLst>
              <a:ext uri="{FF2B5EF4-FFF2-40B4-BE49-F238E27FC236}">
                <a16:creationId xmlns:a16="http://schemas.microsoft.com/office/drawing/2014/main" id="{4E0C1B37-12D1-41D3-92C7-794D999AAEA4}"/>
              </a:ext>
            </a:extLst>
          </p:cNvPr>
          <p:cNvSpPr>
            <a:spLocks noGrp="1"/>
          </p:cNvSpPr>
          <p:nvPr/>
        </p:nvSpPr>
        <p:spPr>
          <a:xfrm>
            <a:off x="6327648" y="1783080"/>
            <a:ext cx="2331720" cy="274320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3AD08487-3D79-4B53-9591-167309300D60}"/>
              </a:ext>
            </a:extLst>
          </p:cNvPr>
          <p:cNvSpPr>
            <a:spLocks noGrp="1"/>
          </p:cNvSpPr>
          <p:nvPr/>
        </p:nvSpPr>
        <p:spPr>
          <a:xfrm>
            <a:off x="7164324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43CEFB47-56E5-4289-B01D-49BC5D5D67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28" y="2203704"/>
            <a:ext cx="365760" cy="36576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27DFC239-9632-4CCC-ABF7-53E0A972521E}"/>
              </a:ext>
            </a:extLst>
          </p:cNvPr>
          <p:cNvSpPr>
            <a:spLocks noGrp="1"/>
          </p:cNvSpPr>
          <p:nvPr/>
        </p:nvSpPr>
        <p:spPr>
          <a:xfrm>
            <a:off x="6464808" y="28803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自動收錄</a:t>
            </a:r>
            <a:endParaRPr sz="18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FE8EE5EF-0578-4288-AA18-774C17C16D3C}"/>
              </a:ext>
            </a:extLst>
          </p:cNvPr>
          <p:cNvSpPr>
            <a:spLocks noGrp="1"/>
          </p:cNvSpPr>
          <p:nvPr/>
        </p:nvSpPr>
        <p:spPr>
          <a:xfrm>
            <a:off x="6464808" y="3383280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領域詞命中計分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依平台與看板判斷</a:t>
            </a:r>
          </a:p>
        </p:txBody>
      </p:sp>
      <p:pic>
        <p:nvPicPr>
          <p:cNvPr id="23" name="Image 5">
            <a:extLst>
              <a:ext uri="{FF2B5EF4-FFF2-40B4-BE49-F238E27FC236}">
                <a16:creationId xmlns:a16="http://schemas.microsoft.com/office/drawing/2014/main" id="{93458B57-3A19-4D73-A910-5AF3F2258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3017520"/>
            <a:ext cx="274320" cy="274320"/>
          </a:xfrm>
          <a:prstGeom prst="rect">
            <a:avLst/>
          </a:prstGeom>
        </p:spPr>
      </p:pic>
      <p:sp>
        <p:nvSpPr>
          <p:cNvPr id="24" name="Shape 16">
            <a:extLst>
              <a:ext uri="{FF2B5EF4-FFF2-40B4-BE49-F238E27FC236}">
                <a16:creationId xmlns:a16="http://schemas.microsoft.com/office/drawing/2014/main" id="{DDF022F1-ACAA-452B-8962-3FF278052524}"/>
              </a:ext>
            </a:extLst>
          </p:cNvPr>
          <p:cNvSpPr>
            <a:spLocks noGrp="1"/>
          </p:cNvSpPr>
          <p:nvPr/>
        </p:nvSpPr>
        <p:spPr>
          <a:xfrm>
            <a:off x="9125712" y="1783080"/>
            <a:ext cx="2331720" cy="274320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7CF5314B-BDE4-465B-9892-CCC1B9C52219}"/>
              </a:ext>
            </a:extLst>
          </p:cNvPr>
          <p:cNvSpPr>
            <a:spLocks noGrp="1"/>
          </p:cNvSpPr>
          <p:nvPr/>
        </p:nvSpPr>
        <p:spPr>
          <a:xfrm>
            <a:off x="9962388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6">
            <a:extLst>
              <a:ext uri="{FF2B5EF4-FFF2-40B4-BE49-F238E27FC236}">
                <a16:creationId xmlns:a16="http://schemas.microsoft.com/office/drawing/2014/main" id="{502EF078-5A73-4C50-83AD-A338EC53C2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8692" y="2203704"/>
            <a:ext cx="365760" cy="365760"/>
          </a:xfrm>
          <a:prstGeom prst="rect">
            <a:avLst/>
          </a:prstGeom>
        </p:spPr>
      </p:pic>
      <p:sp>
        <p:nvSpPr>
          <p:cNvPr id="27" name="Text 18">
            <a:extLst>
              <a:ext uri="{FF2B5EF4-FFF2-40B4-BE49-F238E27FC236}">
                <a16:creationId xmlns:a16="http://schemas.microsoft.com/office/drawing/2014/main" id="{ABACF938-DDAC-4833-B479-AC194F7A5C69}"/>
              </a:ext>
            </a:extLst>
          </p:cNvPr>
          <p:cNvSpPr>
            <a:spLocks noGrp="1"/>
          </p:cNvSpPr>
          <p:nvPr/>
        </p:nvSpPr>
        <p:spPr>
          <a:xfrm>
            <a:off x="9262872" y="28803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入庫</a:t>
            </a:r>
            <a:endParaRPr sz="180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70073DD7-ABFC-47D4-AF5F-0F20A3F99921}"/>
              </a:ext>
            </a:extLst>
          </p:cNvPr>
          <p:cNvSpPr>
            <a:spLocks noGrp="1"/>
          </p:cNvSpPr>
          <p:nvPr/>
        </p:nvSpPr>
        <p:spPr>
          <a:xfrm>
            <a:off x="9262872" y="3383280"/>
            <a:ext cx="2057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18 張資料表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文章、留言、切段</a:t>
            </a:r>
            <a:endParaRPr sz="1400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0D1857AC-A072-4D6D-983A-057B03A76F87}"/>
              </a:ext>
            </a:extLst>
          </p:cNvPr>
          <p:cNvSpPr>
            <a:spLocks noGrp="1"/>
          </p:cNvSpPr>
          <p:nvPr/>
        </p:nvSpPr>
        <p:spPr>
          <a:xfrm>
            <a:off x="2377440" y="484632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1A457C06-BFAC-4639-BC68-95A477DB991D}"/>
              </a:ext>
            </a:extLst>
          </p:cNvPr>
          <p:cNvSpPr>
            <a:spLocks noGrp="1"/>
          </p:cNvSpPr>
          <p:nvPr/>
        </p:nvSpPr>
        <p:spPr>
          <a:xfrm>
            <a:off x="2377440" y="4846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WebSocket 即時回報爬取進度</a:t>
            </a:r>
            <a:endParaRPr sz="120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7F7E1441-4D8A-426D-864B-E3E011C063F6}"/>
              </a:ext>
            </a:extLst>
          </p:cNvPr>
          <p:cNvSpPr>
            <a:spLocks noGrp="1"/>
          </p:cNvSpPr>
          <p:nvPr/>
        </p:nvSpPr>
        <p:spPr>
          <a:xfrm>
            <a:off x="6336792" y="484632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65FF2298-BEE7-4B41-BB94-90D33EED2909}"/>
              </a:ext>
            </a:extLst>
          </p:cNvPr>
          <p:cNvSpPr>
            <a:spLocks noGrp="1"/>
          </p:cNvSpPr>
          <p:nvPr/>
        </p:nvSpPr>
        <p:spPr>
          <a:xfrm>
            <a:off x="6336792" y="4846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租約鎖：手動與排程不重複跑</a:t>
            </a:r>
            <a:endParaRPr sz="120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7425DDD9-6192-4E87-9376-4FB80BB5B1ED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7EE680D6-AFDF-4F56-9F2E-036E857C7255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相關性規則已自動化；不等同業配、真偽或醫療知識驗證，人工複核流程待建立。</a:t>
            </a:r>
            <a:endParaRPr sz="1400"/>
          </a:p>
        </p:txBody>
      </p:sp>
      <p:sp>
        <p:nvSpPr>
          <p:cNvPr id="36" name="10">
            <a:extLst>
              <a:ext uri="{FF2B5EF4-FFF2-40B4-BE49-F238E27FC236}">
                <a16:creationId xmlns:a16="http://schemas.microsoft.com/office/drawing/2014/main" id="{6C7CD6C5-8790-4F00-9A64-73A0743D7452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773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G：先找證據，再依問題整理答案">
            <a:extLst>
              <a:ext uri="{FF2B5EF4-FFF2-40B4-BE49-F238E27FC236}">
                <a16:creationId xmlns:a16="http://schemas.microsoft.com/office/drawing/2014/main" id="{B9A53406-8A5D-42E6-95B8-D77620C00ACF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RAG：先找證據，再依問題整理答案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47CCB0-E324-40E6-9857-9A7CA4EB5E28}"/>
              </a:ext>
            </a:extLst>
          </p:cNvPr>
          <p:cNvSpPr>
            <a:spLocks noGrp="1"/>
          </p:cNvSpPr>
          <p:nvPr/>
        </p:nvSpPr>
        <p:spPr>
          <a:xfrm>
            <a:off x="733425" y="2181225"/>
            <a:ext cx="2409825" cy="2228850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1｜解析問題">
            <a:extLst>
              <a:ext uri="{FF2B5EF4-FFF2-40B4-BE49-F238E27FC236}">
                <a16:creationId xmlns:a16="http://schemas.microsoft.com/office/drawing/2014/main" id="{A9A8F6FF-F78F-40D6-B591-F3964E8CAA19}"/>
              </a:ext>
            </a:extLst>
          </p:cNvPr>
          <p:cNvSpPr>
            <a:spLocks noGrp="1"/>
          </p:cNvSpPr>
          <p:nvPr/>
        </p:nvSpPr>
        <p:spPr>
          <a:xfrm>
            <a:off x="923925" y="2390775"/>
            <a:ext cx="20669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1｜解析問題</a:t>
            </a:r>
          </a:p>
        </p:txBody>
      </p:sp>
      <p:sp>
        <p:nvSpPr>
          <p:cNvPr id="5" name="關鍵字、平台、期間&#10;辨識問題類型">
            <a:extLst>
              <a:ext uri="{FF2B5EF4-FFF2-40B4-BE49-F238E27FC236}">
                <a16:creationId xmlns:a16="http://schemas.microsoft.com/office/drawing/2014/main" id="{BA7B32A6-2946-4558-A0F5-9F504D6FF831}"/>
              </a:ext>
            </a:extLst>
          </p:cNvPr>
          <p:cNvSpPr>
            <a:spLocks noGrp="1"/>
          </p:cNvSpPr>
          <p:nvPr/>
        </p:nvSpPr>
        <p:spPr>
          <a:xfrm>
            <a:off x="923925" y="3057525"/>
            <a:ext cx="20669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4243A"/>
                </a:solidFill>
              </a:defRPr>
            </a:defPPr>
          </a:lstStyle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關鍵字、平台、期間</a:t>
            </a:r>
          </a:p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辨識問題類型</a:t>
            </a:r>
          </a:p>
        </p:txBody>
      </p:sp>
      <p:sp>
        <p:nvSpPr>
          <p:cNvPr id="6" name="→">
            <a:extLst>
              <a:ext uri="{FF2B5EF4-FFF2-40B4-BE49-F238E27FC236}">
                <a16:creationId xmlns:a16="http://schemas.microsoft.com/office/drawing/2014/main" id="{09145811-D4EB-43FE-81FA-D0FBE75B0A11}"/>
              </a:ext>
            </a:extLst>
          </p:cNvPr>
          <p:cNvSpPr>
            <a:spLocks noGrp="1"/>
          </p:cNvSpPr>
          <p:nvPr/>
        </p:nvSpPr>
        <p:spPr>
          <a:xfrm>
            <a:off x="3200400" y="2981325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C85C00"/>
                </a:solidFill>
              </a:defRPr>
            </a:defPPr>
          </a:lstStyle>
          <a:p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F128E4-B351-4E52-823F-BADFB5B4E94C}"/>
              </a:ext>
            </a:extLst>
          </p:cNvPr>
          <p:cNvSpPr>
            <a:spLocks noGrp="1"/>
          </p:cNvSpPr>
          <p:nvPr/>
        </p:nvSpPr>
        <p:spPr>
          <a:xfrm>
            <a:off x="3505200" y="2181225"/>
            <a:ext cx="2409825" cy="2228850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2｜雙路檢索">
            <a:extLst>
              <a:ext uri="{FF2B5EF4-FFF2-40B4-BE49-F238E27FC236}">
                <a16:creationId xmlns:a16="http://schemas.microsoft.com/office/drawing/2014/main" id="{C43B28F5-73C2-499A-BFE2-0FA448C60748}"/>
              </a:ext>
            </a:extLst>
          </p:cNvPr>
          <p:cNvSpPr>
            <a:spLocks noGrp="1"/>
          </p:cNvSpPr>
          <p:nvPr/>
        </p:nvSpPr>
        <p:spPr>
          <a:xfrm>
            <a:off x="3695700" y="2390775"/>
            <a:ext cx="20669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2｜雙路檢索</a:t>
            </a:r>
          </a:p>
        </p:txBody>
      </p:sp>
      <p:sp>
        <p:nvSpPr>
          <p:cNvPr id="9" name="關鍵字命中文章&#10;向量搜尋相似切段">
            <a:extLst>
              <a:ext uri="{FF2B5EF4-FFF2-40B4-BE49-F238E27FC236}">
                <a16:creationId xmlns:a16="http://schemas.microsoft.com/office/drawing/2014/main" id="{245FB36B-CCAD-493D-856B-DFA03BF58185}"/>
              </a:ext>
            </a:extLst>
          </p:cNvPr>
          <p:cNvSpPr>
            <a:spLocks noGrp="1"/>
          </p:cNvSpPr>
          <p:nvPr/>
        </p:nvSpPr>
        <p:spPr>
          <a:xfrm>
            <a:off x="3695700" y="3057525"/>
            <a:ext cx="20669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4243A"/>
                </a:solidFill>
              </a:defRPr>
            </a:defPPr>
          </a:lstStyle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關鍵字命中文章</a:t>
            </a:r>
          </a:p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向量搜尋相似切段</a:t>
            </a:r>
          </a:p>
        </p:txBody>
      </p:sp>
      <p:sp>
        <p:nvSpPr>
          <p:cNvPr id="10" name="→">
            <a:extLst>
              <a:ext uri="{FF2B5EF4-FFF2-40B4-BE49-F238E27FC236}">
                <a16:creationId xmlns:a16="http://schemas.microsoft.com/office/drawing/2014/main" id="{C5FF2BD1-F159-45DB-96A7-57377604D9C7}"/>
              </a:ext>
            </a:extLst>
          </p:cNvPr>
          <p:cNvSpPr>
            <a:spLocks noGrp="1"/>
          </p:cNvSpPr>
          <p:nvPr/>
        </p:nvSpPr>
        <p:spPr>
          <a:xfrm>
            <a:off x="5972175" y="2981325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C85C00"/>
                </a:solidFill>
              </a:defRPr>
            </a:defPPr>
          </a:lstStyle>
          <a:p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6F99D2-85E1-4652-AA2C-32820DBC01E9}"/>
              </a:ext>
            </a:extLst>
          </p:cNvPr>
          <p:cNvSpPr>
            <a:spLocks noGrp="1"/>
          </p:cNvSpPr>
          <p:nvPr/>
        </p:nvSpPr>
        <p:spPr>
          <a:xfrm>
            <a:off x="6276975" y="2181225"/>
            <a:ext cx="2409825" cy="2228850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3｜融合證據">
            <a:extLst>
              <a:ext uri="{FF2B5EF4-FFF2-40B4-BE49-F238E27FC236}">
                <a16:creationId xmlns:a16="http://schemas.microsoft.com/office/drawing/2014/main" id="{37ECD397-79E6-4977-BDC2-7EA74FEB1B1F}"/>
              </a:ext>
            </a:extLst>
          </p:cNvPr>
          <p:cNvSpPr>
            <a:spLocks noGrp="1"/>
          </p:cNvSpPr>
          <p:nvPr/>
        </p:nvSpPr>
        <p:spPr>
          <a:xfrm>
            <a:off x="6467475" y="2390775"/>
            <a:ext cx="20669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3｜融合證據</a:t>
            </a:r>
          </a:p>
        </p:txBody>
      </p:sp>
      <p:sp>
        <p:nvSpPr>
          <p:cNvPr id="13" name="RRF 合併排序&#10;整理文章與留言">
            <a:extLst>
              <a:ext uri="{FF2B5EF4-FFF2-40B4-BE49-F238E27FC236}">
                <a16:creationId xmlns:a16="http://schemas.microsoft.com/office/drawing/2014/main" id="{9E31B891-4FEE-4EC5-9B80-4CC01DB7C055}"/>
              </a:ext>
            </a:extLst>
          </p:cNvPr>
          <p:cNvSpPr>
            <a:spLocks noGrp="1"/>
          </p:cNvSpPr>
          <p:nvPr/>
        </p:nvSpPr>
        <p:spPr>
          <a:xfrm>
            <a:off x="6467475" y="3057525"/>
            <a:ext cx="20669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4243A"/>
                </a:solidFill>
              </a:defRPr>
            </a:defPPr>
          </a:lstStyle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RRF 合併排序</a:t>
            </a:r>
          </a:p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整理文章與留言</a:t>
            </a:r>
          </a:p>
        </p:txBody>
      </p:sp>
      <p:sp>
        <p:nvSpPr>
          <p:cNvPr id="14" name="→">
            <a:extLst>
              <a:ext uri="{FF2B5EF4-FFF2-40B4-BE49-F238E27FC236}">
                <a16:creationId xmlns:a16="http://schemas.microsoft.com/office/drawing/2014/main" id="{CB0A0004-9FC8-44EF-8B0F-94560DF62417}"/>
              </a:ext>
            </a:extLst>
          </p:cNvPr>
          <p:cNvSpPr>
            <a:spLocks noGrp="1"/>
          </p:cNvSpPr>
          <p:nvPr/>
        </p:nvSpPr>
        <p:spPr>
          <a:xfrm>
            <a:off x="8743950" y="2981325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C85C00"/>
                </a:solidFill>
              </a:defRPr>
            </a:defPPr>
          </a:lstStyle>
          <a:p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1201A17-01D7-4F4E-A435-A67E2661633F}"/>
              </a:ext>
            </a:extLst>
          </p:cNvPr>
          <p:cNvSpPr>
            <a:spLocks noGrp="1"/>
          </p:cNvSpPr>
          <p:nvPr/>
        </p:nvSpPr>
        <p:spPr>
          <a:xfrm>
            <a:off x="9048750" y="2181225"/>
            <a:ext cx="2409825" cy="2228850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4｜生成與回查">
            <a:extLst>
              <a:ext uri="{FF2B5EF4-FFF2-40B4-BE49-F238E27FC236}">
                <a16:creationId xmlns:a16="http://schemas.microsoft.com/office/drawing/2014/main" id="{C7D3F989-65D1-4905-93A3-F69A91473BFF}"/>
              </a:ext>
            </a:extLst>
          </p:cNvPr>
          <p:cNvSpPr>
            <a:spLocks noGrp="1"/>
          </p:cNvSpPr>
          <p:nvPr/>
        </p:nvSpPr>
        <p:spPr>
          <a:xfrm>
            <a:off x="9239250" y="2390775"/>
            <a:ext cx="20669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4｜生成與回查</a:t>
            </a:r>
          </a:p>
        </p:txBody>
      </p:sp>
      <p:sp>
        <p:nvSpPr>
          <p:cNvPr id="17" name="Gemini 依證據回答&#10;顯示引用來源連結">
            <a:extLst>
              <a:ext uri="{FF2B5EF4-FFF2-40B4-BE49-F238E27FC236}">
                <a16:creationId xmlns:a16="http://schemas.microsoft.com/office/drawing/2014/main" id="{21568FEA-2740-46DF-8E7E-05C2DF83AC12}"/>
              </a:ext>
            </a:extLst>
          </p:cNvPr>
          <p:cNvSpPr>
            <a:spLocks noGrp="1"/>
          </p:cNvSpPr>
          <p:nvPr/>
        </p:nvSpPr>
        <p:spPr>
          <a:xfrm>
            <a:off x="9239250" y="3057525"/>
            <a:ext cx="20669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4243A"/>
                </a:solidFill>
              </a:defRPr>
            </a:defPPr>
          </a:lstStyle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Gemini 依證據回答</a:t>
            </a:r>
          </a:p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顯示引用來源連結</a:t>
            </a:r>
          </a:p>
        </p:txBody>
      </p:sp>
      <p:sp>
        <p:nvSpPr>
          <p:cNvPr id="18" name="初評：SQL 關鍵字比對">
            <a:extLst>
              <a:ext uri="{FF2B5EF4-FFF2-40B4-BE49-F238E27FC236}">
                <a16:creationId xmlns:a16="http://schemas.microsoft.com/office/drawing/2014/main" id="{21E1B770-BB3D-456D-9E37-B54EC6015D05}"/>
              </a:ext>
            </a:extLst>
          </p:cNvPr>
          <p:cNvSpPr>
            <a:spLocks noGrp="1"/>
          </p:cNvSpPr>
          <p:nvPr/>
        </p:nvSpPr>
        <p:spPr>
          <a:xfrm>
            <a:off x="733425" y="168592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465E78"/>
                </a:solidFill>
              </a:defRPr>
            </a:defPPr>
          </a:lstStyle>
          <a:p>
            <a:pPr>
              <a:buNone/>
              <a:defRPr sz="1800" b="0">
                <a:solidFill>
                  <a:srgbClr val="465E78"/>
                </a:solidFill>
              </a:defRPr>
            </a:pPr>
            <a:r>
              <a:rPr sz="1800" b="0">
                <a:solidFill>
                  <a:srgbClr val="465E78"/>
                </a:solidFill>
              </a:rPr>
              <a:t>初評：SQL 關鍵字比對</a:t>
            </a:r>
          </a:p>
        </p:txBody>
      </p:sp>
      <p:sp>
        <p:nvSpPr>
          <p:cNvPr id="19" name="現行：意圖解析＋混合檢索">
            <a:extLst>
              <a:ext uri="{FF2B5EF4-FFF2-40B4-BE49-F238E27FC236}">
                <a16:creationId xmlns:a16="http://schemas.microsoft.com/office/drawing/2014/main" id="{6AAC09A4-89E6-43CC-B944-F63DCA8CA139}"/>
              </a:ext>
            </a:extLst>
          </p:cNvPr>
          <p:cNvSpPr>
            <a:spLocks noGrp="1"/>
          </p:cNvSpPr>
          <p:nvPr/>
        </p:nvSpPr>
        <p:spPr>
          <a:xfrm>
            <a:off x="6343650" y="168592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800" b="1">
                <a:solidFill>
                  <a:srgbClr val="2073BE"/>
                </a:solidFill>
              </a:defRPr>
            </a:pPr>
            <a:r>
              <a:rPr sz="1800" b="1">
                <a:solidFill>
                  <a:srgbClr val="2073BE"/>
                </a:solidFill>
              </a:rPr>
              <a:t>現行：意圖解析＋混合檢索</a:t>
            </a:r>
          </a:p>
        </p:txBody>
      </p:sp>
      <p:sp>
        <p:nvSpPr>
          <p:cNvPr id="20" name="文章預處理：文章切段 → 建立向量 → 儲存 article">
            <a:extLst>
              <a:ext uri="{FF2B5EF4-FFF2-40B4-BE49-F238E27FC236}">
                <a16:creationId xmlns:a16="http://schemas.microsoft.com/office/drawing/2014/main" id="{CC43DE36-80D4-4D7C-8680-E179EF10D4B8}"/>
              </a:ext>
            </a:extLst>
          </p:cNvPr>
          <p:cNvSpPr>
            <a:spLocks noGrp="1"/>
          </p:cNvSpPr>
          <p:nvPr/>
        </p:nvSpPr>
        <p:spPr>
          <a:xfrm>
            <a:off x="733425" y="4829175"/>
            <a:ext cx="107251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465E78"/>
                </a:solidFill>
              </a:defRPr>
            </a:defPPr>
          </a:lstStyle>
          <a:p>
            <a:pPr>
              <a:buNone/>
              <a:defRPr sz="1800" b="0">
                <a:solidFill>
                  <a:srgbClr val="465E78"/>
                </a:solidFill>
              </a:defRPr>
            </a:pPr>
            <a:r>
              <a:rPr sz="1800" b="0">
                <a:solidFill>
                  <a:srgbClr val="465E78"/>
                </a:solidFill>
              </a:rPr>
              <a:t>文章預處理：文章切段 → 建立向量 → 儲存 article_chunks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A7B715-1567-4D18-979F-61EE189BE24C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向量無結果時回退關鍵字；引用可核對來源，但仍需驗證答案品質。">
            <a:extLst>
              <a:ext uri="{FF2B5EF4-FFF2-40B4-BE49-F238E27FC236}">
                <a16:creationId xmlns:a16="http://schemas.microsoft.com/office/drawing/2014/main" id="{41A3AE8C-22B4-4507-9429-9A536FD299D0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向量無結果時回退關鍵字；引用可核對來源，但仍需驗證答案品質。</a:t>
            </a:r>
          </a:p>
        </p:txBody>
      </p:sp>
      <p:sp>
        <p:nvSpPr>
          <p:cNvPr id="24" name="11">
            <a:extLst>
              <a:ext uri="{FF2B5EF4-FFF2-40B4-BE49-F238E27FC236}">
                <a16:creationId xmlns:a16="http://schemas.microsoft.com/office/drawing/2014/main" id="{CACC4743-E5A1-4826-B85C-32F0F333667F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8971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233F3C0-5A8E-4E34-8ECF-E33A23B42778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情緒驗證：區分模型一致性與重跑穩定性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CEA188-EA69-45AE-A12C-C3167970BBDB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C4B1AC-B8EB-4E5D-9805-9C092E69F94A}"/>
              </a:ext>
            </a:extLst>
          </p:cNvPr>
          <p:cNvSpPr>
            <a:spLocks noGrp="1"/>
          </p:cNvSpPr>
          <p:nvPr/>
        </p:nvSpPr>
        <p:spPr>
          <a:xfrm>
            <a:off x="822960" y="2057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82%</a:t>
            </a:r>
            <a:endParaRPr sz="3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7EE03E4-B401-4044-8DC0-F7AB6406743C}"/>
              </a:ext>
            </a:extLst>
          </p:cNvPr>
          <p:cNvSpPr>
            <a:spLocks noGrp="1"/>
          </p:cNvSpPr>
          <p:nvPr/>
        </p:nvSpPr>
        <p:spPr>
          <a:xfrm>
            <a:off x="822960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與另一模型盲標一致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F21E905-8B4E-4856-BA54-CF33C512AA2A}"/>
              </a:ext>
            </a:extLst>
          </p:cNvPr>
          <p:cNvSpPr>
            <a:spLocks noGrp="1"/>
          </p:cNvSpPr>
          <p:nvPr/>
        </p:nvSpPr>
        <p:spPr>
          <a:xfrm>
            <a:off x="868680" y="32918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100 篇分層抽樣，κ ≈ 0.73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6FE9418-C4CC-4F04-BE99-2259F43FD04C}"/>
              </a:ext>
            </a:extLst>
          </p:cNvPr>
          <p:cNvSpPr>
            <a:spLocks noGrp="1"/>
          </p:cNvSpPr>
          <p:nvPr/>
        </p:nvSpPr>
        <p:spPr>
          <a:xfrm>
            <a:off x="4379976" y="17830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330BEC-080B-46C0-BF9E-710871B6F4E6}"/>
              </a:ext>
            </a:extLst>
          </p:cNvPr>
          <p:cNvSpPr>
            <a:spLocks noGrp="1"/>
          </p:cNvSpPr>
          <p:nvPr/>
        </p:nvSpPr>
        <p:spPr>
          <a:xfrm>
            <a:off x="4471416" y="2057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12 → 0</a:t>
            </a:r>
            <a:endParaRPr sz="3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C05624-C73B-490A-99FD-E14AC7403256}"/>
              </a:ext>
            </a:extLst>
          </p:cNvPr>
          <p:cNvSpPr>
            <a:spLocks noGrp="1"/>
          </p:cNvSpPr>
          <p:nvPr/>
        </p:nvSpPr>
        <p:spPr>
          <a:xfrm>
            <a:off x="4471416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本批 100 篇標籤變動</a:t>
            </a:r>
            <a:endParaRPr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B3BE34B-8396-4F77-8F37-752D0C7AE89C}"/>
              </a:ext>
            </a:extLst>
          </p:cNvPr>
          <p:cNvSpPr>
            <a:spLocks noGrp="1"/>
          </p:cNvSpPr>
          <p:nvPr/>
        </p:nvSpPr>
        <p:spPr>
          <a:xfrm>
            <a:off x="4517136" y="32918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temperature 0.3 → 0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38C662-39CA-44E4-9046-5A77CF046FC4}"/>
              </a:ext>
            </a:extLst>
          </p:cNvPr>
          <p:cNvSpPr>
            <a:spLocks noGrp="1"/>
          </p:cNvSpPr>
          <p:nvPr/>
        </p:nvSpPr>
        <p:spPr>
          <a:xfrm>
            <a:off x="8028432" y="17830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C3B5637-06BD-4EA7-8079-48688A05A4F4}"/>
              </a:ext>
            </a:extLst>
          </p:cNvPr>
          <p:cNvSpPr>
            <a:spLocks noGrp="1"/>
          </p:cNvSpPr>
          <p:nvPr/>
        </p:nvSpPr>
        <p:spPr>
          <a:xfrm>
            <a:off x="8119872" y="2057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0.67</a:t>
            </a:r>
            <a:endParaRPr sz="3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0B1C888-5786-4E85-9B7F-75A54D456670}"/>
              </a:ext>
            </a:extLst>
          </p:cNvPr>
          <p:cNvSpPr>
            <a:spLocks noGrp="1"/>
          </p:cNvSpPr>
          <p:nvPr/>
        </p:nvSpPr>
        <p:spPr>
          <a:xfrm>
            <a:off x="8119872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負面 precision（AI 對照）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E2E9DD7-396D-458E-91C7-4A55315682C8}"/>
              </a:ext>
            </a:extLst>
          </p:cNvPr>
          <p:cNvSpPr>
            <a:spLocks noGrp="1"/>
          </p:cNvSpPr>
          <p:nvPr/>
        </p:nvSpPr>
        <p:spPr>
          <a:xfrm>
            <a:off x="8165592" y="32918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以另一模型標籤為參照，非人工準確度</a:t>
            </a:r>
            <a:endParaRPr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495A569-2A36-44A4-BA0D-4D48EB57F8D0}"/>
              </a:ext>
            </a:extLst>
          </p:cNvPr>
          <p:cNvSpPr>
            <a:spLocks noGrp="1"/>
          </p:cNvSpPr>
          <p:nvPr/>
        </p:nvSpPr>
        <p:spPr>
          <a:xfrm>
            <a:off x="731520" y="4069080"/>
            <a:ext cx="10725912" cy="1280160"/>
          </a:xfrm>
          <a:prstGeom prst="roundRect">
            <a:avLst>
              <a:gd name="adj" fmla="val 11429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7C0E2E-3F9B-4759-8BCF-5D07BDFCA355}"/>
              </a:ext>
            </a:extLst>
          </p:cNvPr>
          <p:cNvSpPr>
            <a:spLocks noGrp="1"/>
          </p:cNvSpPr>
          <p:nvPr/>
        </p:nvSpPr>
        <p:spPr>
          <a:xfrm>
            <a:off x="731520" y="420624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比較用分數 ＝ 50 ＋（正面% − 負面%）÷ 2</a:t>
            </a:r>
            <a:endParaRPr sz="2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DBF1759-9F6A-4EAD-AD43-1F8388C5C7EB}"/>
              </a:ext>
            </a:extLst>
          </p:cNvPr>
          <p:cNvSpPr>
            <a:spLocks noGrp="1"/>
          </p:cNvSpPr>
          <p:nvPr/>
        </p:nvSpPr>
        <p:spPr>
          <a:xfrm>
            <a:off x="731520" y="4754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例如正面 60%、負面 10% → 75 分；須在相同範圍及分母下比較。</a:t>
            </a:r>
            <a:endParaRPr sz="1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A5F12A4-CE1B-41B2-88F4-7C16AD0DBD96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6E680E5-C80B-4BC0-ADD1-10CDEAC2A86B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全庫 1.6 萬筆已改 temperature 0 重評；模型一致率不等於正確率，人工標註待補。</a:t>
            </a:r>
            <a:endParaRPr sz="1400"/>
          </a:p>
        </p:txBody>
      </p:sp>
      <p:sp>
        <p:nvSpPr>
          <p:cNvPr id="24" name="12">
            <a:extLst>
              <a:ext uri="{FF2B5EF4-FFF2-40B4-BE49-F238E27FC236}">
                <a16:creationId xmlns:a16="http://schemas.microsoft.com/office/drawing/2014/main" id="{6E8821F2-C3F9-4329-AF81-AFBBB376B28B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5046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1137F97-A0DA-4BE7-90F8-DC23A4E61D2F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系統完成度：核心已實作，驗收仍有缺口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DB0BBF-30F6-4DC6-95B8-C2DD0C30B1D3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361188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B9C0CF-009C-4D19-BE99-D82269797E36}"/>
              </a:ext>
            </a:extLst>
          </p:cNvPr>
          <p:cNvSpPr>
            <a:spLocks noGrp="1"/>
          </p:cNvSpPr>
          <p:nvPr/>
        </p:nvSpPr>
        <p:spPr>
          <a:xfrm>
            <a:off x="2116836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4AF8D58E-104C-4539-847D-587A1908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0" y="215798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6DECED8-F6E0-4C42-935A-88647A158078}"/>
              </a:ext>
            </a:extLst>
          </p:cNvPr>
          <p:cNvSpPr>
            <a:spLocks noGrp="1"/>
          </p:cNvSpPr>
          <p:nvPr/>
        </p:nvSpPr>
        <p:spPr>
          <a:xfrm>
            <a:off x="731520" y="274320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已實作的核心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0C65E00-C153-4A54-A212-A7176CF51F47}"/>
              </a:ext>
            </a:extLst>
          </p:cNvPr>
          <p:cNvSpPr>
            <a:spLocks noGrp="1"/>
          </p:cNvSpPr>
          <p:nvPr/>
        </p:nvSpPr>
        <p:spPr>
          <a:xfrm>
            <a:off x="914400" y="3291840"/>
            <a:ext cx="306324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四平台爬蟲與每日排程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儀表板、文章詳情、文字雲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AI 問答附來源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個人歷史、比較、Excel 匯出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帳號角色、方案額度、監測預警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Alembic 資料庫遷移</a:t>
            </a:r>
            <a:endParaRPr sz="1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8C928EB-5393-40E6-88E5-AB37A99A10F5}"/>
              </a:ext>
            </a:extLst>
          </p:cNvPr>
          <p:cNvSpPr>
            <a:spLocks noGrp="1"/>
          </p:cNvSpPr>
          <p:nvPr/>
        </p:nvSpPr>
        <p:spPr>
          <a:xfrm>
            <a:off x="4379976" y="1783080"/>
            <a:ext cx="3429000" cy="361188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905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93B97AE-7A1B-4A20-A702-8098EB94A735}"/>
              </a:ext>
            </a:extLst>
          </p:cNvPr>
          <p:cNvSpPr>
            <a:spLocks noGrp="1"/>
          </p:cNvSpPr>
          <p:nvPr/>
        </p:nvSpPr>
        <p:spPr>
          <a:xfrm>
            <a:off x="5765292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6228734B-0F17-4F5F-A60E-AC1D32E2D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157984"/>
            <a:ext cx="365760" cy="36576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418E5ED8-45D7-4578-A247-1BB53D2A01A9}"/>
              </a:ext>
            </a:extLst>
          </p:cNvPr>
          <p:cNvSpPr>
            <a:spLocks noGrp="1"/>
          </p:cNvSpPr>
          <p:nvPr/>
        </p:nvSpPr>
        <p:spPr>
          <a:xfrm>
            <a:off x="4379976" y="274320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待修正・待驗證</a:t>
            </a:r>
            <a:endParaRPr sz="18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1DA4A7D-B8D3-4F19-BE11-C888272E9C6D}"/>
              </a:ext>
            </a:extLst>
          </p:cNvPr>
          <p:cNvSpPr>
            <a:spLocks noGrp="1"/>
          </p:cNvSpPr>
          <p:nvPr/>
        </p:nvSpPr>
        <p:spPr>
          <a:xfrm>
            <a:off x="4562856" y="3291840"/>
            <a:ext cx="306324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Linux 建置與部署驗證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情緒準確度（人工標註）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檢索相關性（固定題組）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高負載與多使用者</a:t>
            </a:r>
            <a:endParaRPr sz="14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42AC430-86BA-48DE-986E-C676D28DF79B}"/>
              </a:ext>
            </a:extLst>
          </p:cNvPr>
          <p:cNvSpPr>
            <a:spLocks noGrp="1"/>
          </p:cNvSpPr>
          <p:nvPr/>
        </p:nvSpPr>
        <p:spPr>
          <a:xfrm>
            <a:off x="8028432" y="1783080"/>
            <a:ext cx="3429000" cy="3611880"/>
          </a:xfrm>
          <a:prstGeom prst="roundRect">
            <a:avLst>
              <a:gd name="adj" fmla="val 4267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EF4F65E-758A-4E09-8FD0-F3E96682420A}"/>
              </a:ext>
            </a:extLst>
          </p:cNvPr>
          <p:cNvSpPr>
            <a:spLocks noGrp="1"/>
          </p:cNvSpPr>
          <p:nvPr/>
        </p:nvSpPr>
        <p:spPr>
          <a:xfrm>
            <a:off x="9413748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5087F159-9941-4BFF-B53B-F14175154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052" y="2157984"/>
            <a:ext cx="365760" cy="365760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F5100BB6-0D7E-4E9A-AFF4-AD721DB22DCD}"/>
              </a:ext>
            </a:extLst>
          </p:cNvPr>
          <p:cNvSpPr>
            <a:spLocks noGrp="1"/>
          </p:cNvSpPr>
          <p:nvPr/>
        </p:nvSpPr>
        <p:spPr>
          <a:xfrm>
            <a:off x="8028432" y="274320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規劃中（不計入）</a:t>
            </a:r>
            <a:endParaRPr sz="18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D86EF59-CB22-4022-B197-EC040A3536BE}"/>
              </a:ext>
            </a:extLst>
          </p:cNvPr>
          <p:cNvSpPr>
            <a:spLocks noGrp="1"/>
          </p:cNvSpPr>
          <p:nvPr/>
        </p:nvSpPr>
        <p:spPr>
          <a:xfrm>
            <a:off x="8211312" y="3291840"/>
            <a:ext cx="306324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訂閱收款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業配辨識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知識萃取與專家驗證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一般消費者版本</a:t>
            </a:r>
            <a:endParaRPr sz="14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0E245E7-B93B-4453-8342-2C55280C8E78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A411FC2-DF37-4156-8DA8-61080FED3E02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依「已實作／待驗證／規劃」分列；未定義驗收分母，不宣稱完成百分比。</a:t>
            </a:r>
            <a:endParaRPr sz="1400"/>
          </a:p>
        </p:txBody>
      </p:sp>
      <p:sp>
        <p:nvSpPr>
          <p:cNvPr id="24" name="13">
            <a:extLst>
              <a:ext uri="{FF2B5EF4-FFF2-40B4-BE49-F238E27FC236}">
                <a16:creationId xmlns:a16="http://schemas.microsoft.com/office/drawing/2014/main" id="{BFD69344-8AE2-42D9-B1F5-611FD6B45060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5722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一條研究流程，對應六組可操作功能">
            <a:extLst>
              <a:ext uri="{FF2B5EF4-FFF2-40B4-BE49-F238E27FC236}">
                <a16:creationId xmlns:a16="http://schemas.microsoft.com/office/drawing/2014/main" id="{BE27C868-2AD2-4089-8BF8-60D6F295EC7D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功能完整性：一條研究流程，對應六組可操作功能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A1F4E0-905D-41F2-BD1B-FB7836BCADB3}"/>
              </a:ext>
            </a:extLst>
          </p:cNvPr>
          <p:cNvGraphicFramePr/>
          <p:nvPr/>
        </p:nvGraphicFramePr>
        <p:xfrm>
          <a:off x="733425" y="1771650"/>
          <a:ext cx="10725150" cy="377190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84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流程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使用者能完成的操作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輸出／驗收重點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設定範圍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關鍵字、平台、期間篩選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查詢條件與資料範圍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觀察討論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趨勢、情緒、主題、熱門文章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圖表與文章明細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追問與核對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AI 問答、展開來源、回原文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回答與引用清單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留存與比較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儲存分析歷史、比較兩次結果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歷史列表與差異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輸出成果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Excel 匯出、報告列印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可下載／可列印資料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持續監測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關鍵字監測、預警列表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只能操作自己的預警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D1D8A4-4F17-4D2A-8002-55C9ADD1B679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涵蓋搜尋 → 分析 → 問答 → 回查 → 留存 → 輸出；">
            <a:extLst>
              <a:ext uri="{FF2B5EF4-FFF2-40B4-BE49-F238E27FC236}">
                <a16:creationId xmlns:a16="http://schemas.microsoft.com/office/drawing/2014/main" id="{F3F2EEEA-0C9E-42FA-A4D3-4091B38E298C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涵蓋搜尋 → 分析 → 問答 → 回查 → 留存 → 輸出；品質與權限另列驗證。</a:t>
            </a:r>
          </a:p>
        </p:txBody>
      </p:sp>
      <p:sp>
        <p:nvSpPr>
          <p:cNvPr id="7" name="14">
            <a:extLst>
              <a:ext uri="{FF2B5EF4-FFF2-40B4-BE49-F238E27FC236}">
                <a16:creationId xmlns:a16="http://schemas.microsoft.com/office/drawing/2014/main" id="{9C267043-34B0-4751-9CE1-2E6AD157D815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877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：完成一次跨平台口碑研究">
            <a:extLst>
              <a:ext uri="{FF2B5EF4-FFF2-40B4-BE49-F238E27FC236}">
                <a16:creationId xmlns:a16="http://schemas.microsoft.com/office/drawing/2014/main" id="{972B6D80-BB92-4BA7-BCC1-8C2E2AAE2803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Demo：完成一次跨平台口碑研究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A6399-C70D-43BD-B052-11B64F9E9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4325" y="1771650"/>
            <a:ext cx="6032500" cy="3771900"/>
          </a:xfrm>
          <a:prstGeom prst="rect">
            <a:avLst/>
          </a:prstGeom>
        </p:spPr>
      </p:pic>
      <p:sp>
        <p:nvSpPr>
          <p:cNvPr id="4" name="01  範圍與趨勢">
            <a:extLst>
              <a:ext uri="{FF2B5EF4-FFF2-40B4-BE49-F238E27FC236}">
                <a16:creationId xmlns:a16="http://schemas.microsoft.com/office/drawing/2014/main" id="{C97588E4-F0F7-4492-819D-5189D8436895}"/>
              </a:ext>
            </a:extLst>
          </p:cNvPr>
          <p:cNvSpPr>
            <a:spLocks noGrp="1"/>
          </p:cNvSpPr>
          <p:nvPr/>
        </p:nvSpPr>
        <p:spPr>
          <a:xfrm>
            <a:off x="8772525" y="1914525"/>
            <a:ext cx="26860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01  範圍與趨勢</a:t>
            </a:r>
          </a:p>
        </p:txBody>
      </p:sp>
      <p:sp>
        <p:nvSpPr>
          <p:cNvPr id="5" name="選擇關鍵字、平台與期間&#10;核對趨勢及文章明細">
            <a:extLst>
              <a:ext uri="{FF2B5EF4-FFF2-40B4-BE49-F238E27FC236}">
                <a16:creationId xmlns:a16="http://schemas.microsoft.com/office/drawing/2014/main" id="{9A78CDC3-CED4-4044-92C1-FEACD928947A}"/>
              </a:ext>
            </a:extLst>
          </p:cNvPr>
          <p:cNvSpPr>
            <a:spLocks noGrp="1"/>
          </p:cNvSpPr>
          <p:nvPr/>
        </p:nvSpPr>
        <p:spPr>
          <a:xfrm>
            <a:off x="8772525" y="2381250"/>
            <a:ext cx="26860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4243A"/>
                </a:solidFill>
              </a:defRPr>
            </a:defPPr>
          </a:lstStyle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選擇關鍵字、平台與期間</a:t>
            </a:r>
          </a:p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核對趨勢及文章明細</a:t>
            </a:r>
          </a:p>
        </p:txBody>
      </p:sp>
      <p:sp>
        <p:nvSpPr>
          <p:cNvPr id="6" name="02  問答與回查">
            <a:extLst>
              <a:ext uri="{FF2B5EF4-FFF2-40B4-BE49-F238E27FC236}">
                <a16:creationId xmlns:a16="http://schemas.microsoft.com/office/drawing/2014/main" id="{83B7B1E0-BED3-4132-B003-B5BFA1A25BCC}"/>
              </a:ext>
            </a:extLst>
          </p:cNvPr>
          <p:cNvSpPr>
            <a:spLocks noGrp="1"/>
          </p:cNvSpPr>
          <p:nvPr/>
        </p:nvSpPr>
        <p:spPr>
          <a:xfrm>
            <a:off x="8772525" y="3257550"/>
            <a:ext cx="26860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02  問答與回查</a:t>
            </a:r>
          </a:p>
        </p:txBody>
      </p:sp>
      <p:sp>
        <p:nvSpPr>
          <p:cNvPr id="7" name="提出研究問題&#10;展開引用，返回原文">
            <a:extLst>
              <a:ext uri="{FF2B5EF4-FFF2-40B4-BE49-F238E27FC236}">
                <a16:creationId xmlns:a16="http://schemas.microsoft.com/office/drawing/2014/main" id="{BB4CA276-D84B-4107-B496-81E35364D962}"/>
              </a:ext>
            </a:extLst>
          </p:cNvPr>
          <p:cNvSpPr>
            <a:spLocks noGrp="1"/>
          </p:cNvSpPr>
          <p:nvPr/>
        </p:nvSpPr>
        <p:spPr>
          <a:xfrm>
            <a:off x="8772525" y="3724275"/>
            <a:ext cx="26860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4243A"/>
                </a:solidFill>
              </a:defRPr>
            </a:defPPr>
          </a:lstStyle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提出研究問題</a:t>
            </a:r>
          </a:p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展開引用，返回原文</a:t>
            </a:r>
          </a:p>
        </p:txBody>
      </p:sp>
      <p:sp>
        <p:nvSpPr>
          <p:cNvPr id="8" name="03  比較與匯出">
            <a:extLst>
              <a:ext uri="{FF2B5EF4-FFF2-40B4-BE49-F238E27FC236}">
                <a16:creationId xmlns:a16="http://schemas.microsoft.com/office/drawing/2014/main" id="{51972152-5DF2-4E83-B7CA-DE2DAFC56138}"/>
              </a:ext>
            </a:extLst>
          </p:cNvPr>
          <p:cNvSpPr>
            <a:spLocks noGrp="1"/>
          </p:cNvSpPr>
          <p:nvPr/>
        </p:nvSpPr>
        <p:spPr>
          <a:xfrm>
            <a:off x="8772525" y="4743450"/>
            <a:ext cx="26860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03  比較與匯出</a:t>
            </a:r>
          </a:p>
        </p:txBody>
      </p:sp>
      <p:sp>
        <p:nvSpPr>
          <p:cNvPr id="9" name="比較歷史，匯出 Excel">
            <a:extLst>
              <a:ext uri="{FF2B5EF4-FFF2-40B4-BE49-F238E27FC236}">
                <a16:creationId xmlns:a16="http://schemas.microsoft.com/office/drawing/2014/main" id="{015E1E5A-6369-4DFA-87A2-D0F21F35F7FD}"/>
              </a:ext>
            </a:extLst>
          </p:cNvPr>
          <p:cNvSpPr>
            <a:spLocks noGrp="1"/>
          </p:cNvSpPr>
          <p:nvPr/>
        </p:nvSpPr>
        <p:spPr>
          <a:xfrm>
            <a:off x="8772525" y="5238750"/>
            <a:ext cx="26860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4243A"/>
                </a:solidFill>
              </a:defRPr>
            </a:defPPr>
          </a:lstStyle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比較歷史，匯出 Excel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8DC994-AF3A-4CCE-AE30-84C0746AAD29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示範重點：相同查詢條件、可回查的來源、可留存的結果。">
            <a:extLst>
              <a:ext uri="{FF2B5EF4-FFF2-40B4-BE49-F238E27FC236}">
                <a16:creationId xmlns:a16="http://schemas.microsoft.com/office/drawing/2014/main" id="{507120D7-1814-4148-9CE6-178D939AF9BA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示範重點：相同查詢條件、可回查的來源、可留存的結果。</a:t>
            </a:r>
          </a:p>
        </p:txBody>
      </p:sp>
      <p:sp>
        <p:nvSpPr>
          <p:cNvPr id="13" name="15">
            <a:extLst>
              <a:ext uri="{FF2B5EF4-FFF2-40B4-BE49-F238E27FC236}">
                <a16:creationId xmlns:a16="http://schemas.microsoft.com/office/drawing/2014/main" id="{0EA590A7-008B-4E74-A0EE-42FF4FC608F8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0164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119F8EF-F5DF-40AA-9A65-9DD5DD1FD6A7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一年兩學期：用實際月份管進度</a:t>
            </a:r>
            <a:endParaRPr sz="3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0CE05C-0D67-44F9-A324-DEE1C279251A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115/2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172688-1603-49F3-9037-34F87F86AA52}"/>
              </a:ext>
            </a:extLst>
          </p:cNvPr>
          <p:cNvSpPr>
            <a:spLocks noGrp="1"/>
          </p:cNvSpPr>
          <p:nvPr/>
        </p:nvSpPr>
        <p:spPr>
          <a:xfrm>
            <a:off x="1625346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3月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F420BD-015E-4EC4-9A61-03E00ECF3F6C}"/>
              </a:ext>
            </a:extLst>
          </p:cNvPr>
          <p:cNvSpPr>
            <a:spLocks noGrp="1"/>
          </p:cNvSpPr>
          <p:nvPr/>
        </p:nvSpPr>
        <p:spPr>
          <a:xfrm>
            <a:off x="2519172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4月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F6480C-F537-4BEB-B40F-F6EF40BB37B7}"/>
              </a:ext>
            </a:extLst>
          </p:cNvPr>
          <p:cNvSpPr>
            <a:spLocks noGrp="1"/>
          </p:cNvSpPr>
          <p:nvPr/>
        </p:nvSpPr>
        <p:spPr>
          <a:xfrm>
            <a:off x="3412998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5月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F17DD7-21C0-4EEB-9208-13438D2AF201}"/>
              </a:ext>
            </a:extLst>
          </p:cNvPr>
          <p:cNvSpPr>
            <a:spLocks noGrp="1"/>
          </p:cNvSpPr>
          <p:nvPr/>
        </p:nvSpPr>
        <p:spPr>
          <a:xfrm>
            <a:off x="4306824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6月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D1FBEE-868C-45F1-879C-75AAFC53DC58}"/>
              </a:ext>
            </a:extLst>
          </p:cNvPr>
          <p:cNvSpPr>
            <a:spLocks noGrp="1"/>
          </p:cNvSpPr>
          <p:nvPr/>
        </p:nvSpPr>
        <p:spPr>
          <a:xfrm>
            <a:off x="5200650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7月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F6BD7C-6AF6-411A-B983-A925B6CBC87D}"/>
              </a:ext>
            </a:extLst>
          </p:cNvPr>
          <p:cNvSpPr>
            <a:spLocks noGrp="1"/>
          </p:cNvSpPr>
          <p:nvPr/>
        </p:nvSpPr>
        <p:spPr>
          <a:xfrm>
            <a:off x="6094476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8月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1B3BC42-EBF2-463E-BDC3-DF66A67666CB}"/>
              </a:ext>
            </a:extLst>
          </p:cNvPr>
          <p:cNvSpPr>
            <a:spLocks noGrp="1"/>
          </p:cNvSpPr>
          <p:nvPr/>
        </p:nvSpPr>
        <p:spPr>
          <a:xfrm>
            <a:off x="6988302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9月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173730A-AD3F-4629-8749-02C465222A2F}"/>
              </a:ext>
            </a:extLst>
          </p:cNvPr>
          <p:cNvSpPr>
            <a:spLocks noGrp="1"/>
          </p:cNvSpPr>
          <p:nvPr/>
        </p:nvSpPr>
        <p:spPr>
          <a:xfrm>
            <a:off x="7882128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10月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3727586-7BC0-4AA2-B812-CF674A06E8CD}"/>
              </a:ext>
            </a:extLst>
          </p:cNvPr>
          <p:cNvSpPr>
            <a:spLocks noGrp="1"/>
          </p:cNvSpPr>
          <p:nvPr/>
        </p:nvSpPr>
        <p:spPr>
          <a:xfrm>
            <a:off x="8775954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11月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EB3137D-C277-4BFF-AAFF-55F9FFCCA81D}"/>
              </a:ext>
            </a:extLst>
          </p:cNvPr>
          <p:cNvSpPr>
            <a:spLocks noGrp="1"/>
          </p:cNvSpPr>
          <p:nvPr/>
        </p:nvSpPr>
        <p:spPr>
          <a:xfrm>
            <a:off x="9669780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12月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6C11BB-135C-4DD4-B084-C935FAAD0E07}"/>
              </a:ext>
            </a:extLst>
          </p:cNvPr>
          <p:cNvSpPr>
            <a:spLocks noGrp="1"/>
          </p:cNvSpPr>
          <p:nvPr/>
        </p:nvSpPr>
        <p:spPr>
          <a:xfrm>
            <a:off x="10563606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116/1</a:t>
            </a:r>
            <a:endParaRPr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CA6B60B-938D-4823-BCC2-411DD7C22F02}"/>
              </a:ext>
            </a:extLst>
          </p:cNvPr>
          <p:cNvSpPr>
            <a:spLocks noGrp="1"/>
          </p:cNvSpPr>
          <p:nvPr/>
        </p:nvSpPr>
        <p:spPr>
          <a:xfrm>
            <a:off x="758952" y="2112264"/>
            <a:ext cx="1285875" cy="384048"/>
          </a:xfrm>
          <a:prstGeom prst="roundRect">
            <a:avLst>
              <a:gd name="adj" fmla="val 23810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6670DA9-0465-461E-AA7C-02D55AB305EA}"/>
              </a:ext>
            </a:extLst>
          </p:cNvPr>
          <p:cNvSpPr>
            <a:spLocks noGrp="1"/>
          </p:cNvSpPr>
          <p:nvPr/>
        </p:nvSpPr>
        <p:spPr>
          <a:xfrm>
            <a:off x="731520" y="2112264"/>
            <a:ext cx="1340739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起始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67B7FF5-F52F-4975-B88F-F9F8D17EA6DF}"/>
              </a:ext>
            </a:extLst>
          </p:cNvPr>
          <p:cNvSpPr>
            <a:spLocks noGrp="1"/>
          </p:cNvSpPr>
          <p:nvPr/>
        </p:nvSpPr>
        <p:spPr>
          <a:xfrm>
            <a:off x="2099691" y="2112264"/>
            <a:ext cx="1554023" cy="384048"/>
          </a:xfrm>
          <a:prstGeom prst="roundRect">
            <a:avLst>
              <a:gd name="adj" fmla="val 23810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CCDDD2A-5E57-4149-A269-2104A0A45C51}"/>
              </a:ext>
            </a:extLst>
          </p:cNvPr>
          <p:cNvSpPr>
            <a:spLocks noGrp="1"/>
          </p:cNvSpPr>
          <p:nvPr/>
        </p:nvSpPr>
        <p:spPr>
          <a:xfrm>
            <a:off x="2072259" y="2112264"/>
            <a:ext cx="1608887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精化</a:t>
            </a:r>
            <a:endParaRPr sz="12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0ACEE37-122A-4799-BB96-380889122AEF}"/>
              </a:ext>
            </a:extLst>
          </p:cNvPr>
          <p:cNvSpPr>
            <a:spLocks noGrp="1"/>
          </p:cNvSpPr>
          <p:nvPr/>
        </p:nvSpPr>
        <p:spPr>
          <a:xfrm>
            <a:off x="3708578" y="2112264"/>
            <a:ext cx="4414266" cy="384048"/>
          </a:xfrm>
          <a:prstGeom prst="roundRect">
            <a:avLst>
              <a:gd name="adj" fmla="val 2381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6149992-F0B7-4DEC-97E1-9E72FAC929B6}"/>
              </a:ext>
            </a:extLst>
          </p:cNvPr>
          <p:cNvSpPr>
            <a:spLocks noGrp="1"/>
          </p:cNvSpPr>
          <p:nvPr/>
        </p:nvSpPr>
        <p:spPr>
          <a:xfrm>
            <a:off x="3681146" y="2112264"/>
            <a:ext cx="446913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建構</a:t>
            </a:r>
            <a:endParaRPr sz="1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E2DD23C-1F13-4B52-A47E-C4E8B7CD69D4}"/>
              </a:ext>
            </a:extLst>
          </p:cNvPr>
          <p:cNvSpPr>
            <a:spLocks noGrp="1"/>
          </p:cNvSpPr>
          <p:nvPr/>
        </p:nvSpPr>
        <p:spPr>
          <a:xfrm>
            <a:off x="8177708" y="2112264"/>
            <a:ext cx="3252292" cy="384048"/>
          </a:xfrm>
          <a:prstGeom prst="roundRect">
            <a:avLst>
              <a:gd name="adj" fmla="val 23810"/>
            </a:avLst>
          </a:prstGeom>
          <a:solidFill>
            <a:srgbClr val="FDEEDF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AAA81B3-D9E4-41F5-A3B7-43021EAC0547}"/>
              </a:ext>
            </a:extLst>
          </p:cNvPr>
          <p:cNvSpPr>
            <a:spLocks noGrp="1"/>
          </p:cNvSpPr>
          <p:nvPr/>
        </p:nvSpPr>
        <p:spPr>
          <a:xfrm>
            <a:off x="8150276" y="2112264"/>
            <a:ext cx="330715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移轉（進行中）</a:t>
            </a:r>
            <a:endParaRPr sz="12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C78BB86-82BA-44D9-99B4-72053C76AD3E}"/>
              </a:ext>
            </a:extLst>
          </p:cNvPr>
          <p:cNvSpPr>
            <a:spLocks noGrp="1"/>
          </p:cNvSpPr>
          <p:nvPr/>
        </p:nvSpPr>
        <p:spPr>
          <a:xfrm>
            <a:off x="4251343" y="2587752"/>
            <a:ext cx="164592" cy="164592"/>
          </a:xfrm>
          <a:prstGeom prst="ellipse">
            <a:avLst/>
          </a:prstGeom>
          <a:solidFill>
            <a:srgbClr val="D46A12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831BA3F-DA7A-4203-9754-4624537A0E50}"/>
              </a:ext>
            </a:extLst>
          </p:cNvPr>
          <p:cNvSpPr>
            <a:spLocks noGrp="1"/>
          </p:cNvSpPr>
          <p:nvPr/>
        </p:nvSpPr>
        <p:spPr>
          <a:xfrm>
            <a:off x="3784999" y="2788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6/2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初審</a:t>
            </a:r>
            <a:endParaRPr sz="12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A486A40-9025-445C-BF06-E4A57A548291}"/>
              </a:ext>
            </a:extLst>
          </p:cNvPr>
          <p:cNvSpPr>
            <a:spLocks noGrp="1"/>
          </p:cNvSpPr>
          <p:nvPr/>
        </p:nvSpPr>
        <p:spPr>
          <a:xfrm>
            <a:off x="8157362" y="2587752"/>
            <a:ext cx="164592" cy="164592"/>
          </a:xfrm>
          <a:prstGeom prst="ellipse">
            <a:avLst/>
          </a:prstGeom>
          <a:solidFill>
            <a:srgbClr val="D46A12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906C453-B41D-4EDF-8F56-CF584557532A}"/>
              </a:ext>
            </a:extLst>
          </p:cNvPr>
          <p:cNvSpPr>
            <a:spLocks noGrp="1"/>
          </p:cNvSpPr>
          <p:nvPr/>
        </p:nvSpPr>
        <p:spPr>
          <a:xfrm>
            <a:off x="7691018" y="2788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10/13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複審繳件</a:t>
            </a:r>
            <a:endParaRPr sz="12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3C9906E-D32A-4BA9-A3B4-BEC3936871CA}"/>
              </a:ext>
            </a:extLst>
          </p:cNvPr>
          <p:cNvSpPr>
            <a:spLocks noGrp="1"/>
          </p:cNvSpPr>
          <p:nvPr/>
        </p:nvSpPr>
        <p:spPr>
          <a:xfrm>
            <a:off x="9408719" y="2587752"/>
            <a:ext cx="164592" cy="164592"/>
          </a:xfrm>
          <a:prstGeom prst="ellipse">
            <a:avLst/>
          </a:prstGeom>
          <a:solidFill>
            <a:srgbClr val="D46A12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BC57DE1-F6A8-4D40-9146-3FD4D0BBF4D2}"/>
              </a:ext>
            </a:extLst>
          </p:cNvPr>
          <p:cNvSpPr>
            <a:spLocks noGrp="1"/>
          </p:cNvSpPr>
          <p:nvPr/>
        </p:nvSpPr>
        <p:spPr>
          <a:xfrm>
            <a:off x="8942375" y="2788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11/25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觀摩展</a:t>
            </a:r>
            <a:endParaRPr sz="12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72DB685-AB9D-4363-B773-0D7CF409303D}"/>
              </a:ext>
            </a:extLst>
          </p:cNvPr>
          <p:cNvSpPr>
            <a:spLocks noGrp="1"/>
          </p:cNvSpPr>
          <p:nvPr/>
        </p:nvSpPr>
        <p:spPr>
          <a:xfrm>
            <a:off x="10436619" y="2587752"/>
            <a:ext cx="164592" cy="164592"/>
          </a:xfrm>
          <a:prstGeom prst="ellipse">
            <a:avLst/>
          </a:prstGeom>
          <a:solidFill>
            <a:srgbClr val="D46A12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74F7715-C5AD-4AD8-8777-D6C4C57D0D26}"/>
              </a:ext>
            </a:extLst>
          </p:cNvPr>
          <p:cNvSpPr>
            <a:spLocks noGrp="1"/>
          </p:cNvSpPr>
          <p:nvPr/>
        </p:nvSpPr>
        <p:spPr>
          <a:xfrm>
            <a:off x="9970275" y="2788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12/29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最終版</a:t>
            </a:r>
            <a:endParaRPr sz="12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B0BBB13-89B7-45AB-951A-48BEFA7E1D73}"/>
              </a:ext>
            </a:extLst>
          </p:cNvPr>
          <p:cNvSpPr>
            <a:spLocks noGrp="1"/>
          </p:cNvSpPr>
          <p:nvPr/>
        </p:nvSpPr>
        <p:spPr>
          <a:xfrm>
            <a:off x="731520" y="3383280"/>
            <a:ext cx="603504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643EAF1-6475-49A7-A48F-A432EAFE8A42}"/>
              </a:ext>
            </a:extLst>
          </p:cNvPr>
          <p:cNvSpPr>
            <a:spLocks noGrp="1"/>
          </p:cNvSpPr>
          <p:nvPr/>
        </p:nvSpPr>
        <p:spPr>
          <a:xfrm>
            <a:off x="6949440" y="3383280"/>
            <a:ext cx="4507992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602A8C67-D741-49E1-9E36-B97E8D78CC35}"/>
              </a:ext>
            </a:extLst>
          </p:cNvPr>
          <p:cNvSpPr>
            <a:spLocks noGrp="1"/>
          </p:cNvSpPr>
          <p:nvPr/>
        </p:nvSpPr>
        <p:spPr>
          <a:xfrm>
            <a:off x="7178040" y="35661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E730E12-F1AC-47E1-A3A6-3FD8BBC6024B}"/>
              </a:ext>
            </a:extLst>
          </p:cNvPr>
          <p:cNvSpPr>
            <a:spLocks noGrp="1"/>
          </p:cNvSpPr>
          <p:nvPr/>
        </p:nvSpPr>
        <p:spPr>
          <a:xfrm>
            <a:off x="7178040" y="356616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5 月</a:t>
            </a:r>
            <a:endParaRPr sz="12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B239023-9E52-4116-B7F8-29BE94324F1A}"/>
              </a:ext>
            </a:extLst>
          </p:cNvPr>
          <p:cNvSpPr>
            <a:spLocks noGrp="1"/>
          </p:cNvSpPr>
          <p:nvPr/>
        </p:nvSpPr>
        <p:spPr>
          <a:xfrm>
            <a:off x="8183880" y="3547872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PTT 爬蟲、儀表板、WebSocket</a:t>
            </a:r>
            <a:endParaRPr sz="140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F2A69462-030D-4208-B9BA-475C0E9522EF}"/>
              </a:ext>
            </a:extLst>
          </p:cNvPr>
          <p:cNvSpPr>
            <a:spLocks noGrp="1"/>
          </p:cNvSpPr>
          <p:nvPr/>
        </p:nvSpPr>
        <p:spPr>
          <a:xfrm>
            <a:off x="7178040" y="395020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093B1419-DF2B-4FAA-B2BD-EE6941737F2F}"/>
              </a:ext>
            </a:extLst>
          </p:cNvPr>
          <p:cNvSpPr>
            <a:spLocks noGrp="1"/>
          </p:cNvSpPr>
          <p:nvPr/>
        </p:nvSpPr>
        <p:spPr>
          <a:xfrm>
            <a:off x="7178040" y="395020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7 月</a:t>
            </a:r>
            <a:endParaRPr sz="12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17B9FB28-D2A6-4787-9847-0600FCA08631}"/>
              </a:ext>
            </a:extLst>
          </p:cNvPr>
          <p:cNvSpPr>
            <a:spLocks noGrp="1"/>
          </p:cNvSpPr>
          <p:nvPr/>
        </p:nvSpPr>
        <p:spPr>
          <a:xfrm>
            <a:off x="8183880" y="3931920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帳號登入與角色權限</a:t>
            </a:r>
            <a:endParaRPr sz="140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D8FE1E07-1E40-4B32-BCD9-A4934E543B9B}"/>
              </a:ext>
            </a:extLst>
          </p:cNvPr>
          <p:cNvSpPr>
            <a:spLocks noGrp="1"/>
          </p:cNvSpPr>
          <p:nvPr/>
        </p:nvSpPr>
        <p:spPr>
          <a:xfrm>
            <a:off x="7178040" y="433425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21099281-C000-4EAE-B247-E0855EE8E5E0}"/>
              </a:ext>
            </a:extLst>
          </p:cNvPr>
          <p:cNvSpPr>
            <a:spLocks noGrp="1"/>
          </p:cNvSpPr>
          <p:nvPr/>
        </p:nvSpPr>
        <p:spPr>
          <a:xfrm>
            <a:off x="7178040" y="4334256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8 月</a:t>
            </a:r>
            <a:endParaRPr sz="12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43D7E73D-6558-4FCB-B74E-F9BEF1F3EBA1}"/>
              </a:ext>
            </a:extLst>
          </p:cNvPr>
          <p:cNvSpPr>
            <a:spLocks noGrp="1"/>
          </p:cNvSpPr>
          <p:nvPr/>
        </p:nvSpPr>
        <p:spPr>
          <a:xfrm>
            <a:off x="8183880" y="4315968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Dcard、Mobile01、Threads</a:t>
            </a:r>
            <a:endParaRPr sz="140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551EF12F-89F5-42E4-95D5-1BACD5D2F554}"/>
              </a:ext>
            </a:extLst>
          </p:cNvPr>
          <p:cNvSpPr>
            <a:spLocks noGrp="1"/>
          </p:cNvSpPr>
          <p:nvPr/>
        </p:nvSpPr>
        <p:spPr>
          <a:xfrm>
            <a:off x="7178040" y="471830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64826EBD-EDD1-4A9F-9D99-14C6FCA0D24D}"/>
              </a:ext>
            </a:extLst>
          </p:cNvPr>
          <p:cNvSpPr>
            <a:spLocks noGrp="1"/>
          </p:cNvSpPr>
          <p:nvPr/>
        </p:nvSpPr>
        <p:spPr>
          <a:xfrm>
            <a:off x="7178040" y="4718304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9 月</a:t>
            </a:r>
            <a:endParaRPr sz="12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97A4B502-DDBF-4AE9-B88B-968686120D18}"/>
              </a:ext>
            </a:extLst>
          </p:cNvPr>
          <p:cNvSpPr>
            <a:spLocks noGrp="1"/>
          </p:cNvSpPr>
          <p:nvPr/>
        </p:nvSpPr>
        <p:spPr>
          <a:xfrm>
            <a:off x="8183880" y="4700016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方案額度、Alembic、向量檢索</a:t>
            </a:r>
            <a:endParaRPr sz="1400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013B4DC3-643A-4B1A-81C6-E3AE9F643328}"/>
              </a:ext>
            </a:extLst>
          </p:cNvPr>
          <p:cNvSpPr>
            <a:spLocks noGrp="1"/>
          </p:cNvSpPr>
          <p:nvPr/>
        </p:nvSpPr>
        <p:spPr>
          <a:xfrm>
            <a:off x="7178040" y="510235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68A1ADBC-DD35-4C29-A297-584A957348AE}"/>
              </a:ext>
            </a:extLst>
          </p:cNvPr>
          <p:cNvSpPr>
            <a:spLocks noGrp="1"/>
          </p:cNvSpPr>
          <p:nvPr/>
        </p:nvSpPr>
        <p:spPr>
          <a:xfrm>
            <a:off x="7178040" y="510235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10 月</a:t>
            </a:r>
            <a:endParaRPr sz="120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74CBCE47-65E0-4426-AD10-3048A47036DC}"/>
              </a:ext>
            </a:extLst>
          </p:cNvPr>
          <p:cNvSpPr>
            <a:spLocks noGrp="1"/>
          </p:cNvSpPr>
          <p:nvPr/>
        </p:nvSpPr>
        <p:spPr>
          <a:xfrm>
            <a:off x="8183880" y="5084064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情緒一致性、預警與問答修正</a:t>
            </a:r>
            <a:endParaRPr sz="1400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1BC04AE9-A050-40E6-AA53-5E1A8A207C35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15366697-B447-49EA-A244-2C2D721D24F5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GitHub：7–10 月 152 次提交（10/12 統計，皆已推送）；非逐人貢獻比例。</a:t>
            </a:r>
            <a:endParaRPr sz="1400"/>
          </a:p>
        </p:txBody>
      </p:sp>
      <p:sp>
        <p:nvSpPr>
          <p:cNvPr id="55" name="17">
            <a:extLst>
              <a:ext uri="{FF2B5EF4-FFF2-40B4-BE49-F238E27FC236}">
                <a16:creationId xmlns:a16="http://schemas.microsoft.com/office/drawing/2014/main" id="{A13AD611-5595-4DFB-8BD9-6296EE5DAC21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16</a:t>
            </a:r>
          </a:p>
        </p:txBody>
      </p:sp>
      <p:graphicFrame>
        <p:nvGraphicFramePr>
          <p:cNvPr id="56" name="Chart">
            <a:extLst>
              <a:ext uri="{FF2B5EF4-FFF2-40B4-BE49-F238E27FC236}">
                <a16:creationId xmlns:a16="http://schemas.microsoft.com/office/drawing/2014/main" id="{1010574F-0FDF-4032-8F0A-AF35C50413F4}"/>
              </a:ext>
            </a:extLst>
          </p:cNvPr>
          <p:cNvGraphicFramePr/>
          <p:nvPr/>
        </p:nvGraphicFramePr>
        <p:xfrm>
          <a:off x="914400" y="3474720"/>
          <a:ext cx="566928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44958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9B8CFF4-E02B-4252-8BD1-762D52CB9695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兩人分工：一人顧需求與營運，一人顧系統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E681A0-5409-45C5-8409-963228D47AED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5257800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76B4F59-4499-4213-A914-8E3D6E72C9BE}"/>
              </a:ext>
            </a:extLst>
          </p:cNvPr>
          <p:cNvSpPr>
            <a:spLocks noGrp="1"/>
          </p:cNvSpPr>
          <p:nvPr/>
        </p:nvSpPr>
        <p:spPr>
          <a:xfrm>
            <a:off x="3031236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EDD4EF95-F430-4C5B-813C-59626F21D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540" y="215798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AB05FFBB-F3A1-4E2E-A848-8A9E15C43F8E}"/>
              </a:ext>
            </a:extLst>
          </p:cNvPr>
          <p:cNvSpPr>
            <a:spLocks noGrp="1"/>
          </p:cNvSpPr>
          <p:nvPr/>
        </p:nvSpPr>
        <p:spPr>
          <a:xfrm>
            <a:off x="731520" y="2743200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陳威帆</a:t>
            </a:r>
            <a:endParaRPr sz="2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F192125-9823-46B2-B755-8AA0B6280394}"/>
              </a:ext>
            </a:extLst>
          </p:cNvPr>
          <p:cNvSpPr>
            <a:spLocks noGrp="1"/>
          </p:cNvSpPr>
          <p:nvPr/>
        </p:nvSpPr>
        <p:spPr>
          <a:xfrm>
            <a:off x="731520" y="3154680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組長 · 11246044</a:t>
            </a:r>
            <a:endParaRPr sz="12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3A718B3-CAC3-4AD1-A310-D4FA4F81AD4F}"/>
              </a:ext>
            </a:extLst>
          </p:cNvPr>
          <p:cNvSpPr>
            <a:spLocks noGrp="1"/>
          </p:cNvSpPr>
          <p:nvPr/>
        </p:nvSpPr>
        <p:spPr>
          <a:xfrm>
            <a:off x="1005840" y="3611880"/>
            <a:ext cx="470916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需求企劃與雜誌社交流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營運計畫：成本、STP、TOWS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系統手冊統整、第 1–6 章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簡報與報告</a:t>
            </a:r>
            <a:endParaRPr sz="1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C4B1D09-965F-4278-BB96-05EDC6292D4E}"/>
              </a:ext>
            </a:extLst>
          </p:cNvPr>
          <p:cNvSpPr>
            <a:spLocks noGrp="1"/>
          </p:cNvSpPr>
          <p:nvPr/>
        </p:nvSpPr>
        <p:spPr>
          <a:xfrm>
            <a:off x="6199632" y="1783080"/>
            <a:ext cx="5257800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A7D5A10-81B8-439B-8B6B-2F620F6990D3}"/>
              </a:ext>
            </a:extLst>
          </p:cNvPr>
          <p:cNvSpPr>
            <a:spLocks noGrp="1"/>
          </p:cNvSpPr>
          <p:nvPr/>
        </p:nvSpPr>
        <p:spPr>
          <a:xfrm>
            <a:off x="8499348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B7C32F33-4147-4F1C-A934-265AD1D55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652" y="2157984"/>
            <a:ext cx="365760" cy="36576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0B6C6DAE-D43E-4E74-91FE-6BC25773F152}"/>
              </a:ext>
            </a:extLst>
          </p:cNvPr>
          <p:cNvSpPr>
            <a:spLocks noGrp="1"/>
          </p:cNvSpPr>
          <p:nvPr/>
        </p:nvSpPr>
        <p:spPr>
          <a:xfrm>
            <a:off x="6199632" y="2743200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許家全</a:t>
            </a:r>
            <a:endParaRPr sz="20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9737799-19A1-4BE2-AB26-D915C2E62059}"/>
              </a:ext>
            </a:extLst>
          </p:cNvPr>
          <p:cNvSpPr>
            <a:spLocks noGrp="1"/>
          </p:cNvSpPr>
          <p:nvPr/>
        </p:nvSpPr>
        <p:spPr>
          <a:xfrm>
            <a:off x="6199632" y="3154680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組員 · 11246039</a:t>
            </a:r>
            <a:endParaRPr sz="12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C700552-A3FE-47BF-A790-D921C5B18B81}"/>
              </a:ext>
            </a:extLst>
          </p:cNvPr>
          <p:cNvSpPr>
            <a:spLocks noGrp="1"/>
          </p:cNvSpPr>
          <p:nvPr/>
        </p:nvSpPr>
        <p:spPr>
          <a:xfrm>
            <a:off x="6473952" y="3611880"/>
            <a:ext cx="470916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系統架構、資料庫、FastAPI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四平台爬蟲與每日排程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AI 問答、情緒評分、向量檢索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前端介面、測試、手冊第 7–12 章</a:t>
            </a:r>
            <a:endParaRPr sz="14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FA07CAEA-8240-4DE0-AEC2-AA671D0B784A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98A2BE1-896E-4C16-BFFC-0BF8E304B6E0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程式提交與文件、企劃工作分開佐證；不以單一帳號的提交次數推算貢獻比例。</a:t>
            </a:r>
            <a:endParaRPr sz="1400"/>
          </a:p>
        </p:txBody>
      </p:sp>
      <p:sp>
        <p:nvSpPr>
          <p:cNvPr id="21" name="18">
            <a:extLst>
              <a:ext uri="{FF2B5EF4-FFF2-40B4-BE49-F238E27FC236}">
                <a16:creationId xmlns:a16="http://schemas.microsoft.com/office/drawing/2014/main" id="{5915EECD-9CB3-4C20-BD63-1E2E07769E6C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6194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8207CD5-442C-4087-92D6-711674D5B6E8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做到了什麼，也說清楚還差什麼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1FD7E8F-C86E-46D8-A462-78EF5A17DEE2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36576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9608BE-8DFF-4BAD-AA7B-345E7281A179}"/>
              </a:ext>
            </a:extLst>
          </p:cNvPr>
          <p:cNvSpPr>
            <a:spLocks noGrp="1"/>
          </p:cNvSpPr>
          <p:nvPr/>
        </p:nvSpPr>
        <p:spPr>
          <a:xfrm>
            <a:off x="2116836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762B4E0E-9370-4F7E-9D18-A3B9E4B8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0" y="215798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A15D9D35-5B72-459C-900C-482ED22AA571}"/>
              </a:ext>
            </a:extLst>
          </p:cNvPr>
          <p:cNvSpPr>
            <a:spLocks noGrp="1"/>
          </p:cNvSpPr>
          <p:nvPr/>
        </p:nvSpPr>
        <p:spPr>
          <a:xfrm>
            <a:off x="731520" y="27889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EF85B4D-3111-4A00-8620-86B1F1AF888D}"/>
              </a:ext>
            </a:extLst>
          </p:cNvPr>
          <p:cNvSpPr>
            <a:spLocks noGrp="1"/>
          </p:cNvSpPr>
          <p:nvPr/>
        </p:nvSpPr>
        <p:spPr>
          <a:xfrm>
            <a:off x="914400" y="3337560"/>
            <a:ext cx="306324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四平台自動收錄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混合檢索 AI 問答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100 篇重跑一致性紀錄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帳號、方案、監測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成本試算、STP、TOWS</a:t>
            </a:r>
            <a:endParaRPr sz="1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B866582-65E0-4169-A760-EF0AEB5359D3}"/>
              </a:ext>
            </a:extLst>
          </p:cNvPr>
          <p:cNvSpPr>
            <a:spLocks noGrp="1"/>
          </p:cNvSpPr>
          <p:nvPr/>
        </p:nvSpPr>
        <p:spPr>
          <a:xfrm>
            <a:off x="4379976" y="1783080"/>
            <a:ext cx="3429000" cy="36576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BB554AC-7DB0-4616-8B90-F6F5589C08FD}"/>
              </a:ext>
            </a:extLst>
          </p:cNvPr>
          <p:cNvSpPr>
            <a:spLocks noGrp="1"/>
          </p:cNvSpPr>
          <p:nvPr/>
        </p:nvSpPr>
        <p:spPr>
          <a:xfrm>
            <a:off x="5765292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B0A8DD29-9224-4225-B6BF-35B0BB16C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157984"/>
            <a:ext cx="365760" cy="36576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6D62EDA9-B302-45AD-9AC3-55AF423C6653}"/>
              </a:ext>
            </a:extLst>
          </p:cNvPr>
          <p:cNvSpPr>
            <a:spLocks noGrp="1"/>
          </p:cNvSpPr>
          <p:nvPr/>
        </p:nvSpPr>
        <p:spPr>
          <a:xfrm>
            <a:off x="4379976" y="27889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  <a:endParaRPr sz="18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C596423-02A8-4E00-9A10-913695B368A7}"/>
              </a:ext>
            </a:extLst>
          </p:cNvPr>
          <p:cNvSpPr>
            <a:spLocks noGrp="1"/>
          </p:cNvSpPr>
          <p:nvPr/>
        </p:nvSpPr>
        <p:spPr>
          <a:xfrm>
            <a:off x="4562856" y="3337560"/>
            <a:ext cx="306324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人工標註驗證情緒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固定題組測檢索品質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業配辨識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Linux 部署回歸驗證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正式需求訪談</a:t>
            </a:r>
            <a:endParaRPr sz="14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9B1004A-9689-45C5-B410-1E76FA46924F}"/>
              </a:ext>
            </a:extLst>
          </p:cNvPr>
          <p:cNvSpPr>
            <a:spLocks noGrp="1"/>
          </p:cNvSpPr>
          <p:nvPr/>
        </p:nvSpPr>
        <p:spPr>
          <a:xfrm>
            <a:off x="8028432" y="1783080"/>
            <a:ext cx="3429000" cy="36576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905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FC89931-319C-434A-9FD0-F12282112879}"/>
              </a:ext>
            </a:extLst>
          </p:cNvPr>
          <p:cNvSpPr>
            <a:spLocks noGrp="1"/>
          </p:cNvSpPr>
          <p:nvPr/>
        </p:nvSpPr>
        <p:spPr>
          <a:xfrm>
            <a:off x="9413748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8012532D-7C24-4164-92E0-B8A4E8668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052" y="2157984"/>
            <a:ext cx="365760" cy="365760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6C18D32F-DC6B-40F4-8BAF-E987D5012BF7}"/>
              </a:ext>
            </a:extLst>
          </p:cNvPr>
          <p:cNvSpPr>
            <a:spLocks noGrp="1"/>
          </p:cNvSpPr>
          <p:nvPr/>
        </p:nvSpPr>
        <p:spPr>
          <a:xfrm>
            <a:off x="8028432" y="27889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面對 AI 代理</a:t>
            </a:r>
            <a:endParaRPr sz="18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7646DF6-F8C2-450D-9506-D54667FFCC45}"/>
              </a:ext>
            </a:extLst>
          </p:cNvPr>
          <p:cNvSpPr>
            <a:spLocks noGrp="1"/>
          </p:cNvSpPr>
          <p:nvPr/>
        </p:nvSpPr>
        <p:spPr>
          <a:xfrm>
            <a:off x="8211312" y="3337560"/>
            <a:ext cx="306324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通用 AI 能搜尋整理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我們的定位：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長期累積的歷史資料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回答附引用來源清單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帳號化的持續監測</a:t>
            </a:r>
            <a:endParaRPr sz="14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47EE1155-878C-490A-827B-63704F88FD7E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4BB1571-CFFA-4015-A62E-1FD8E4B24663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謝謝老師，敬請指教</a:t>
            </a:r>
            <a:endParaRPr sz="1400"/>
          </a:p>
        </p:txBody>
      </p:sp>
      <p:sp>
        <p:nvSpPr>
          <p:cNvPr id="24" name="19">
            <a:extLst>
              <a:ext uri="{FF2B5EF4-FFF2-40B4-BE49-F238E27FC236}">
                <a16:creationId xmlns:a16="http://schemas.microsoft.com/office/drawing/2014/main" id="{FBA77503-0410-404C-97E1-8E9015C65C24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54890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 項意見對照：定位、營運與實作（1/2）">
            <a:extLst>
              <a:ext uri="{FF2B5EF4-FFF2-40B4-BE49-F238E27FC236}">
                <a16:creationId xmlns:a16="http://schemas.microsoft.com/office/drawing/2014/main" id="{E2BC45AA-4715-493E-B4D5-33FB96DEDD6F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A｜16 項意見對照：定位、營運與實作（1/2）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58E32A-5362-4E24-9516-8370F47A193D}"/>
              </a:ext>
            </a:extLst>
          </p:cNvPr>
          <p:cNvGraphicFramePr/>
          <p:nvPr/>
        </p:nvGraphicFramePr>
        <p:xfrm>
          <a:off x="733425" y="1771650"/>
          <a:ext cx="10725150" cy="3809997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編號與意見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本次回應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尚待完成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R01 成本量化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p7 實測重算；附錄 C、F 明細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實際帳單、付費意願、獲利時點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R02 九大區塊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p6 訂閱模式與額度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付費意願及收款驗證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R03 STP 區隔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規模／主題／頻率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需求訪談驗證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R04 TOWS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p8 四類策略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試用與策略成效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R05 爬蟲觸發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p10 手動／每日排程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持續運行監測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R06 甘特年月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p16 實際月份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更新每月進度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R07 GitHub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p16 提交紀錄；p17 分工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逐人可追溯的交付物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R08 RAG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p11 混合檢索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固定題組與檢索評估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20">
            <a:extLst>
              <a:ext uri="{FF2B5EF4-FFF2-40B4-BE49-F238E27FC236}">
                <a16:creationId xmlns:a16="http://schemas.microsoft.com/office/drawing/2014/main" id="{6DADCECF-885F-4182-BC39-B667DC02FE3F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49368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 項意見對照：資料品質與驗證（2/2）">
            <a:extLst>
              <a:ext uri="{FF2B5EF4-FFF2-40B4-BE49-F238E27FC236}">
                <a16:creationId xmlns:a16="http://schemas.microsoft.com/office/drawing/2014/main" id="{CF353B7E-532B-48C0-B4DB-3B5F5BA6C063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B｜16 項意見對照：資料品質與驗證（2/2）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EB7F4D-56E5-4B29-B78B-45A9377CD51F}"/>
              </a:ext>
            </a:extLst>
          </p:cNvPr>
          <p:cNvGraphicFramePr/>
          <p:nvPr/>
        </p:nvGraphicFramePr>
        <p:xfrm>
          <a:off x="733425" y="1771650"/>
          <a:ext cx="10725150" cy="3809997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編號與意見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本次回應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尚待完成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R09 分數一致性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p12 分數規則與重跑紀錄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人工標註及模型版本追蹤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R10 自動篩選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p10 相關性規則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業配辨識與抽樣複核流程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R11 領域知識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熱門話題只計 178 個醫美領域詞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知識萃取、專家驗證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R12 使用對象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先聚焦從業人員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一般消費者版另行設計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R13 通用 AI 差異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流程整合；p8 策略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同題比較，不宣稱優於所有 AI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R14 需求訪談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初評口頭交流來源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正式訪談紀錄與需求驗收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R15 Agentic AI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p8 TOWS；p18 後續策略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同題實測；補聽未轉錄錄音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R16 文件強化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本簡報與現有系統手冊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同步修正狀態、版本與證據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8F10B7-20FE-41DE-8503-C7370D7F21DB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編號依「初評評審意見整理」第 3 頁；原錄音 29:58 後">
            <a:extLst>
              <a:ext uri="{FF2B5EF4-FFF2-40B4-BE49-F238E27FC236}">
                <a16:creationId xmlns:a16="http://schemas.microsoft.com/office/drawing/2014/main" id="{8BBCBDA4-46AC-433C-ABB3-A7EBC155ECC7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編號依「初評評審意見整理」第 3 頁；原錄音 29:58 後未轉錄，待補聽。</a:t>
            </a:r>
          </a:p>
        </p:txBody>
      </p:sp>
      <p:sp>
        <p:nvSpPr>
          <p:cNvPr id="6" name="21">
            <a:extLst>
              <a:ext uri="{FF2B5EF4-FFF2-40B4-BE49-F238E27FC236}">
                <a16:creationId xmlns:a16="http://schemas.microsoft.com/office/drawing/2014/main" id="{E66E2EA8-3A40-4E76-BC94-46395AADA80D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11770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人力成本納入後，平衡帳號數會上升">
            <a:extLst>
              <a:ext uri="{FF2B5EF4-FFF2-40B4-BE49-F238E27FC236}">
                <a16:creationId xmlns:a16="http://schemas.microsoft.com/office/drawing/2014/main" id="{D86BB3C5-1D82-4414-88DB-A862FA32F41C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C｜加入維運人力後，平衡帳號數變成 12～21 個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021EE2-8B48-4CDD-97BA-BC1BC3B65AE8}"/>
              </a:ext>
            </a:extLst>
          </p:cNvPr>
          <p:cNvGraphicFramePr/>
          <p:nvPr/>
        </p:nvGraphicFramePr>
        <p:xfrm>
          <a:off x="733425" y="1771650"/>
          <a:ext cx="10725150" cy="2781300"/>
        </p:xfrm>
        <a:graphic>
          <a:graphicData uri="http://schemas.openxmlformats.org/drawingml/2006/table">
            <a:tbl>
              <a:tblPr/>
              <a:tblGrid>
                <a:gridCol w="529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情境（新臺幣／月）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月固定支出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平衡專業版帳號數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雲端基本支出；未含人力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1,450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⌈1,450 ÷ 463⌉ = 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＋維運 20 小時（時薪 196）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5,370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⌈5,370 ÷ 463⌉ = 12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＋維運 40 小時（時薪 196）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9,290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⌈9,290 ÷ 463⌉ = 21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每帳號月貢獻＝月費 490 − 變動費 45＝445 元">
            <a:extLst>
              <a:ext uri="{FF2B5EF4-FFF2-40B4-BE49-F238E27FC236}">
                <a16:creationId xmlns:a16="http://schemas.microsoft.com/office/drawing/2014/main" id="{5A8AC995-D2D2-4F10-BB20-CADB82A3370F}"/>
              </a:ext>
            </a:extLst>
          </p:cNvPr>
          <p:cNvSpPr>
            <a:spLocks noGrp="1"/>
          </p:cNvSpPr>
          <p:nvPr/>
        </p:nvSpPr>
        <p:spPr>
          <a:xfrm>
            <a:off x="733425" y="4876800"/>
            <a:ext cx="107251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2100" b="1">
                <a:solidFill>
                  <a:srgbClr val="2073BE"/>
                </a:solidFill>
              </a:defRPr>
            </a:pPr>
            <a:r>
              <a:rPr sz="2100" b="1">
                <a:solidFill>
                  <a:srgbClr val="2073BE"/>
                </a:solidFill>
              </a:rPr>
              <a:t>每帳號月貢獻＝月費 490 − 變動成本 27＝463 元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EE7565-3C9A-44C9-9E38-FB4B602F33EB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5,000／10,000 為示例假設；未含開發回收、稅費，尚">
            <a:extLst>
              <a:ext uri="{FF2B5EF4-FFF2-40B4-BE49-F238E27FC236}">
                <a16:creationId xmlns:a16="http://schemas.microsoft.com/office/drawing/2014/main" id="{5A5C9110-23D8-450C-A17D-5B8B8C1355FD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1 個企業版（建議價 1,990）約抵 4 個專業版；仍未含開發回收與稅費。</a:t>
            </a:r>
          </a:p>
        </p:txBody>
      </p:sp>
      <p:sp>
        <p:nvSpPr>
          <p:cNvPr id="7" name="22">
            <a:extLst>
              <a:ext uri="{FF2B5EF4-FFF2-40B4-BE49-F238E27FC236}">
                <a16:creationId xmlns:a16="http://schemas.microsoft.com/office/drawing/2014/main" id="{E95ED7AE-7A40-4AE6-A2CF-82D57A648DD6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08444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I 問答：從回答回到引用文章">
            <a:extLst>
              <a:ext uri="{FF2B5EF4-FFF2-40B4-BE49-F238E27FC236}">
                <a16:creationId xmlns:a16="http://schemas.microsoft.com/office/drawing/2014/main" id="{CD4E88AE-E5B8-4FC4-AFE2-AC0F898C4A3F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D｜AI 問答：從回答回到引用文章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1255E-DF0F-4CF2-8509-CAAC79799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9400" y="1695450"/>
            <a:ext cx="6553200" cy="40957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0746D0-4EA9-4B28-B657-30B4A22C5691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既有管理員操作截圖（2026/10/07）；示範引用回查，不">
            <a:extLst>
              <a:ext uri="{FF2B5EF4-FFF2-40B4-BE49-F238E27FC236}">
                <a16:creationId xmlns:a16="http://schemas.microsoft.com/office/drawing/2014/main" id="{E70FBA50-1BEB-4C84-BBA4-850692405AA7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既有管理員操作截圖（2026/10/07）；示範引用回查，不代表即時服務狀態。</a:t>
            </a:r>
          </a:p>
        </p:txBody>
      </p:sp>
      <p:sp>
        <p:nvSpPr>
          <p:cNvPr id="6" name="23">
            <a:extLst>
              <a:ext uri="{FF2B5EF4-FFF2-40B4-BE49-F238E27FC236}">
                <a16:creationId xmlns:a16="http://schemas.microsoft.com/office/drawing/2014/main" id="{3D9CCD87-5EA3-481E-AD2D-07ADB22B71CE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713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歷史比較：保留兩次查詢的分析結果">
            <a:extLst>
              <a:ext uri="{FF2B5EF4-FFF2-40B4-BE49-F238E27FC236}">
                <a16:creationId xmlns:a16="http://schemas.microsoft.com/office/drawing/2014/main" id="{18FF3E2A-7776-4E3F-9C3A-5421CE753764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E｜歷史比較：保留兩次查詢的分析結果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42545-9ADE-4B0D-974B-AB090D5F2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9400" y="1695450"/>
            <a:ext cx="6553200" cy="40957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0E8307-5D00-4CBB-B2E0-8E2AA7ED0312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沿用原稿實際畫面；確認兩次範圍與分母後再解讀差異。">
            <a:extLst>
              <a:ext uri="{FF2B5EF4-FFF2-40B4-BE49-F238E27FC236}">
                <a16:creationId xmlns:a16="http://schemas.microsoft.com/office/drawing/2014/main" id="{A862B7B2-8384-4BF5-8414-716962CE45E9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沿用原稿實際畫面；確認兩次範圍與分母後再解讀差異。</a:t>
            </a:r>
          </a:p>
        </p:txBody>
      </p:sp>
      <p:sp>
        <p:nvSpPr>
          <p:cNvPr id="6" name="24">
            <a:extLst>
              <a:ext uri="{FF2B5EF4-FFF2-40B4-BE49-F238E27FC236}">
                <a16:creationId xmlns:a16="http://schemas.microsoft.com/office/drawing/2014/main" id="{A96C2179-D115-407C-A957-021583D94E05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48786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人力成本納入後，平衡帳號數會上升">
            <a:extLst>
              <a:ext uri="{FF2B5EF4-FFF2-40B4-BE49-F238E27FC236}">
                <a16:creationId xmlns:a16="http://schemas.microsoft.com/office/drawing/2014/main" id="{D86BB3C5-1D82-4414-88DB-A862FA32F41C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F｜每一個數字的算法與出處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021EE2-8B48-4CDD-97BA-BC1BC3B65AE8}"/>
              </a:ext>
            </a:extLst>
          </p:cNvPr>
          <p:cNvGraphicFramePr/>
          <p:nvPr/>
        </p:nvGraphicFramePr>
        <p:xfrm>
          <a:off x="733425" y="1771650"/>
          <a:ext cx="10725912" cy="3712463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73BE"/>
                          </a:solidFill>
                        </a:rPr>
                        <a:t>項目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73BE"/>
                          </a:solidFill>
                        </a:rPr>
                        <a:t>計算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73BE"/>
                          </a:solidFill>
                        </a:rPr>
                        <a:t>依據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AI 問答／次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兩次呼叫：輸入 9,794＋輸出 2,150 ≈ 0.06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Gemini 官方價 0.10／0.40 美元／百萬 token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儀表板洞察／次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輸入 14,341＋輸出 4,519 token ≈ 0.10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同上；輸出取已存 31 筆最大值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每日收錄與判讀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近 30 天 897 篇＋3,216 則 ≈ 6.3 元（計 7）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實際收錄量；向量 US$0.15／百萬 token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主機與網域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US$25＋US$19 ≈ 1,408 元；網域 35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Render 公開價；網域年費 420 元為假設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金流手續費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月費 × 3%（專業版約 15 元）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假設值，待向金流商確認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維運人力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20／40 小時 × 196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115 年基本工資時薪 196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EE7565-3C9A-44C9-9E38-FB4B602F33EB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5,000／10,000 為示例假設；未含開發回收、稅費，尚">
            <a:extLst>
              <a:ext uri="{FF2B5EF4-FFF2-40B4-BE49-F238E27FC236}">
                <a16:creationId xmlns:a16="http://schemas.microsoft.com/office/drawing/2014/main" id="{5A5C9110-23D8-450C-A17D-5B8B8C1355FD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500" b="1">
                <a:solidFill>
                  <a:srgbClr val="2073BE"/>
                </a:solidFill>
              </a:defRPr>
            </a:pPr>
            <a:r>
              <a:rPr sz="1500" b="1">
                <a:solidFill>
                  <a:srgbClr val="2073BE"/>
                </a:solidFill>
              </a:rPr>
              <a:t>中文以 1 字≈1 token 保守估算；匯率 32（央行 115/8/20 收盤 31.925）。</a:t>
            </a:r>
          </a:p>
        </p:txBody>
      </p:sp>
      <p:sp>
        <p:nvSpPr>
          <p:cNvPr id="7" name="22">
            <a:extLst>
              <a:ext uri="{FF2B5EF4-FFF2-40B4-BE49-F238E27FC236}">
                <a16:creationId xmlns:a16="http://schemas.microsoft.com/office/drawing/2014/main" id="{E95ED7AE-7A40-4AE6-A2CF-82D57A648DD6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08444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2670</Words>
  <Application>Microsoft Office PowerPoint</Application>
  <DocSecurity>0</DocSecurity>
  <PresentationFormat>Widescreen</PresentationFormat>
  <Paragraphs>488</Paragraphs>
  <Slides>24</Slides>
  <Notes>24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Microsoft JhengHei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JiaQuan Xu</cp:lastModifiedBy>
  <cp:revision>2</cp:revision>
  <dcterms:created xsi:type="dcterms:W3CDTF">2026-10-12T01:12:13Z</dcterms:created>
  <dcterms:modified xsi:type="dcterms:W3CDTF">2026-10-12T16:19:48Z</dcterms:modified>
</cp:coreProperties>
</file>