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19235a80dd470f" Type="http://schemas.openxmlformats.org/officeDocument/2006/relationships/extended-properties" Target="docProps/app.xml"/><Relationship Id="R379c7d836b9f4d6d" Type="http://schemas.openxmlformats.org/officeDocument/2006/relationships/officeDocument" Target="ppt/presentation.xml"/><Relationship Id="Rfd98f56988d64da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67a75a5af4a2c"/>
  </p:sldMasterIdLst>
  <p:notesMasterIdLst>
    <p:notesMasterId xmlns:r="http://schemas.openxmlformats.org/officeDocument/2006/relationships" r:id="Rc8f86db9c5514a3e"/>
  </p:notesMasterIdLst>
  <p:sldIdLst>
    <p:sldId xmlns:r="http://schemas.openxmlformats.org/officeDocument/2006/relationships" id="256" r:id="Radea79d4f7ff4756"/>
    <p:sldId xmlns:r="http://schemas.openxmlformats.org/officeDocument/2006/relationships" id="257" r:id="R11db7550635f407c"/>
    <p:sldId xmlns:r="http://schemas.openxmlformats.org/officeDocument/2006/relationships" id="258" r:id="R3a98a6a0a2b54500"/>
    <p:sldId xmlns:r="http://schemas.openxmlformats.org/officeDocument/2006/relationships" id="259" r:id="R10b042ee02634ef9"/>
    <p:sldId xmlns:r="http://schemas.openxmlformats.org/officeDocument/2006/relationships" id="260" r:id="R569ab92c3a9b4131"/>
    <p:sldId xmlns:r="http://schemas.openxmlformats.org/officeDocument/2006/relationships" id="261" r:id="Red6d3cd09e224511"/>
    <p:sldId xmlns:r="http://schemas.openxmlformats.org/officeDocument/2006/relationships" id="262" r:id="Rac1cfeb6b5c843a9"/>
    <p:sldId xmlns:r="http://schemas.openxmlformats.org/officeDocument/2006/relationships" id="263" r:id="R829edaa4e55a4413"/>
    <p:sldId xmlns:r="http://schemas.openxmlformats.org/officeDocument/2006/relationships" id="264" r:id="Ref6f276d3d3f4e41"/>
    <p:sldId xmlns:r="http://schemas.openxmlformats.org/officeDocument/2006/relationships" id="265" r:id="Rd21e37e9e21f425f"/>
    <p:sldId xmlns:r="http://schemas.openxmlformats.org/officeDocument/2006/relationships" id="266" r:id="R2bfc11a4122143c4"/>
    <p:sldId xmlns:r="http://schemas.openxmlformats.org/officeDocument/2006/relationships" id="267" r:id="R55d3c241009a4d00"/>
    <p:sldId xmlns:r="http://schemas.openxmlformats.org/officeDocument/2006/relationships" id="268" r:id="R2e34a04d4951441f"/>
    <p:sldId xmlns:r="http://schemas.openxmlformats.org/officeDocument/2006/relationships" id="269" r:id="Rc0e2eaea6c8a454c"/>
    <p:sldId xmlns:r="http://schemas.openxmlformats.org/officeDocument/2006/relationships" id="270" r:id="Rc427127a7a1a4820"/>
    <p:sldId xmlns:r="http://schemas.openxmlformats.org/officeDocument/2006/relationships" id="272" r:id="Rb13b1a1201294e36"/>
    <p:sldId xmlns:r="http://schemas.openxmlformats.org/officeDocument/2006/relationships" id="273" r:id="R24f78b4f98114178"/>
    <p:sldId xmlns:r="http://schemas.openxmlformats.org/officeDocument/2006/relationships" id="274" r:id="R2ffa6da9ff1d4ab9"/>
    <p:sldId xmlns:r="http://schemas.openxmlformats.org/officeDocument/2006/relationships" id="275" r:id="R4708094973ba48ba"/>
    <p:sldId xmlns:r="http://schemas.openxmlformats.org/officeDocument/2006/relationships" id="276" r:id="Rb39dd1583b024f6c"/>
    <p:sldId xmlns:r="http://schemas.openxmlformats.org/officeDocument/2006/relationships" id="277" r:id="R12df4e686d1f40a1"/>
    <p:sldId xmlns:r="http://schemas.openxmlformats.org/officeDocument/2006/relationships" id="278" r:id="Rffaa51bbbf104dc2"/>
    <p:sldId xmlns:r="http://schemas.openxmlformats.org/officeDocument/2006/relationships" id="279" r:id="Rb95112417bb145c4"/>
    <p:sldId xmlns:r="http://schemas.openxmlformats.org/officeDocument/2006/relationships" id="280" r:id="rId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0b042ee02634ef9" Type="http://schemas.openxmlformats.org/officeDocument/2006/relationships/slide" Target="slides/slide4.xml"/><Relationship Id="R11db7550635f407c" Type="http://schemas.openxmlformats.org/officeDocument/2006/relationships/slide" Target="slides/slide2.xml"/><Relationship Id="R12df4e686d1f40a1" Type="http://schemas.openxmlformats.org/officeDocument/2006/relationships/slide" Target="slides/slide21.xml"/><Relationship Id="R18c67a75a5af4a2c" Type="http://schemas.openxmlformats.org/officeDocument/2006/relationships/slideMaster" Target="slideMasters/slideMaster1.xml"/><Relationship Id="R24f78b4f98114178" Type="http://schemas.openxmlformats.org/officeDocument/2006/relationships/slide" Target="slides/slide17.xml"/><Relationship Id="R2bfc11a4122143c4" Type="http://schemas.openxmlformats.org/officeDocument/2006/relationships/slide" Target="slides/slide11.xml"/><Relationship Id="R2e34a04d4951441f" Type="http://schemas.openxmlformats.org/officeDocument/2006/relationships/slide" Target="slides/slide13.xml"/><Relationship Id="R2ffa6da9ff1d4ab9" Type="http://schemas.openxmlformats.org/officeDocument/2006/relationships/slide" Target="slides/slide18.xml"/><Relationship Id="R3a98a6a0a2b54500" Type="http://schemas.openxmlformats.org/officeDocument/2006/relationships/slide" Target="slides/slide3.xml"/><Relationship Id="R4708094973ba48ba" Type="http://schemas.openxmlformats.org/officeDocument/2006/relationships/slide" Target="slides/slide19.xml"/><Relationship Id="R48302ea2729449b5" Type="http://schemas.openxmlformats.org/officeDocument/2006/relationships/viewProps" Target="viewProps.xml"/><Relationship Id="R55d3c241009a4d00" Type="http://schemas.openxmlformats.org/officeDocument/2006/relationships/slide" Target="slides/slide12.xml"/><Relationship Id="R569ab92c3a9b4131" Type="http://schemas.openxmlformats.org/officeDocument/2006/relationships/slide" Target="slides/slide5.xml"/><Relationship Id="R829edaa4e55a4413" Type="http://schemas.openxmlformats.org/officeDocument/2006/relationships/slide" Target="slides/slide8.xml"/><Relationship Id="R83aa45f86dda4af3" Type="http://schemas.openxmlformats.org/officeDocument/2006/relationships/theme" Target="theme/theme1.xml"/><Relationship Id="R8d697a7c29d84f4a" Type="http://schemas.openxmlformats.org/officeDocument/2006/relationships/tableStyles" Target="tableStyles.xml"/><Relationship Id="Rac1cfeb6b5c843a9" Type="http://schemas.openxmlformats.org/officeDocument/2006/relationships/slide" Target="slides/slide7.xml"/><Relationship Id="Radea79d4f7ff4756" Type="http://schemas.openxmlformats.org/officeDocument/2006/relationships/slide" Target="slides/slide1.xml"/><Relationship Id="Rb13b1a1201294e36" Type="http://schemas.openxmlformats.org/officeDocument/2006/relationships/slide" Target="slides/slide16.xml"/><Relationship Id="Rb39dd1583b024f6c" Type="http://schemas.openxmlformats.org/officeDocument/2006/relationships/slide" Target="slides/slide20.xml"/><Relationship Id="Rb95112417bb145c4" Type="http://schemas.openxmlformats.org/officeDocument/2006/relationships/slide" Target="slides/slide23.xml"/><Relationship Id="Rc0e2eaea6c8a454c" Type="http://schemas.openxmlformats.org/officeDocument/2006/relationships/slide" Target="slides/slide14.xml"/><Relationship Id="Rc427127a7a1a4820" Type="http://schemas.openxmlformats.org/officeDocument/2006/relationships/slide" Target="slides/slide15.xml"/><Relationship Id="Rc8f86db9c5514a3e" Type="http://schemas.openxmlformats.org/officeDocument/2006/relationships/notesMaster" Target="notesMasters/notesMaster1.xml"/><Relationship Id="Rd21e37e9e21f425f" Type="http://schemas.openxmlformats.org/officeDocument/2006/relationships/slide" Target="slides/slide10.xml"/><Relationship Id="Red6d3cd09e224511" Type="http://schemas.openxmlformats.org/officeDocument/2006/relationships/slide" Target="slides/slide6.xml"/><Relationship Id="Ref6b1207244e4fde" Type="http://schemas.openxmlformats.org/officeDocument/2006/relationships/presProps" Target="presProps.xml"/><Relationship Id="Ref6f276d3d3f4e41" Type="http://schemas.openxmlformats.org/officeDocument/2006/relationships/slide" Target="slides/slide9.xml"/><Relationship Id="Rffaa51bbbf104dc2" Type="http://schemas.openxmlformats.org/officeDocument/2006/relationships/slide" Target="slides/slide22.xml"/><Relationship Id="rId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2463a48d7d6d4e9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b649ce81024607" Type="http://schemas.openxmlformats.org/officeDocument/2006/relationships/slide" Target="../slides/slide1.xml"/><Relationship Id="R6d64a4bf07d548a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6ec409b14346cd" Type="http://schemas.openxmlformats.org/officeDocument/2006/relationships/slide" Target="../slides/slide2.xml"/><Relationship Id="Rb95e62b5b8c643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5086b17342b4235" Type="http://schemas.openxmlformats.org/officeDocument/2006/relationships/slide" Target="../slides/slide3.xml"/><Relationship Id="R1c199b29a56349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f0f3852014a4973" Type="http://schemas.openxmlformats.org/officeDocument/2006/relationships/slide" Target="../slides/slide4.xml"/><Relationship Id="R7ea915cd1dfd45f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59ea4c93d444875" Type="http://schemas.openxmlformats.org/officeDocument/2006/relationships/notesMaster" Target="../notesMasters/notesMaster1.xml"/><Relationship Id="Ra85e001892b74c3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da9e0564a274628" Type="http://schemas.openxmlformats.org/officeDocument/2006/relationships/slide" Target="../slides/slide6.xml"/><Relationship Id="Rd013d9f63cd9460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537ce385c5a42a1" Type="http://schemas.openxmlformats.org/officeDocument/2006/relationships/slide" Target="../slides/slide7.xml"/><Relationship Id="Rb64482f81c304d5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37947cc00424d18" Type="http://schemas.openxmlformats.org/officeDocument/2006/relationships/slide" Target="../slides/slide8.xml"/><Relationship Id="Rc70eb2f0dfae4b2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e73cbfb0d92340e6" Type="http://schemas.openxmlformats.org/officeDocument/2006/relationships/slide" Target="../slides/slide9.xml"/><Relationship Id="Rf0e156a1f588477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e342fd2545e49d5" Type="http://schemas.openxmlformats.org/officeDocument/2006/relationships/slide" Target="../slides/slide10.xml"/><Relationship Id="R66d5126917754af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06ea539557664161" Type="http://schemas.openxmlformats.org/officeDocument/2006/relationships/slide" Target="../slides/slide11.xml"/><Relationship Id="R296ca5b331a049e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9a064a925bc94004" Type="http://schemas.openxmlformats.org/officeDocument/2006/relationships/slide" Target="../slides/slide12.xml"/><Relationship Id="Rdd1f04eb156d4f7e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34dd49949b104217" Type="http://schemas.openxmlformats.org/officeDocument/2006/relationships/notesMaster" Target="../notesMasters/notesMaster1.xml"/><Relationship Id="R5d54386832dd43c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051ef945d0c94d19" Type="http://schemas.openxmlformats.org/officeDocument/2006/relationships/slide" Target="../slides/slide14.xml"/><Relationship Id="Rc962ab0351264c8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b968fc25d9a4fc3" Type="http://schemas.openxmlformats.org/officeDocument/2006/relationships/slide" Target="../slides/slide15.xml"/><Relationship Id="Rb7ffff9b8cc549e6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01daa6a99954ada" Type="http://schemas.openxmlformats.org/officeDocument/2006/relationships/slide" Target="../slides/slide16.xml"/><Relationship Id="R8d301155e335464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30b5878bd0a4711" Type="http://schemas.openxmlformats.org/officeDocument/2006/relationships/slide" Target="../slides/slide17.xml"/><Relationship Id="Ra044546b8af14867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e41db750aa042fe" Type="http://schemas.openxmlformats.org/officeDocument/2006/relationships/slide" Target="../slides/slide18.xml"/><Relationship Id="R965e248ddefb4984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6a84526236784c74" Type="http://schemas.openxmlformats.org/officeDocument/2006/relationships/slide" Target="../slides/slide19.xml"/><Relationship Id="R71a3a12ca8aa4bd9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8b3d0a1cac74484" Type="http://schemas.openxmlformats.org/officeDocument/2006/relationships/slide" Target="../slides/slide20.xml"/><Relationship Id="R76c52be131864a5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4e544a27524e495f" Type="http://schemas.openxmlformats.org/officeDocument/2006/relationships/slide" Target="../slides/slide21.xml"/><Relationship Id="R7d9b5b6605904ae4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2624a2a8c1ad4db5" Type="http://schemas.openxmlformats.org/officeDocument/2006/relationships/notesMaster" Target="../notesMasters/notesMaster1.xml"/><Relationship Id="R9275044152474614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8b3e347d967b4e47" Type="http://schemas.openxmlformats.org/officeDocument/2006/relationships/slide" Target="../slides/slide23.xml"/><Relationship Id="R9c1de09e323d4745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【陳威帆｜20 秒】老師好，我們是第115405組，專題為MeBOD醫美時尚輿情分析系統。今天說明初評後的修正、系統完成度及功能完整性。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【陳威帆｜15 秒】先談問題與營運，再由家全說明技術、功能與Demo，最後回到進度與限制；附錄供問答使用。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秒】初評說我們沒有量化，這頁用實測重算，不再沿用原稿的假設單價。一次 AI 問答包含問題解析與依證據回答兩次呼叫，用系統程式組出真實 prompt，最多約 9,800 token 輸入、2,150 token 輸出，以 Gemini 2.5 Flash-Lite 官方價每百萬 0.10／0.40 美元計算，約 0.06 元，原稿假設 0.33 元高估了五倍。專業版用戶每月 100 次問答、60 次洞察，加上 3% 金流手續費，變動成本約 27 元。固定支出以 render.yaml 的雲端部署計：主機 25 美元、資料庫 19 美元，加網域與每日判讀約 1,450 元。收入 490N、支出 1,450＋27N，4 個帳號就能打平，每月餘 402 元。但這還沒算人力，算進去要 12 到 21 個帳號，見附錄 C；每個數字的出處在附錄 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秒】初評指出只有 keyword 比對。現在先解析問題意圖，再以關鍵字和向量雙路找證據，RRF 合併排序後給模型作答。在 AI 問答頁提問時，檢索範圍會套用使用者在 Dashboard 選的關鍵字與期間，回答以檢索到的文章為證據、Dashboard 數字為背景，引用清單就是這些文章。資料預先切段並建立向量；向量無結果時回退關鍵字，完全找不到文章時才只用 Dashboard 數字回答。引用支持人工回查，不保證每句結論都有充分證據；尚未完成專家知識庫和固定題組評估。來源：backend/app/services/rag_service.py（answer_question、scope_intent_to_dashboard、RRF_K）；embedding_service.py。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甘特圖保留原稿115/2至116/1的計畫，10月後為計畫工作。繳件與展覽日期沿用原稿，發表前仍按學校公告確認。右側里程碑依各功能第一次提交的月份：5月PTT爬蟲、儀表板與WebSocket；7月帳號登入；8月Dcard、Mobile01、Threads；9月方案額度、Alembic與向量檢索；10月情緒一致性、預警權限與問答檢索修正。提交數由GitHub於10/12統計：5月14、6月0、7月27、8月42、9月47、10月36，共166次，皆已推送；提交集中於單一帳號，不能當作兩位組員的貢獻比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【陳威帆｜105 秒】總結三點：一、四平台到問答與報告形成完整研究流程；二、RAG與分數規則已可說明，後端498項、前端43項自動化測試通過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原第16頁測試頁已刪除，主講約13分55秒，可在Demo或此頁多說約35秒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備詢：編號與名稱依使用者提供初評評審意見整理.pdf第3頁。回應頁碼按本簡報更新。成本和商業模式屬文件與情境補強，不宣稱市場驗證完成。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cf9445b06112459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ba28082e2c54961" Type="http://schemas.openxmlformats.org/officeDocument/2006/relationships/theme" Target="theme/theme2.xml"/><Relationship Id="Re85e8a642e5f484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5e8a642e5f484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649e0e8ad7b410a" Type="http://schemas.openxmlformats.org/officeDocument/2006/relationships/notesSlide" Target="../notesSlides/notesSlide1.xml"/><Relationship Id="R55c00344031245cb" Type="http://schemas.openxmlformats.org/officeDocument/2006/relationships/image" Target="../media/image.png"/><Relationship Id="Radc050870614452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image" Target="../media/image34.png"/></Relationships>
</file>

<file path=ppt/slides/_rels/slide2.xml.rels><?xml version='1.0' encoding='UTF-8' standalone='yes'?>
<Relationships xmlns="http://schemas.openxmlformats.org/package/2006/relationships"><Relationship Id="R0eee109fbb554b05" Type="http://schemas.openxmlformats.org/officeDocument/2006/relationships/slideLayout" Target="../slideLayouts/slideLayout1.xml"/><Relationship Id="R8afccc18fad5467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5201a24ca0498e" Type="http://schemas.openxmlformats.org/officeDocument/2006/relationships/image" Target="../media/image3.png"/><Relationship Id="R3899514722174a77" Type="http://schemas.openxmlformats.org/officeDocument/2006/relationships/image" Target="../media/image5.png"/><Relationship Id="Rc30b04f9e7da435d" Type="http://schemas.openxmlformats.org/officeDocument/2006/relationships/image" Target="../media/image2.png"/><Relationship Id="Re73dbbea15924fe5" Type="http://schemas.openxmlformats.org/officeDocument/2006/relationships/notesSlide" Target="../notesSlides/notesSlide3.xml"/><Relationship Id="Rf27ea23fd37b4eb8" Type="http://schemas.openxmlformats.org/officeDocument/2006/relationships/image" Target="../media/image6.png"/><Relationship Id="Rf3b473d3d504464d" Type="http://schemas.openxmlformats.org/officeDocument/2006/relationships/slideLayout" Target="../slideLayouts/slideLayout1.xml"/><Relationship Id="Rfeab08d03b2144be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3fdc4b1d84df46c6" Type="http://schemas.openxmlformats.org/officeDocument/2006/relationships/slideLayout" Target="../slideLayouts/slideLayout1.xml"/><Relationship Id="Rbd7f833843f8476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dcdee5754954769" Type="http://schemas.openxmlformats.org/officeDocument/2006/relationships/image" Target="../media/image8.png"/><Relationship Id="R2b2793fc54af4c2f" Type="http://schemas.openxmlformats.org/officeDocument/2006/relationships/image" Target="../media/image11.png"/><Relationship Id="R2f24d541236d4eed" Type="http://schemas.openxmlformats.org/officeDocument/2006/relationships/image" Target="../media/image7.png"/><Relationship Id="R65c4fa01ad494501" Type="http://schemas.openxmlformats.org/officeDocument/2006/relationships/image" Target="../media/image9.png"/><Relationship Id="Rb563eb1eb43e40fa" Type="http://schemas.openxmlformats.org/officeDocument/2006/relationships/slideLayout" Target="../slideLayouts/slideLayout1.xml"/><Relationship Id="Rcfd63660d3c645c4" Type="http://schemas.openxmlformats.org/officeDocument/2006/relationships/image" Target="../media/image10.png"/><Relationship Id="Rd696f70348134c4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3559a28ae2945a4" Type="http://schemas.openxmlformats.org/officeDocument/2006/relationships/slideLayout" Target="../slideLayouts/slideLayout1.xml"/><Relationship Id="Ra785a8f8b99b4a2a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c08d3aa71c14e64" Type="http://schemas.openxmlformats.org/officeDocument/2006/relationships/chart" Target="charts/chart1.xml"/><Relationship Id="R44a53801fe8146c0" Type="http://schemas.openxmlformats.org/officeDocument/2006/relationships/slideLayout" Target="../slideLayouts/slideLayout1.xml"/><Relationship Id="Rb05740cd89044df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53f01ddc65e41dd" Type="http://schemas.openxmlformats.org/officeDocument/2006/relationships/notesSlide" Target="../notesSlides/notesSlide8.xml"/><Relationship Id="Rd96feda1b459465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3352d51b3424685" Type="http://schemas.openxmlformats.org/officeDocument/2006/relationships/image" Target="../media/image12.png"/><Relationship Id="R47a7e10a7cbd495d" Type="http://schemas.openxmlformats.org/officeDocument/2006/relationships/image" Target="../media/image15.png"/><Relationship Id="Rb572b57b6dd346aa" Type="http://schemas.openxmlformats.org/officeDocument/2006/relationships/notesSlide" Target="../notesSlides/notesSlide9.xml"/><Relationship Id="Rbeca82d1c5754fcf" Type="http://schemas.openxmlformats.org/officeDocument/2006/relationships/slideLayout" Target="../slideLayouts/slideLayout1.xml"/><Relationship Id="Rc5ff51fb52274bfe" Type="http://schemas.openxmlformats.org/officeDocument/2006/relationships/image" Target="../media/image14.png"/><Relationship Id="Re511858e9be94825" Type="http://schemas.openxmlformats.org/officeDocument/2006/relationships/image" Target="../media/image13.png"/><Relationship Id="Re689bd094e9444ac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06237a106ac24052" Type="http://schemas.openxmlformats.org/officeDocument/2006/relationships/image" Target="../media/image20.png"/><Relationship Id="R166715985d824539" Type="http://schemas.openxmlformats.org/officeDocument/2006/relationships/slideLayout" Target="../slideLayouts/slideLayout1.xml"/><Relationship Id="R33c176296cb549e7" Type="http://schemas.openxmlformats.org/officeDocument/2006/relationships/image" Target="../media/image23.png"/><Relationship Id="R500ff8319c4948b2" Type="http://schemas.openxmlformats.org/officeDocument/2006/relationships/image" Target="../media/image22.png"/><Relationship Id="R63a42b0ced174764" Type="http://schemas.openxmlformats.org/officeDocument/2006/relationships/notesSlide" Target="../notesSlides/notesSlide10.xml"/><Relationship Id="R77d0099d6fa64ed9" Type="http://schemas.openxmlformats.org/officeDocument/2006/relationships/image" Target="../media/image21.png"/><Relationship Id="Ra8ed67d940a4433d" Type="http://schemas.openxmlformats.org/officeDocument/2006/relationships/image" Target="../media/image18.png"/><Relationship Id="Re449eaac7ee74fcc" Type="http://schemas.openxmlformats.org/officeDocument/2006/relationships/image" Target="../media/image19.png"/><Relationship Id="Rfdb7235476fd43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bbd9b3367c8f4ac9" Type="http://schemas.openxmlformats.org/officeDocument/2006/relationships/notesSlide" Target="../notesSlides/notesSlide11.xml"/><Relationship Id="Re2d8c8dc700347b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f4766ad6ca0f4607" Type="http://schemas.openxmlformats.org/officeDocument/2006/relationships/slideLayout" Target="../slideLayouts/slideLayout1.xml"/><Relationship Id="Rf6b132c446f6429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120eded80b14477" Type="http://schemas.openxmlformats.org/officeDocument/2006/relationships/image" Target="../media/image26.png"/><Relationship Id="R4c774151dbb54a12" Type="http://schemas.openxmlformats.org/officeDocument/2006/relationships/image" Target="../media/image24.png"/><Relationship Id="R6ff7a349ca1c4404" Type="http://schemas.openxmlformats.org/officeDocument/2006/relationships/slideLayout" Target="../slideLayouts/slideLayout1.xml"/><Relationship Id="R7c9d62c036fe4951" Type="http://schemas.openxmlformats.org/officeDocument/2006/relationships/image" Target="../media/image25.png"/><Relationship Id="Rdba4d86b0e0e4ec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721d002a2d44a05" Type="http://schemas.openxmlformats.org/officeDocument/2006/relationships/notesSlide" Target="../notesSlides/notesSlide14.xml"/><Relationship Id="Rbebd24c5148f4df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d72411fce444161" Type="http://schemas.openxmlformats.org/officeDocument/2006/relationships/slideLayout" Target="../slideLayouts/slideLayout1.xml"/><Relationship Id="R82ca9cd33b684af3" Type="http://schemas.openxmlformats.org/officeDocument/2006/relationships/notesSlide" Target="../notesSlides/notesSlide15.xml"/><Relationship Id="Ra72bc89e017e4048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47b1b21624dc2" Type="http://schemas.openxmlformats.org/officeDocument/2006/relationships/chart" Target="charts/chart2.xml"/><Relationship Id="R78e4d3b26cdd4947" Type="http://schemas.openxmlformats.org/officeDocument/2006/relationships/notesSlide" Target="../notesSlides/notesSlide17.xml"/><Relationship Id="Ree30517e184c406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2f0a7f01c864a2c" Type="http://schemas.openxmlformats.org/officeDocument/2006/relationships/image" Target="../media/image28.png"/><Relationship Id="R60af6d0778ac407f" Type="http://schemas.openxmlformats.org/officeDocument/2006/relationships/slideLayout" Target="../slideLayouts/slideLayout1.xml"/><Relationship Id="R8004c86ae98f4506" Type="http://schemas.openxmlformats.org/officeDocument/2006/relationships/image" Target="../media/image27.png"/><Relationship Id="Re20e9554808f41cf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2a43636d51454fa5" Type="http://schemas.openxmlformats.org/officeDocument/2006/relationships/image" Target="../media/image31.png"/><Relationship Id="R38aebbbef4be4e11" Type="http://schemas.openxmlformats.org/officeDocument/2006/relationships/notesSlide" Target="../notesSlides/notesSlide19.xml"/><Relationship Id="R6a01aaf8a6b14a35" Type="http://schemas.openxmlformats.org/officeDocument/2006/relationships/image" Target="../media/image29.png"/><Relationship Id="Rb0eb451a358440dd" Type="http://schemas.openxmlformats.org/officeDocument/2006/relationships/slideLayout" Target="../slideLayouts/slideLayout1.xml"/><Relationship Id="Rfca33f426126488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08bbfa1dbdcc4729" Type="http://schemas.openxmlformats.org/officeDocument/2006/relationships/slideLayout" Target="../slideLayouts/slideLayout1.xml"/><Relationship Id="R0925dd9c1584428f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44514e415f3448fe" Type="http://schemas.openxmlformats.org/officeDocument/2006/relationships/slideLayout" Target="../slideLayouts/slideLayout1.xml"/><Relationship Id="R71a36591539d4a55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dae5502b830d4d04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1525623db041404b" Type="http://schemas.openxmlformats.org/officeDocument/2006/relationships/image" Target="../media/image2.jpeg"/><Relationship Id="R4c9225b66e5249c8" Type="http://schemas.openxmlformats.org/officeDocument/2006/relationships/slideLayout" Target="../slideLayouts/slideLayout1.xml"/><Relationship Id="Rbd903fa42f5f4f20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70b491f3d8804055" Type="http://schemas.openxmlformats.org/officeDocument/2006/relationships/image" Target="../media/image3.jpeg"/><Relationship Id="Rae6dbedb78fd42eb" Type="http://schemas.openxmlformats.org/officeDocument/2006/relationships/slideLayout" Target="../slideLayouts/slideLayout1.xml"/><Relationship Id="Rc5ad84d1788b471a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xmlns:a="http://schemas.openxmlformats.org/drawingml/2006/main"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xmlns:a="http://schemas.openxmlformats.org/drawingml/2006/main"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1450</c:v>
                </c:pt>
                <c:pt idx="1">
                  <c:v>1504</c:v>
                </c:pt>
                <c:pt idx="2">
                  <c:v>1558</c:v>
                </c:pt>
                <c:pt idx="3">
                  <c:v>1612</c:v>
                </c:pt>
                <c:pt idx="4">
                  <c:v>1666</c:v>
                </c:pt>
                <c:pt idx="5">
                  <c:v>1720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5000.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EF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2500.0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每月提交（共 166 次）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14243A"/>
              </a:solidFill>
              <a:latin typeface="Microsoft JhengHei"/>
              <a:ea typeface="Microsoft JhengHei"/>
              <a:cs typeface="Microsoft JhengHei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 xmlns:a="http://schemas.openxmlformats.org/drawingml/2006/main">
              <a:srgbClr val="2073BE"/>
            </a:solidFill>
          </c:spPr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42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3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複審 · 第115405組</a:t>
            </a:r>
            <a:endParaRPr sz="15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74520"/>
            <a:ext cx="4480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5577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11880"/>
            <a:ext cx="5577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5577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8932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項初評意見與回應頁碼，逐條對照於附錄 A、B</a:t>
            </a:r>
            <a:endParaRPr sz="1400"/>
          </a:p>
        </p:txBody>
      </p:sp>
      <p:sp>
        <p:nvSpPr>
          <p:cNvPr id="37" name="02">
            <a:extLst xmlns:a="http://schemas.openxmlformats.org/drawingml/2006/main"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b04f9e7d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201a24ca0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b08d03b21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 xmlns:a="http://schemas.openxmlformats.org/drawingml/2006/main"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951472217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60520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 xmlns:a="http://schemas.openxmlformats.org/drawingml/2006/main"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ea23fd37b4e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 xmlns:a="http://schemas.openxmlformats.org/drawingml/2006/main"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初評意見已轉成具體修正與待辦">
            <a:extLst xmlns:a="http://schemas.openxmlformats.org/drawingml/2006/main"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66950"/>
                <a:gridCol w="4533900"/>
                <a:gridCol w="3924300"/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本次分別說明：前次修正、系統完成度、功能完整性；未完成項目明">
            <a:extLst xmlns:a="http://schemas.openxmlformats.org/drawingml/2006/main"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 xmlns:a="http://schemas.openxmlformats.org/drawingml/2006/main"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120640" cy="365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4d541236d4e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0896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4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52395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 xmlns:a="http://schemas.openxmlformats.org/drawingml/2006/main"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dee5754954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2551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 xmlns:a="http://schemas.openxmlformats.org/drawingml/2006/main"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4fa01ad4945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331927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 xmlns:a="http://schemas.openxmlformats.org/drawingml/2006/main"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63660d3c6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08736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 xmlns:a="http://schemas.openxmlformats.org/drawingml/2006/main"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793fc54af4c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8554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 xmlns:a="http://schemas.openxmlformats.org/drawingml/2006/main"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 xmlns:a="http://schemas.openxmlformats.org/drawingml/2006/main"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2ABE0FF-C9C7-43A7-B316-AB38051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85A3F5F-CAC5-40D7-A02D-39DBD2B4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0.06 元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2BEA3D9-A009-4CEA-B0DD-D5E22278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每次 AI 問答（保守上限）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76224E-6880-42E4-BCC5-DD201F63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實測 prompt×官方單價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F5898B4-0D91-400B-A3E6-1EA3FA36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A85723-AC44-4CA2-ACCB-8AE9A597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27 元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DCBBE7D-2D2D-4D5C-8E2C-9C15E86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每位專業版用戶／月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7B73D4-0CE7-48A5-BF08-571B2268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問答100、洞察60、金流3%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9880F6-9021-42D8-857E-6B3D32E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D12D62-5D8D-4E45-BCFC-ED5E485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1,450 元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D8EA77-2B5E-469E-8275-5A4B4D5F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每月雲端固定支出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AC93142-C0A9-4B69-9623-0ABACA0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主機、資料庫、網域、判讀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EC6AB01-C01E-4038-B70A-DD2D8BA2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783080"/>
            <a:ext cx="2404872" cy="3703320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08BD10-8E54-4639-B49F-5A1262B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4048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損益平衡點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CBD95C2-6776-488D-8AA1-A33AB42A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14600"/>
            <a:ext cx="2404872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4 個</a:t>
            </a:r>
            <a:endParaRPr sz="5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99349E-721C-4384-ABAB-AE70C0D1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65760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專業版付費帳號／月</a:t>
            </a:r>
            <a:endParaRPr sz="1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05FECCB-D9C7-4154-8CE1-A7738D35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690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收入 1,960 ＞ 支出 1,558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1788AA-EE2A-4983-B910-E496729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7548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每月 1,450 固定支出＋每帳號 27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1E81070-A35F-42FD-8834-66AC620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86200"/>
            <a:ext cx="8046720" cy="1600200"/>
          </a:xfrm>
          <a:prstGeom xmlns:a="http://schemas.openxmlformats.org/drawingml/2006/main" prst="roundRect">
            <a:avLst>
              <a:gd name="adj" fmla="val 9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新臺幣／月；官方單價查於 10/12（1 USD≈32 元）；未含人力，見附錄 C、F。</a:t>
            </a:r>
            <a:endParaRPr sz="1400"/>
          </a:p>
        </p:txBody>
      </p:sp>
      <p:sp>
        <p:nvSpPr>
          <p:cNvPr id="29" name="07">
            <a:extLst xmlns:a="http://schemas.openxmlformats.org/drawingml/2006/main"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CF1A1B14-1B85-4032-AA9E-AA4200B256E5}"/>
              </a:ext>
            </a:extLst>
          </p:cNvPr>
          <p:cNvGraphicFramePr/>
          <p:nvPr/>
        </p:nvGraphicFramePr>
        <p:xfrm>
          <a:off xmlns:a="http://schemas.openxmlformats.org/drawingml/2006/main" x="868680" y="3959352"/>
          <a:ext xmlns:a="http://schemas.openxmlformats.org/drawingml/2006/main" cx="7772400" cy="14630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08d3aa71c14e64"/>
          </a:graphicData>
        </a:graphic>
      </p:graphicFrame>
    </p:spTree>
    <p:extLst>
      <p:ext uri="{BB962C8B-B14F-4D97-AF65-F5344CB8AC3E}">
        <p14:creationId xmlns:p14="http://schemas.microsoft.com/office/powerpoint/2010/main" val="6806162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4436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5584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0740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188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9" name="08">
            <a:extLst xmlns:a="http://schemas.openxmlformats.org/drawingml/2006/main"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1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52d51b342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312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858e9be94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0792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9996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f51fb5227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e10a7cbd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9268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9bd094e9444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007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 xmlns:a="http://schemas.openxmlformats.org/drawingml/2006/main"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19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7235476fd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1450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d67d940a443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4680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60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9eaac7ee7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2564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37a106ac240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2744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4324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0099d6fa6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0628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 xmlns:a="http://schemas.openxmlformats.org/drawingml/2006/main"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ff8319c49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0808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hape 17">
            <a:extLst xmlns:a="http://schemas.openxmlformats.org/drawingml/2006/main"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238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6" name="Image 6">
            <a:extLst xmlns:a="http://schemas.openxmlformats.org/drawingml/2006/main"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76296cb549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69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 xmlns:a="http://schemas.openxmlformats.org/drawingml/2006/main"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 xmlns:a="http://schemas.openxmlformats.org/drawingml/2006/main"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 xmlns:a="http://schemas.openxmlformats.org/drawingml/2006/main"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AG：先找證據，再依問題整理答案">
            <a:extLst xmlns:a="http://schemas.openxmlformats.org/drawingml/2006/main"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" name="1｜解析問題">
            <a:extLst xmlns:a="http://schemas.openxmlformats.org/drawingml/2006/main"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 xmlns:a="http://schemas.openxmlformats.org/drawingml/2006/main"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2｜雙路檢索">
            <a:extLst xmlns:a="http://schemas.openxmlformats.org/drawingml/2006/main"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 xmlns:a="http://schemas.openxmlformats.org/drawingml/2006/main"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3｜融合證據">
            <a:extLst xmlns:a="http://schemas.openxmlformats.org/drawingml/2006/main"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 xmlns:a="http://schemas.openxmlformats.org/drawingml/2006/main"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4｜生成與回查">
            <a:extLst xmlns:a="http://schemas.openxmlformats.org/drawingml/2006/main"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 xmlns:a="http://schemas.openxmlformats.org/drawingml/2006/main"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 xmlns:a="http://schemas.openxmlformats.org/drawingml/2006/main"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 xmlns:a="http://schemas.openxmlformats.org/drawingml/2006/main"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 xmlns:a="http://schemas.openxmlformats.org/drawingml/2006/main"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29175"/>
            <a:ext cx="1072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向量無結果時回退關鍵字；引用可核對來源，但仍需驗證答案品質。">
            <a:extLst xmlns:a="http://schemas.openxmlformats.org/drawingml/2006/main"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 xmlns:a="http://schemas.openxmlformats.org/drawingml/2006/main"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10725912" cy="128016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107259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07259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4" name="12">
            <a:extLst xmlns:a="http://schemas.openxmlformats.org/drawingml/2006/main"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74151dbb54a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d62c036fe49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0eded80b1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 xmlns:a="http://schemas.openxmlformats.org/drawingml/2006/main"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一條研究流程，對應六組可操作功能">
            <a:extLst xmlns:a="http://schemas.openxmlformats.org/drawingml/2006/main"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5010150"/>
                <a:gridCol w="3886200"/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涵蓋搜尋 → 分析 → 問答 → 回查 → 留存 → 輸出；">
            <a:extLst xmlns:a="http://schemas.openxmlformats.org/drawingml/2006/main"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 xmlns:a="http://schemas.openxmlformats.org/drawingml/2006/main"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emo：完成一次跨平台口碑研究">
            <a:extLst xmlns:a="http://schemas.openxmlformats.org/drawingml/2006/main"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bc89e017e4048"/>
          <a:stretch xmlns:a="http://schemas.openxmlformats.org/drawingml/2006/main"/>
        </p:blipFill>
        <p:spPr>
          <a:xfrm xmlns:a="http://schemas.openxmlformats.org/drawingml/2006/main">
            <a:off x="1584325" y="1771650"/>
            <a:ext cx="6032500" cy="3771900"/>
          </a:xfrm>
          <a:prstGeom xmlns:a="http://schemas.openxmlformats.org/drawingml/2006/main" prst="rect">
            <a:avLst/>
          </a:prstGeom>
        </p:spPr>
      </p:pic>
      <p:sp>
        <p:nvSpPr>
          <p:cNvPr id="4" name="01  範圍與趨勢">
            <a:extLst xmlns:a="http://schemas.openxmlformats.org/drawingml/2006/main"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145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 xmlns:a="http://schemas.openxmlformats.org/drawingml/2006/main"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812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 xmlns:a="http://schemas.openxmlformats.org/drawingml/2006/main"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2575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 xmlns:a="http://schemas.openxmlformats.org/drawingml/2006/main"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724275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 xmlns:a="http://schemas.openxmlformats.org/drawingml/2006/main"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7434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 xmlns:a="http://schemas.openxmlformats.org/drawingml/2006/main"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238750"/>
            <a:ext cx="2686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示範重點：相同查詢條件、可回查的來源、可留存的結果。">
            <a:extLst xmlns:a="http://schemas.openxmlformats.org/drawingml/2006/main"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 xmlns:a="http://schemas.openxmlformats.org/drawingml/2006/main"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34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17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99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30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60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112264"/>
            <a:ext cx="1285875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12264"/>
            <a:ext cx="1340739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691" y="2112264"/>
            <a:ext cx="1554023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259" y="2112264"/>
            <a:ext cx="1608887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78" y="2112264"/>
            <a:ext cx="4414266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146" y="2112264"/>
            <a:ext cx="446913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708" y="2112264"/>
            <a:ext cx="3252292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76" y="2112264"/>
            <a:ext cx="330715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343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9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362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018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87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3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66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02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035040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383280"/>
            <a:ext cx="4507992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547872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爬蟲、儀表板、WebSocket</a:t>
            </a:r>
            <a:endParaRPr sz="140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31920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帳號登入與角色權限</a:t>
            </a:r>
            <a:endParaRPr sz="1400"/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315968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Dcard、Mobile01、Threads</a:t>
            </a:r>
            <a:endParaRPr sz="140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700016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方案額度、Alembic、向量檢索</a:t>
            </a:r>
            <a:endParaRPr sz="1400"/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084064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情緒一致性、預警與問答修正</a:t>
            </a:r>
            <a:endParaRPr sz="140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152 次提交（10/12 統計，皆已推送）；非逐人貢獻比例。</a:t>
            </a:r>
            <a:endParaRPr sz="1400"/>
          </a:p>
        </p:txBody>
      </p:sp>
      <p:sp>
        <p:nvSpPr>
          <p:cNvPr id="55" name="17">
            <a:extLst xmlns:a="http://schemas.openxmlformats.org/drawingml/2006/main"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  <p:graphicFrame>
        <p:nvGraphicFramePr>
          <p:cNvPr id="56" name="Chart">
            <a:extLst xmlns:a="http://schemas.openxmlformats.org/drawingml/2006/main"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mlns:a="http://schemas.openxmlformats.org/drawingml/2006/main" x="914400" y="3474720"/>
          <a:ext xmlns:a="http://schemas.openxmlformats.org/drawingml/2006/main" cx="5669280" cy="19659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47b1b21624dc2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4c86ae98f45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3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1">
            <a:extLst xmlns:a="http://schemas.openxmlformats.org/drawingml/2006/main"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0a7f01c86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456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 xmlns:a="http://schemas.openxmlformats.org/drawingml/2006/main"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1aaf8a6b1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33f426126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3636d5145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 xmlns:a="http://schemas.openxmlformats.org/drawingml/2006/main"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</p:sld>
</file>

<file path=ppt/slides/slide19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定位、營運與實作（1/2）">
            <a:extLst xmlns:a="http://schemas.openxmlformats.org/drawingml/2006/main"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實際月份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提交紀錄；p17 分工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</p:sld>
</file>

<file path=ppt/slides/slide20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資料品質與驗證（2/2）">
            <a:extLst xmlns:a="http://schemas.openxmlformats.org/drawingml/2006/main"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TOWS；p18 後續策略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編號依「初評評審意見整理」第 3 頁；原錄音 29:58 後">
            <a:extLst xmlns:a="http://schemas.openxmlformats.org/drawingml/2006/main"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 xmlns:a="http://schemas.openxmlformats.org/drawingml/2006/main"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</p:sld>
</file>

<file path=ppt/slides/slide2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12～21 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95900"/>
                <a:gridCol w="2400300"/>
                <a:gridCol w="30289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每帳號月貢獻＝月費 490 − 變動費 45＝445 元">
            <a:extLst xmlns:a="http://schemas.openxmlformats.org/drawingml/2006/main"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1072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slides/slide22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I 問答：從回答回到引用文章">
            <a:extLst xmlns:a="http://schemas.openxmlformats.org/drawingml/2006/main"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5623db041404b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既有管理員操作截圖（2026/10/07）；示範引用回查，不">
            <a:extLst xmlns:a="http://schemas.openxmlformats.org/drawingml/2006/main"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 xmlns:a="http://schemas.openxmlformats.org/drawingml/2006/main"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</p:sld>
</file>

<file path=ppt/slides/slide23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歷史比較：保留兩次查詢的分析結果">
            <a:extLst xmlns:a="http://schemas.openxmlformats.org/drawingml/2006/main"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491f3d8804055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沿用原稿實際畫面；確認兩次範圍與分母後再解讀差異。">
            <a:extLst xmlns:a="http://schemas.openxmlformats.org/drawingml/2006/main"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 xmlns:a="http://schemas.openxmlformats.org/drawingml/2006/main"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</p:sld>
</file>

<file path=ppt/slides/slide24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912" cy="371246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4343400"/>
                <a:gridCol w="4142232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兩次呼叫：輸入 9,794＋輸出 2,150 ≈ 0.06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2026-10-12T01:12:13.2290000Z</dcterms:created>
  <dcterms:modified xsi:type="dcterms:W3CDTF">2026-10-12T01:12:13.2290000Z</dcterms:modified>
</coreProperties>
</file>