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19235a80dd470f" Type="http://schemas.openxmlformats.org/officeDocument/2006/relationships/extended-properties" Target="docProps/app.xml"/><Relationship Id="R379c7d836b9f4d6d" Type="http://schemas.openxmlformats.org/officeDocument/2006/relationships/officeDocument" Target="ppt/presentation.xml"/><Relationship Id="Rfd98f56988d64dae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c67a75a5af4a2c"/>
  </p:sldMasterIdLst>
  <p:notesMasterIdLst>
    <p:notesMasterId xmlns:r="http://schemas.openxmlformats.org/officeDocument/2006/relationships" r:id="Rc8f86db9c5514a3e"/>
  </p:notesMasterIdLst>
  <p:sldIdLst>
    <p:sldId xmlns:r="http://schemas.openxmlformats.org/officeDocument/2006/relationships" id="256" r:id="Radea79d4f7ff4756"/>
    <p:sldId xmlns:r="http://schemas.openxmlformats.org/officeDocument/2006/relationships" id="257" r:id="R11db7550635f407c"/>
    <p:sldId xmlns:r="http://schemas.openxmlformats.org/officeDocument/2006/relationships" id="258" r:id="R3a98a6a0a2b54500"/>
    <p:sldId xmlns:r="http://schemas.openxmlformats.org/officeDocument/2006/relationships" id="259" r:id="R10b042ee02634ef9"/>
    <p:sldId xmlns:r="http://schemas.openxmlformats.org/officeDocument/2006/relationships" id="260" r:id="R569ab92c3a9b4131"/>
    <p:sldId xmlns:r="http://schemas.openxmlformats.org/officeDocument/2006/relationships" id="261" r:id="Red6d3cd09e224511"/>
    <p:sldId xmlns:r="http://schemas.openxmlformats.org/officeDocument/2006/relationships" id="262" r:id="Rac1cfeb6b5c843a9"/>
    <p:sldId xmlns:r="http://schemas.openxmlformats.org/officeDocument/2006/relationships" id="263" r:id="R829edaa4e55a4413"/>
    <p:sldId xmlns:r="http://schemas.openxmlformats.org/officeDocument/2006/relationships" id="264" r:id="Ref6f276d3d3f4e41"/>
    <p:sldId xmlns:r="http://schemas.openxmlformats.org/officeDocument/2006/relationships" id="265" r:id="Rd21e37e9e21f425f"/>
    <p:sldId xmlns:r="http://schemas.openxmlformats.org/officeDocument/2006/relationships" id="266" r:id="R2bfc11a4122143c4"/>
    <p:sldId xmlns:r="http://schemas.openxmlformats.org/officeDocument/2006/relationships" id="267" r:id="R55d3c241009a4d00"/>
    <p:sldId xmlns:r="http://schemas.openxmlformats.org/officeDocument/2006/relationships" id="268" r:id="R2e34a04d4951441f"/>
    <p:sldId xmlns:r="http://schemas.openxmlformats.org/officeDocument/2006/relationships" id="269" r:id="Rc0e2eaea6c8a454c"/>
    <p:sldId xmlns:r="http://schemas.openxmlformats.org/officeDocument/2006/relationships" id="270" r:id="Rc427127a7a1a4820"/>
    <p:sldId xmlns:r="http://schemas.openxmlformats.org/officeDocument/2006/relationships" id="271" r:id="Rd84d0f967edf4479"/>
    <p:sldId xmlns:r="http://schemas.openxmlformats.org/officeDocument/2006/relationships" id="272" r:id="Rb13b1a1201294e36"/>
    <p:sldId xmlns:r="http://schemas.openxmlformats.org/officeDocument/2006/relationships" id="273" r:id="R24f78b4f98114178"/>
    <p:sldId xmlns:r="http://schemas.openxmlformats.org/officeDocument/2006/relationships" id="274" r:id="R2ffa6da9ff1d4ab9"/>
    <p:sldId xmlns:r="http://schemas.openxmlformats.org/officeDocument/2006/relationships" id="275" r:id="R4708094973ba48ba"/>
    <p:sldId xmlns:r="http://schemas.openxmlformats.org/officeDocument/2006/relationships" id="276" r:id="Rb39dd1583b024f6c"/>
    <p:sldId xmlns:r="http://schemas.openxmlformats.org/officeDocument/2006/relationships" id="277" r:id="R12df4e686d1f40a1"/>
    <p:sldId xmlns:r="http://schemas.openxmlformats.org/officeDocument/2006/relationships" id="278" r:id="Rffaa51bbbf104dc2"/>
    <p:sldId xmlns:r="http://schemas.openxmlformats.org/officeDocument/2006/relationships" id="279" r:id="Rb95112417bb145c4"/>
    <p:sldId xmlns:r="http://schemas.openxmlformats.org/officeDocument/2006/relationships" id="280" r:id="rId1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10b042ee02634ef9" Type="http://schemas.openxmlformats.org/officeDocument/2006/relationships/slide" Target="slides/slide4.xml"/><Relationship Id="R11db7550635f407c" Type="http://schemas.openxmlformats.org/officeDocument/2006/relationships/slide" Target="slides/slide2.xml"/><Relationship Id="R12df4e686d1f40a1" Type="http://schemas.openxmlformats.org/officeDocument/2006/relationships/slide" Target="slides/slide22.xml"/><Relationship Id="R18c67a75a5af4a2c" Type="http://schemas.openxmlformats.org/officeDocument/2006/relationships/slideMaster" Target="slideMasters/slideMaster1.xml"/><Relationship Id="R24f78b4f98114178" Type="http://schemas.openxmlformats.org/officeDocument/2006/relationships/slide" Target="slides/slide18.xml"/><Relationship Id="R2bfc11a4122143c4" Type="http://schemas.openxmlformats.org/officeDocument/2006/relationships/slide" Target="slides/slide11.xml"/><Relationship Id="R2e34a04d4951441f" Type="http://schemas.openxmlformats.org/officeDocument/2006/relationships/slide" Target="slides/slide13.xml"/><Relationship Id="R2ffa6da9ff1d4ab9" Type="http://schemas.openxmlformats.org/officeDocument/2006/relationships/slide" Target="slides/slide19.xml"/><Relationship Id="R3a98a6a0a2b54500" Type="http://schemas.openxmlformats.org/officeDocument/2006/relationships/slide" Target="slides/slide3.xml"/><Relationship Id="R4708094973ba48ba" Type="http://schemas.openxmlformats.org/officeDocument/2006/relationships/slide" Target="slides/slide20.xml"/><Relationship Id="R48302ea2729449b5" Type="http://schemas.openxmlformats.org/officeDocument/2006/relationships/viewProps" Target="viewProps.xml"/><Relationship Id="R55d3c241009a4d00" Type="http://schemas.openxmlformats.org/officeDocument/2006/relationships/slide" Target="slides/slide12.xml"/><Relationship Id="R569ab92c3a9b4131" Type="http://schemas.openxmlformats.org/officeDocument/2006/relationships/slide" Target="slides/slide5.xml"/><Relationship Id="R829edaa4e55a4413" Type="http://schemas.openxmlformats.org/officeDocument/2006/relationships/slide" Target="slides/slide8.xml"/><Relationship Id="R83aa45f86dda4af3" Type="http://schemas.openxmlformats.org/officeDocument/2006/relationships/theme" Target="theme/theme1.xml"/><Relationship Id="R8d697a7c29d84f4a" Type="http://schemas.openxmlformats.org/officeDocument/2006/relationships/tableStyles" Target="tableStyles.xml"/><Relationship Id="Rac1cfeb6b5c843a9" Type="http://schemas.openxmlformats.org/officeDocument/2006/relationships/slide" Target="slides/slide7.xml"/><Relationship Id="Radea79d4f7ff4756" Type="http://schemas.openxmlformats.org/officeDocument/2006/relationships/slide" Target="slides/slide1.xml"/><Relationship Id="Rb13b1a1201294e36" Type="http://schemas.openxmlformats.org/officeDocument/2006/relationships/slide" Target="slides/slide17.xml"/><Relationship Id="Rb39dd1583b024f6c" Type="http://schemas.openxmlformats.org/officeDocument/2006/relationships/slide" Target="slides/slide21.xml"/><Relationship Id="Rb95112417bb145c4" Type="http://schemas.openxmlformats.org/officeDocument/2006/relationships/slide" Target="slides/slide24.xml"/><Relationship Id="Rc0e2eaea6c8a454c" Type="http://schemas.openxmlformats.org/officeDocument/2006/relationships/slide" Target="slides/slide14.xml"/><Relationship Id="Rc427127a7a1a4820" Type="http://schemas.openxmlformats.org/officeDocument/2006/relationships/slide" Target="slides/slide15.xml"/><Relationship Id="Rc8f86db9c5514a3e" Type="http://schemas.openxmlformats.org/officeDocument/2006/relationships/notesMaster" Target="notesMasters/notesMaster1.xml"/><Relationship Id="Rd21e37e9e21f425f" Type="http://schemas.openxmlformats.org/officeDocument/2006/relationships/slide" Target="slides/slide10.xml"/><Relationship Id="Rd84d0f967edf4479" Type="http://schemas.openxmlformats.org/officeDocument/2006/relationships/slide" Target="slides/slide16.xml"/><Relationship Id="Red6d3cd09e224511" Type="http://schemas.openxmlformats.org/officeDocument/2006/relationships/slide" Target="slides/slide6.xml"/><Relationship Id="Ref6b1207244e4fde" Type="http://schemas.openxmlformats.org/officeDocument/2006/relationships/presProps" Target="presProps.xml"/><Relationship Id="Ref6f276d3d3f4e41" Type="http://schemas.openxmlformats.org/officeDocument/2006/relationships/slide" Target="slides/slide9.xml"/><Relationship Id="Rffaa51bbbf104dc2" Type="http://schemas.openxmlformats.org/officeDocument/2006/relationships/slide" Target="slides/slide23.xml"/><Relationship Id="rId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2463a48d7d6d4e9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b649ce81024607" Type="http://schemas.openxmlformats.org/officeDocument/2006/relationships/slide" Target="../slides/slide1.xml"/><Relationship Id="R6d64a4bf07d548a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b46ec409b14346cd" Type="http://schemas.openxmlformats.org/officeDocument/2006/relationships/slide" Target="../slides/slide2.xml"/><Relationship Id="Rb95e62b5b8c6438e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15086b17342b4235" Type="http://schemas.openxmlformats.org/officeDocument/2006/relationships/slide" Target="../slides/slide3.xml"/><Relationship Id="R1c199b29a56349c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f0f3852014a4973" Type="http://schemas.openxmlformats.org/officeDocument/2006/relationships/slide" Target="../slides/slide4.xml"/><Relationship Id="R7ea915cd1dfd45fe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159ea4c93d444875" Type="http://schemas.openxmlformats.org/officeDocument/2006/relationships/notesMaster" Target="../notesMasters/notesMaster1.xml"/><Relationship Id="Ra85e001892b74c3a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6da9e0564a274628" Type="http://schemas.openxmlformats.org/officeDocument/2006/relationships/slide" Target="../slides/slide6.xml"/><Relationship Id="Rd013d9f63cd94609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5537ce385c5a42a1" Type="http://schemas.openxmlformats.org/officeDocument/2006/relationships/slide" Target="../slides/slide7.xml"/><Relationship Id="Rb64482f81c304d5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237947cc00424d18" Type="http://schemas.openxmlformats.org/officeDocument/2006/relationships/slide" Target="../slides/slide8.xml"/><Relationship Id="Rc70eb2f0dfae4b2c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e73cbfb0d92340e6" Type="http://schemas.openxmlformats.org/officeDocument/2006/relationships/slide" Target="../slides/slide9.xml"/><Relationship Id="Rf0e156a1f5884776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0e342fd2545e49d5" Type="http://schemas.openxmlformats.org/officeDocument/2006/relationships/slide" Target="../slides/slide10.xml"/><Relationship Id="R66d5126917754af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06ea539557664161" Type="http://schemas.openxmlformats.org/officeDocument/2006/relationships/slide" Target="../slides/slide11.xml"/><Relationship Id="R296ca5b331a049e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9a064a925bc94004" Type="http://schemas.openxmlformats.org/officeDocument/2006/relationships/slide" Target="../slides/slide12.xml"/><Relationship Id="Rdd1f04eb156d4f7e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34dd49949b104217" Type="http://schemas.openxmlformats.org/officeDocument/2006/relationships/notesMaster" Target="../notesMasters/notesMaster1.xml"/><Relationship Id="R5d54386832dd43cc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051ef945d0c94d19" Type="http://schemas.openxmlformats.org/officeDocument/2006/relationships/slide" Target="../slides/slide14.xml"/><Relationship Id="Rc962ab0351264c8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b968fc25d9a4fc3" Type="http://schemas.openxmlformats.org/officeDocument/2006/relationships/slide" Target="../slides/slide15.xml"/><Relationship Id="Rb7ffff9b8cc549e6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83dc468999404392" Type="http://schemas.openxmlformats.org/officeDocument/2006/relationships/slide" Target="../slides/slide16.xml"/><Relationship Id="Rf5c43c42726a4cac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401daa6a99954ada" Type="http://schemas.openxmlformats.org/officeDocument/2006/relationships/slide" Target="../slides/slide17.xml"/><Relationship Id="R8d301155e3354643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630b5878bd0a4711" Type="http://schemas.openxmlformats.org/officeDocument/2006/relationships/slide" Target="../slides/slide18.xml"/><Relationship Id="Ra044546b8af14867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7e41db750aa042fe" Type="http://schemas.openxmlformats.org/officeDocument/2006/relationships/slide" Target="../slides/slide19.xml"/><Relationship Id="R965e248ddefb4984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6a84526236784c74" Type="http://schemas.openxmlformats.org/officeDocument/2006/relationships/slide" Target="../slides/slide20.xml"/><Relationship Id="R71a3a12ca8aa4bd9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28b3d0a1cac74484" Type="http://schemas.openxmlformats.org/officeDocument/2006/relationships/slide" Target="../slides/slide21.xml"/><Relationship Id="R76c52be131864a5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4e544a27524e495f" Type="http://schemas.openxmlformats.org/officeDocument/2006/relationships/slide" Target="../slides/slide22.xml"/><Relationship Id="R7d9b5b6605904ae4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2624a2a8c1ad4db5" Type="http://schemas.openxmlformats.org/officeDocument/2006/relationships/notesMaster" Target="../notesMasters/notesMaster1.xml"/><Relationship Id="R9275044152474614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8b3e347d967b4e47" Type="http://schemas.openxmlformats.org/officeDocument/2006/relationships/slide" Target="../slides/slide24.xml"/><Relationship Id="R9c1de09e323d4745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【陳威帆｜20 秒】老師好，我們是第115405組，專題為MeBOD醫美時尚輿情分析系統。今天說明初評後的修正、系統完成度及功能完整性。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【陳威帆｜15 秒】先談問題與營運，再由家全說明技術、功能與Demo，最後回到進度與限制。主講14分30秒，保留30秒緩衝；附錄供問答使用。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【陳威帆｜40 秒】原始動機是資料分散、觀點混雜、結論難回查。研究人員需要先定義範圍，閱讀圖表與原文，再留存追蹤。MeBOD整合這段流程，是行銷觀察工具；網路討論不等同醫療療效。來源：使用者原稿第3頁；初評評審意見整理.pdf第1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秒】這頁先回應初評。定位、檢索、評分與驗證都有具體補強，但實作完成不代表品質驗證完成。完整 16 項對照列在附錄。來源：初評評審意見整理.pdf 第 3 頁；backend/app/models/database_models.py；backend/app/services/rag_service.py。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【陳威帆｜40 秒】主要使用者是需定期觀察口碑的小型團隊。以機構規模、觀察主題與頻率區隔。MeBOD 把查詢、歷史與監測放在固定流程；不宣稱通用 AI 無法搜尋或引用。需求交流依初評口頭報告，正式訪談紀錄待補。來源：初評評審意見整理.pdf 第 1、3 頁；frontend/src/views/HistoryView.vue、ReportView.vue。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秒】九個區塊串起訂閱服務：小型團隊透過網頁整理口碑，我們維護收錄、分析與檢索，以方案額度區分免費、專業、企業三級。專業版 490、企業版 1,990 都是假設價格，系統已有方案額度但尚未串接收款。成本結構依下一頁實測重算：雲端主機與資料庫是主要固定支出，模型呼叫很便宜，金流手續費與維運人力反而是大頭。來源：backend/app/models/database_models.py（plans）；附錄 C、F。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【陳威帆｜45 秒】初評說我們沒有量化，這頁用實測重算，不再沿用原稿的假設單價。一次 AI 問答：用系統程式組出真實 prompt，最多約 9 千 token 輸入、2 千 token 輸出，以 Gemini 2.5 Flash-Lite 官方價每百萬 0.10／0.40 美元計算，約 0.06 元，原稿假設 0.33 元高估了五倍。專業版用戶每月 100 次問答、60 次洞察，加上 3% 金流手續費，變動成本約 27 元。固定支出以 render.yaml 的雲端部署計：主機 25 美元、資料庫 19 美元，加網域與每日判讀約 1,450 元。收入 490N、支出 1,450＋27N，4 個帳號就能打平，每月餘 402 元。但這還沒算人力，算進去要 12 到 21 個帳號，見附錄 C；每個數字的出處在附錄 F。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SWOT不能停在名詞，TOWS把條件轉成行動：用持續監測爭取試用，以歷史資料和回查流程面對通用代理，透過人工標註補品質，並以額度與備份降低外部服務風險。這些是待驗證策略，不是已量測的優勢。評審最後一段錄音未完整轉錄，仍需補聽。來源：初評評審意見整理.pdf第2–3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Vue介面透過FastAPI存取PostgreSQL，服務層提供分析、檢索及匯出，另接Gemini和四平台收錄。現行ORM有18張表。權限一律在後端檢查；上一版列為缺口的預警已讀端點，已於10/12修正為只能操作自己的預警，並補上跨帳號測試。來源：backend/app/models/database_models.py、backend/app/routers/monitor.py、backend/tests/test_monitor_api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【許家全｜40 秒】管理員手動與每日排程觸發收錄；租約鎖避免重複執行，WebSocket推進度。相關性分數是標題命中權重3、內文1；Dcard/Mobile01/Threads門檻2。PTT依看板另判斷，不能一概說同一門檻。這些只是相關性規則，不等於辨識業配與真假。來源：backend/app/services/relevance_filter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秒】初評指出只有 keyword 比對。現在先解析問題意圖，再以關鍵字和向量雙路找證據，RRF 合併排序後給模型作答。資料預先切段並建立向量；向量無結果時回退關鍵字。引用支持人工回查，不保證每句結論都有充分證據。尚未完成專家知識庫和固定題組評估。來源：backend/app/services/rag_service.py（parse_question_intent、RRF_K、混合檢索）；embedding_service.py；article_compressor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兩種問題分開回答。第一，同一批100篇由另一模型Claude盲標，與目前report.txt結果82%一致，kappa0.726約0.73，負面precision18/27約0.67。第二，temperature從0.3改為0後，本批重跑變動從12篇降到0篇；10/06已用相同設定重評全庫10,344篇文章與6,319則留言。分數是50+(正面百分比−負面百分比)/2，例60%、10%得到75。比較須固定資料範圍與分母，分數不是療程成效。來源：docs/manual-work/sentiment-eval/report.txt、temp0_run1.txt、temp0_run2.txt；backend/app/routers/analysis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【許家全｜40 秒】系統完成度用已實作、待驗證及規劃三欄說明。未建立權重和驗收分母，不用百分比。上一版的預警已讀帳號隔離已修正並補測試；Linux部署、負載與模型品質仍需驗證。來源：backend/app/routers/monitor.py；各前端功能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【許家全｜35 秒】功能完整性從使用者流程檢查。從範圍設定、讀圖、問答回查，到歷史與匯出都有對應畫面與輸出。監測預警依帳號隔離，10/12 補上跨帳號測試。報告使用瀏覽器列印，不是獨立伺服器PDF生成。來源：frontend/src/views/DashboardView.vue、QAView.vue、HistoryView.vue、ReportView.vue、MonitorView.vue；backend/app/routers/monitor.py。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【許家全｜140 秒】預先登入正確帳號並備妥兩筆歷史。0–45秒：查詢醫美、設定平台與期間，讀趨勢並點文章。45–95秒：詢問消費者關注重點，展開引用並回原文；可用已完成的答案避免現場等待。95–140秒：歷史比較並匯出Excel。若網站10秒無回應，改以本頁和附錄實際畫面說明，不宣稱即時成功。畫面為原稿嵌入截圖，其數字只屬拍攝當時查詢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【許家全｜35 秒】PostgreSQL10項可核對2026/10/03原始XML；E2E4項可核對2026/09/27 17:14的all-results.xml，較早一份曾有1項失敗，保留失敗歷程。後端pytest與前端Vitest已於10/12重跑：後端493通過、1略過，前端43通過，報告存於backend/.test-artifacts。高負載、人工標註與檢索題組尚待驗證。來源：backend/.test-artifacts/pytest-20261012.xml、vitest-20261012.xml、postgres-results.xml、all-results.xml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【陳威帆｜45 秒】甘特圖保留原稿115/2至116/1的計畫，10月後為計畫工作。繳件與展覽日期沿用原稿，發表前仍按學校公告確認。提交數由GitHub遠端於2026/10/12確認：5月14、6月0、7月27、8月42、9月47、10月30，總160；7–10月146，皆已推送。提交集中於單一帳號，不能當作兩位組員的貢獻比例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【陳威帆｜30 秒】威帆負責需求、營運、文件統整與報告；家全負責架構、後端、爬蟲、模型、前端與測試。沿用原稿工作分配；程式提交和文件交付分別佐證，不能把單一作者提交數當兩人貢獻比例。來源：使用者原稿第16頁；本機Git提交歷史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【陳威帆｜105 秒】總結三點：一、四平台到問答與報告形成完整研究流程；二、RAG與分數規則已可說明，測試報告可核對；三、尚未把品質驗證說成全部完成。下一步依序補Linux部署回歸、建立人工標註和檢索題組、辨識業配，再與實際使用者訪談試用。營運上，實測重算後4個專業版帳號可打平雲端支出，算入人力則需12到21個。與通用代理的差異需要同題實測，現階段著重長期資料、來源回查與持續監測。結束於14:30，保留30秒緩衝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備詢：編號與名稱依使用者提供初評評審意見整理.pdf第3頁。回應頁碼按本簡報更新。成本和商業模式屬文件與情境補強，不宣稱市場驗證完成。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來源：使用者提供初評評審意見整理.pdf第3頁編號；第1–2頁轉錄範圍。R13是與通用AI的差異，不是R12使用對象的重複。現有手冊未在本次全面重做驗收，所以R16保留同步確認，不標成完全完成。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備詢：人力以115年基本工資時薪196元計，每月20或40小時維運。固定支出1,450＋3,920＝5,370，÷463取整為12；1,450＋7,840＝9,290，÷463取整為21。企業版建議價1,990為假設：重度使用者每月1,000次問答約60元、200次洞察約20元、金流3%約60元，貢獻約1,850元，約等於4個專業版。要回答何時獲利，還需實際帳單、獲客速度與開發投入，目前沒有可支持的日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來源：docs/demo-work/admin-male/screens/09-sources.png。現場備援，不計入主講時間。可說明引用清單、平台與文章連結；不要把畫面個案當作模型整體準確度。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來源：使用者原稿第13頁第三張圖片。此圖證明比較介面，不把查詢分數當作商業績效。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備詢：本頁列出第7頁與附錄C每個數字的算法。token數由backend/scripts/measure_llm_cost.py以系統實際組prompt的函式量測，不呼叫模型；中文以1字約1 token估算，英文與數字其實更省，結果偏高。Gemini單價查自ai.google.dev/gemini-api/docs/pricing（10/12）；embedding單價依Google開發者部落格公告；Render價格為第三方整理，正式採用前要以官網確認；金流3%為假設。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cf9445b06112459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7ba28082e2c54961" Type="http://schemas.openxmlformats.org/officeDocument/2006/relationships/theme" Target="theme/theme2.xml"/><Relationship Id="Re85e8a642e5f4846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5e8a642e5f484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649e0e8ad7b410a" Type="http://schemas.openxmlformats.org/officeDocument/2006/relationships/notesSlide" Target="../notesSlides/notesSlide1.xml"/><Relationship Id="R55c00344031245cb" Type="http://schemas.openxmlformats.org/officeDocument/2006/relationships/image" Target="../media/image.png"/><Relationship Id="Radc0508706144525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0eee109fbb554b05" Type="http://schemas.openxmlformats.org/officeDocument/2006/relationships/slideLayout" Target="../slideLayouts/slideLayout1.xml"/><Relationship Id="R8afccc18fad5467c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95201a24ca0498e" Type="http://schemas.openxmlformats.org/officeDocument/2006/relationships/image" Target="../media/image3.png"/><Relationship Id="R3899514722174a77" Type="http://schemas.openxmlformats.org/officeDocument/2006/relationships/image" Target="../media/image5.png"/><Relationship Id="Rc30b04f9e7da435d" Type="http://schemas.openxmlformats.org/officeDocument/2006/relationships/image" Target="../media/image2.png"/><Relationship Id="Re73dbbea15924fe5" Type="http://schemas.openxmlformats.org/officeDocument/2006/relationships/notesSlide" Target="../notesSlides/notesSlide3.xml"/><Relationship Id="Rf27ea23fd37b4eb8" Type="http://schemas.openxmlformats.org/officeDocument/2006/relationships/image" Target="../media/image6.png"/><Relationship Id="Rf3b473d3d504464d" Type="http://schemas.openxmlformats.org/officeDocument/2006/relationships/slideLayout" Target="../slideLayouts/slideLayout1.xml"/><Relationship Id="Rfeab08d03b2144be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3fdc4b1d84df46c6" Type="http://schemas.openxmlformats.org/officeDocument/2006/relationships/slideLayout" Target="../slideLayouts/slideLayout1.xml"/><Relationship Id="Rbd7f833843f8476b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0dcdee5754954769" Type="http://schemas.openxmlformats.org/officeDocument/2006/relationships/image" Target="../media/image8.png"/><Relationship Id="R2b2793fc54af4c2f" Type="http://schemas.openxmlformats.org/officeDocument/2006/relationships/image" Target="../media/image11.png"/><Relationship Id="R2f24d541236d4eed" Type="http://schemas.openxmlformats.org/officeDocument/2006/relationships/image" Target="../media/image7.png"/><Relationship Id="R65c4fa01ad494501" Type="http://schemas.openxmlformats.org/officeDocument/2006/relationships/image" Target="../media/image9.png"/><Relationship Id="Rb563eb1eb43e40fa" Type="http://schemas.openxmlformats.org/officeDocument/2006/relationships/slideLayout" Target="../slideLayouts/slideLayout1.xml"/><Relationship Id="Rcfd63660d3c645c4" Type="http://schemas.openxmlformats.org/officeDocument/2006/relationships/image" Target="../media/image10.png"/><Relationship Id="Rd696f70348134c4e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83559a28ae2945a4" Type="http://schemas.openxmlformats.org/officeDocument/2006/relationships/slideLayout" Target="../slideLayouts/slideLayout1.xml"/><Relationship Id="Ra785a8f8b99b4a2a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0c08d3aa71c14e64" Type="http://schemas.openxmlformats.org/officeDocument/2006/relationships/chart" Target="charts/chart1.xml"/><Relationship Id="R44a53801fe8146c0" Type="http://schemas.openxmlformats.org/officeDocument/2006/relationships/slideLayout" Target="../slideLayouts/slideLayout1.xml"/><Relationship Id="Rb05740cd89044df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453f01ddc65e41dd" Type="http://schemas.openxmlformats.org/officeDocument/2006/relationships/notesSlide" Target="../notesSlides/notesSlide8.xml"/><Relationship Id="Rd96feda1b459465d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03352d51b3424685" Type="http://schemas.openxmlformats.org/officeDocument/2006/relationships/image" Target="../media/image12.png"/><Relationship Id="R47a7e10a7cbd495d" Type="http://schemas.openxmlformats.org/officeDocument/2006/relationships/image" Target="../media/image15.png"/><Relationship Id="Rb572b57b6dd346aa" Type="http://schemas.openxmlformats.org/officeDocument/2006/relationships/notesSlide" Target="../notesSlides/notesSlide9.xml"/><Relationship Id="Rbeca82d1c5754fcf" Type="http://schemas.openxmlformats.org/officeDocument/2006/relationships/slideLayout" Target="../slideLayouts/slideLayout1.xml"/><Relationship Id="Rc5ff51fb52274bfe" Type="http://schemas.openxmlformats.org/officeDocument/2006/relationships/image" Target="../media/image14.png"/><Relationship Id="Re511858e9be94825" Type="http://schemas.openxmlformats.org/officeDocument/2006/relationships/image" Target="../media/image13.png"/><Relationship Id="Re689bd094e9444ac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06237a106ac24052" Type="http://schemas.openxmlformats.org/officeDocument/2006/relationships/image" Target="../media/image20.png"/><Relationship Id="R166715985d824539" Type="http://schemas.openxmlformats.org/officeDocument/2006/relationships/slideLayout" Target="../slideLayouts/slideLayout1.xml"/><Relationship Id="R33c176296cb549e7" Type="http://schemas.openxmlformats.org/officeDocument/2006/relationships/image" Target="../media/image23.png"/><Relationship Id="R500ff8319c4948b2" Type="http://schemas.openxmlformats.org/officeDocument/2006/relationships/image" Target="../media/image22.png"/><Relationship Id="R63a42b0ced174764" Type="http://schemas.openxmlformats.org/officeDocument/2006/relationships/notesSlide" Target="../notesSlides/notesSlide10.xml"/><Relationship Id="R77d0099d6fa64ed9" Type="http://schemas.openxmlformats.org/officeDocument/2006/relationships/image" Target="../media/image21.png"/><Relationship Id="Ra8ed67d940a4433d" Type="http://schemas.openxmlformats.org/officeDocument/2006/relationships/image" Target="../media/image18.png"/><Relationship Id="Re449eaac7ee74fcc" Type="http://schemas.openxmlformats.org/officeDocument/2006/relationships/image" Target="../media/image19.png"/><Relationship Id="Rfdb7235476fd43d4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bbd9b3367c8f4ac9" Type="http://schemas.openxmlformats.org/officeDocument/2006/relationships/notesSlide" Target="../notesSlides/notesSlide11.xml"/><Relationship Id="Re2d8c8dc700347b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f4766ad6ca0f4607" Type="http://schemas.openxmlformats.org/officeDocument/2006/relationships/slideLayout" Target="../slideLayouts/slideLayout1.xml"/><Relationship Id="Rf6b132c446f6429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0120eded80b14477" Type="http://schemas.openxmlformats.org/officeDocument/2006/relationships/image" Target="../media/image26.png"/><Relationship Id="R4c774151dbb54a12" Type="http://schemas.openxmlformats.org/officeDocument/2006/relationships/image" Target="../media/image24.png"/><Relationship Id="R6ff7a349ca1c4404" Type="http://schemas.openxmlformats.org/officeDocument/2006/relationships/slideLayout" Target="../slideLayouts/slideLayout1.xml"/><Relationship Id="R7c9d62c036fe4951" Type="http://schemas.openxmlformats.org/officeDocument/2006/relationships/image" Target="../media/image25.png"/><Relationship Id="Rdba4d86b0e0e4ec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2721d002a2d44a05" Type="http://schemas.openxmlformats.org/officeDocument/2006/relationships/notesSlide" Target="../notesSlides/notesSlide14.xml"/><Relationship Id="Rbebd24c5148f4df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d72411fce444161" Type="http://schemas.openxmlformats.org/officeDocument/2006/relationships/slideLayout" Target="../slideLayouts/slideLayout1.xml"/><Relationship Id="R82ca9cd33b684af3" Type="http://schemas.openxmlformats.org/officeDocument/2006/relationships/notesSlide" Target="../notesSlides/notesSlide15.xml"/><Relationship Id="Ra72bc89e017e4048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52a0f6ed39fd419f" Type="http://schemas.openxmlformats.org/officeDocument/2006/relationships/notesSlide" Target="../notesSlides/notesSlide16.xml"/><Relationship Id="Re89930689b224904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ed47b1b21624dc2" Type="http://schemas.openxmlformats.org/officeDocument/2006/relationships/chart" Target="charts/chart2.xml"/><Relationship Id="R78e4d3b26cdd4947" Type="http://schemas.openxmlformats.org/officeDocument/2006/relationships/notesSlide" Target="../notesSlides/notesSlide17.xml"/><Relationship Id="Ree30517e184c4069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22f0a7f01c864a2c" Type="http://schemas.openxmlformats.org/officeDocument/2006/relationships/image" Target="../media/image28.png"/><Relationship Id="R60af6d0778ac407f" Type="http://schemas.openxmlformats.org/officeDocument/2006/relationships/slideLayout" Target="../slideLayouts/slideLayout1.xml"/><Relationship Id="R8004c86ae98f4506" Type="http://schemas.openxmlformats.org/officeDocument/2006/relationships/image" Target="../media/image27.png"/><Relationship Id="Re20e9554808f41cf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2a43636d51454fa5" Type="http://schemas.openxmlformats.org/officeDocument/2006/relationships/image" Target="../media/image31.png"/><Relationship Id="R38aebbbef4be4e11" Type="http://schemas.openxmlformats.org/officeDocument/2006/relationships/notesSlide" Target="../notesSlides/notesSlide19.xml"/><Relationship Id="R6a01aaf8a6b14a35" Type="http://schemas.openxmlformats.org/officeDocument/2006/relationships/image" Target="../media/image29.png"/><Relationship Id="Rb0eb451a358440dd" Type="http://schemas.openxmlformats.org/officeDocument/2006/relationships/slideLayout" Target="../slideLayouts/slideLayout1.xml"/><Relationship Id="Rfca33f4261264883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08bbfa1dbdcc4729" Type="http://schemas.openxmlformats.org/officeDocument/2006/relationships/slideLayout" Target="../slideLayouts/slideLayout1.xml"/><Relationship Id="R0925dd9c1584428f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44514e415f3448fe" Type="http://schemas.openxmlformats.org/officeDocument/2006/relationships/slideLayout" Target="../slideLayouts/slideLayout1.xml"/><Relationship Id="R71a36591539d4a5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30231e946c604a98" Type="http://schemas.openxmlformats.org/officeDocument/2006/relationships/slideLayout" Target="../slideLayouts/slideLayout1.xml"/><Relationship Id="Rdae5502b830d4d0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1525623db041404b" Type="http://schemas.openxmlformats.org/officeDocument/2006/relationships/image" Target="../media/image2.jpeg"/><Relationship Id="R4c9225b66e5249c8" Type="http://schemas.openxmlformats.org/officeDocument/2006/relationships/slideLayout" Target="../slideLayouts/slideLayout1.xml"/><Relationship Id="Rbd903fa42f5f4f20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70b491f3d8804055" Type="http://schemas.openxmlformats.org/officeDocument/2006/relationships/image" Target="../media/image3.jpeg"/><Relationship Id="Rae6dbedb78fd42eb" Type="http://schemas.openxmlformats.org/officeDocument/2006/relationships/slideLayout" Target="../slideLayouts/slideLayout1.xml"/><Relationship Id="Rc5ad84d1788b471a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30231e946c604a98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月收入</c:v>
                </c:pt>
              </c:strCache>
            </c:strRef>
          </c:tx>
          <c:spPr>
            <a:ln xmlns:a="http://schemas.openxmlformats.org/drawingml/2006/main" w="28575">
              <a:solidFill>
                <a:srgbClr val="2073BE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2073BE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980</c:v>
                </c:pt>
                <c:pt idx="2">
                  <c:v>1960</c:v>
                </c:pt>
                <c:pt idx="3">
                  <c:v>2940</c:v>
                </c:pt>
                <c:pt idx="4">
                  <c:v>3920</c:v>
                </c:pt>
                <c:pt idx="5">
                  <c:v>4900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月支出</c:v>
                </c:pt>
              </c:strCache>
            </c:strRef>
          </c:tx>
          <c:spPr>
            <a:ln xmlns:a="http://schemas.openxmlformats.org/drawingml/2006/main" w="28575">
              <a:solidFill>
                <a:srgbClr val="D46A12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D46A12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1450</c:v>
                </c:pt>
                <c:pt idx="1">
                  <c:v>1504</c:v>
                </c:pt>
                <c:pt idx="2">
                  <c:v>1558</c:v>
                </c:pt>
                <c:pt idx="3">
                  <c:v>1612</c:v>
                </c:pt>
                <c:pt idx="4">
                  <c:v>1666</c:v>
                </c:pt>
                <c:pt idx="5">
                  <c:v>1720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Microsoft JhengHei"/>
                    <a:ea typeface="Microsoft JhengHei"/>
                    <a:cs typeface="Microsoft JhengHei"/>
                  </a:rPr>
                  <a:t>付費帳號數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5000.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EFA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2500.0"/>
      </c:valAx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465E78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GitHub 每月提交（共 160 次）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14243A"/>
              </a:solidFill>
              <a:latin typeface="Microsoft JhengHei"/>
              <a:ea typeface="Microsoft JhengHei"/>
              <a:cs typeface="Microsoft JhengHei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提交數</c:v>
                </c:pt>
              </c:strCache>
            </c:strRef>
          </c:tx>
          <c:spPr>
            <a:solidFill xmlns:a="http://schemas.openxmlformats.org/drawingml/2006/main">
              <a:srgbClr val="2073BE"/>
            </a:solidFill>
          </c:spPr>
          <c:cat>
            <c:strRef>
              <c:f>Sheet1!$A$2:$A$7</c:f>
              <c:strCache>
                <c:ptCount val="6"/>
                <c:pt idx="0">
                  <c:v>5月</c:v>
                </c:pt>
                <c:pt idx="1">
                  <c:v>6月</c:v>
                </c:pt>
                <c:pt idx="2">
                  <c:v>7月</c:v>
                </c:pt>
                <c:pt idx="3">
                  <c:v>8月</c:v>
                </c:pt>
                <c:pt idx="4">
                  <c:v>9月</c:v>
                </c:pt>
                <c:pt idx="5">
                  <c:v>10月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</c:v>
                </c:pt>
                <c:pt idx="1">
                  <c:v>0</c:v>
                </c:pt>
                <c:pt idx="2">
                  <c:v>27</c:v>
                </c:pt>
                <c:pt idx="3">
                  <c:v>42</c:v>
                </c:pt>
                <c:pt idx="4">
                  <c:v>47</c:v>
                </c:pt>
                <c:pt idx="5">
                  <c:v>30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42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299F6D-A59C-49BF-8431-2BE0FFE0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 spc="3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複審 · 15 MIN · 第115405組</a:t>
            </a:r>
            <a:endParaRPr sz="15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CB59D67-8F00-4E6B-969E-27A23325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74520"/>
            <a:ext cx="73152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MeBOD</a:t>
            </a:r>
            <a:endParaRPr sz="60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2BBA0C7-C65B-4A5A-A81C-BD764BE4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7315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醫美時尚輿情分析系統</a:t>
            </a:r>
            <a:endParaRPr sz="26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4D94B11-641D-4372-B4D1-2214B79F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11880"/>
            <a:ext cx="7680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跨平台資料分析、可回查的 AI 問答與持續監測</a:t>
            </a:r>
            <a:endParaRPr sz="1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974977E-391F-4E85-8CE8-27CB8C53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23560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組長 陳威帆 11246044　｜　組員 許家全 11246039　｜　指導老師 陳信宏</a:t>
            </a:r>
            <a:endParaRPr sz="14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B47819-AA2E-4420-A0EF-F27B41BF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989320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國立臺北商業大學 資訊管理系</a:t>
            </a:r>
            <a:endParaRPr sz="1200"/>
          </a:p>
        </p:txBody>
      </p:sp>
      <p:sp>
        <p:nvSpPr>
          <p:cNvPr id="11" name="01">
            <a:extLst xmlns:a="http://schemas.openxmlformats.org/drawingml/2006/main">
              <a:ext uri="{FF2B5EF4-FFF2-40B4-BE49-F238E27FC236}">
                <a16:creationId xmlns:a16="http://schemas.microsoft.com/office/drawing/2014/main" id="{4EA35771-81D9-467E-854C-0FBF9AAB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01</a:t>
            </a:r>
          </a:p>
        </p:txBody>
      </p:sp>
      <p:pic xmlns:a="http://schemas.openxmlformats.org/drawingml/2006/main" xmlns:r="http://schemas.openxmlformats.org/officeDocument/2006/relationships">
        <p:nvPicPr>
          <p:cNvPr id="12" name="MeBOD Logo" descr="mebod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1325880"/>
            <a:ext cx="2514600" cy="2514600"/>
          </a:xfrm>
          <a:prstGeom prst="rect">
            <a:avLst/>
          </a:prstGeom>
          <a:effectLst>
            <a:outerShdw blurRad="381000" dist="152400" dir="5400000" algn="t" rotWithShape="0">
              <a:srgbClr val="4F46E5">
                <a:alpha val="28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05486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C455A85-E8A3-4FD7-BB36-5887F230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AGENDA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568291D-8866-4EFD-B6A9-739524AF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14 分 30 秒主講，保留 30 秒緩衝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6F7EDEF-87BE-487F-829E-8D05DE6B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5FE2235-C488-46FA-9968-A8E44530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  <a:endParaRPr sz="4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9AAF241-ABE9-471E-B64D-4E82AA9D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為什麼做、做給誰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B9E3FFD-D454-4CBD-A4E6-B7F0FC44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問題、使用者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商業模式、成本、TOWS</a:t>
            </a:r>
            <a:endParaRPr sz="14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AEE99FC-695A-471B-88E0-425C727D2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BAF6D2E-C916-43B4-B39E-A07B8BAD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337ECD-DA45-4041-86CE-5B52C945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937760"/>
            <a:ext cx="25237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0:35–4:25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31F49D7-9215-4C44-8DC6-DB022DCC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576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10337B4-99B6-4A74-A890-D45BDC6D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576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  <a:endParaRPr sz="4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F997F99-60F5-4019-AC65-98BC0805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怎麼做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7AC978F-E8EB-4E0A-9110-3579F60D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架構、資料收錄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情緒分數一致性</a:t>
            </a:r>
            <a:endParaRPr sz="14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4D8CDB8-C444-4743-ACC4-342DD2E3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8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516CD95-4CCA-4E6D-BCAA-68A8E45B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8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5CB081B-9640-426B-B589-1CA1FDE16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576" y="4937760"/>
            <a:ext cx="25237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4:25–7:20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58F3A69-E4F1-4209-818B-C2A4109E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5FCD0CB-B16A-48F2-A2C8-869F2FB0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  <a:endParaRPr sz="40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FC4CAFE-9974-4D9D-9A5F-E075DA19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做到哪</a:t>
            </a:r>
            <a:endParaRPr sz="18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EAD1606-9FAC-437D-BC8B-6FE99C65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功能完成度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實機展示、測試證據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77DA017B-2A37-45E1-9BF5-403FD57B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1F33E70-64EE-4CE5-AFEB-BAA682BF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1707E0E-4583-4848-9066-6812488A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4937760"/>
            <a:ext cx="25237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7:20–11:30</a:t>
            </a:r>
            <a:endParaRPr sz="12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C005F6A-0FA2-472C-BA57-5ECDD809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EC66ACC-03AA-43AD-99F2-2E2E732B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  <a:endParaRPr sz="40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6B147D5-EE5F-4EE7-B372-FF9BA35C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怎麼管、下一步</a:t>
            </a:r>
            <a:endParaRPr sz="18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AE72B34F-4A9E-4796-BC1D-27A16EA4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848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時程與 GitHub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分工、結論</a:t>
            </a:r>
            <a:endParaRPr sz="14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FA62E81-73DC-44E5-BDD9-5F76359D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C2C9254-E34F-4B45-9544-6577AE63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FFCA79A7-477B-467C-A67D-655C618F8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4937760"/>
            <a:ext cx="25237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11:30–14:30</a:t>
            </a:r>
            <a:endParaRPr sz="12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E43DCBC-DD71-4B89-9A82-763A4CCB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89D0AC0-8472-49F9-9FBA-762EF44A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每頁左上角標示這頁回應的初審評審意見</a:t>
            </a:r>
            <a:endParaRPr sz="1400"/>
          </a:p>
        </p:txBody>
      </p:sp>
      <p:sp>
        <p:nvSpPr>
          <p:cNvPr id="36" name="陳威帆 · 0:20–0:35">
            <a:extLst xmlns:a="http://schemas.openxmlformats.org/drawingml/2006/main">
              <a:ext uri="{FF2B5EF4-FFF2-40B4-BE49-F238E27FC236}">
                <a16:creationId xmlns:a16="http://schemas.microsoft.com/office/drawing/2014/main" id="{A7B5A32B-B239-4E44-AC24-585C9C8A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0:20–0:35</a:t>
            </a:r>
          </a:p>
        </p:txBody>
      </p:sp>
      <p:sp>
        <p:nvSpPr>
          <p:cNvPr id="37" name="02">
            <a:extLst xmlns:a="http://schemas.openxmlformats.org/drawingml/2006/main">
              <a:ext uri="{FF2B5EF4-FFF2-40B4-BE49-F238E27FC236}">
                <a16:creationId xmlns:a16="http://schemas.microsoft.com/office/drawing/2014/main" id="{5530B98C-4B3A-4176-8E77-B2021842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093887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5EFDA59-683B-4B95-90AF-A7AFA272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WHY · 問題與動機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A16A367-2A25-4100-93BD-F46A2534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使用者要的，是完成一次口碑研究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21FF437-3577-44AA-97B4-9D822BEC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AC20D2E-E529-42D2-AD03-D762323D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33AA9622-39F9-4D75-943A-18DFD1461E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b04f9e7da43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13FC5CD-E166-4F7A-9B8A-8863B646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資料分散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0979B56-5CA9-4735-AD47-0D8C4446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四個平台各自搜尋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欄位與格式都不一樣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34F52A6-7D52-44EB-B16D-FBC0CCB0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9C69150-CD2D-49DC-A25E-AD5C0F4A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3C5A2E19-B6CD-448B-98DF-A1AA7ACE38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5201a24ca049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90CEC1F-EA8D-4286-823E-E73F5D7D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觀點混雜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A5A7257-C0E2-460D-B597-8A7FE01A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心得、提問、廣告、留言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只看標題容易誤判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A8C8129-F73C-4901-AE34-71BFECFE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97F7C6A-87D4-456E-8DED-4BFBBC70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49E459FA-0CD7-4B77-A77C-801E6F7FAC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b08d03b21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8ED0E91C-99EC-442E-97FD-1352DB1E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結論難回查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3CE896B4-BAE8-4E46-B6F9-C06367BF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摘要寫完了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卻找不回原文佐證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97A1FB00-0C4A-4A92-B3F7-DE216939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41F5A28-2304-4539-A929-645142A0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① 定義範圍</a:t>
            </a:r>
            <a:endParaRPr sz="1800"/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A25D7A02-4C3C-44C3-B0C2-54E2EB9D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關鍵字＋平台＋期間</a:t>
            </a:r>
            <a:endParaRPr sz="1400"/>
          </a:p>
        </p:txBody>
      </p:sp>
      <p:pic>
        <p:nvPicPr>
          <p:cNvPr id="24" name="Image 3">
            <a:extLst xmlns:a="http://schemas.openxmlformats.org/drawingml/2006/main">
              <a:ext uri="{FF2B5EF4-FFF2-40B4-BE49-F238E27FC236}">
                <a16:creationId xmlns:a16="http://schemas.microsoft.com/office/drawing/2014/main" id="{C8D23219-0AC7-4F72-869A-F7ED90B984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99514722174a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60520" y="470916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F6F9C38D-1F11-48C6-BC6E-F2213879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FEBFD265-52FC-4957-89CE-CB09FC58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② 閱讀核對</a:t>
            </a:r>
            <a:endParaRPr sz="1800"/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EAAFF19C-62C4-4ED6-B996-426F7FD4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趨勢、情緒、回到原文</a:t>
            </a:r>
            <a:endParaRPr sz="1400"/>
          </a:p>
        </p:txBody>
      </p:sp>
      <p:pic>
        <p:nvPicPr>
          <p:cNvPr id="28" name="Image 4">
            <a:extLst xmlns:a="http://schemas.openxmlformats.org/drawingml/2006/main">
              <a:ext uri="{FF2B5EF4-FFF2-40B4-BE49-F238E27FC236}">
                <a16:creationId xmlns:a16="http://schemas.microsoft.com/office/drawing/2014/main" id="{D8D82CF0-D712-4034-9BAD-6B1B522AE1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7ea23fd37b4e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08976" y="470916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0157CEB1-311F-46E4-ADE5-E3AE3849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779FB8C9-C831-4AAC-BCA5-E6930436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③ 留存追蹤</a:t>
            </a:r>
            <a:endParaRPr sz="1800"/>
          </a:p>
        </p:txBody>
      </p:sp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2C2225D1-0EAC-4751-891A-9D15D324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歷史、比較、監測、匯出</a:t>
            </a:r>
            <a:endParaRPr sz="1400"/>
          </a:p>
        </p:txBody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2C75B6EE-6B39-4C67-B5CA-C6D1A924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</p:sp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0989A6E0-86FD-4F13-885A-2562C0D7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MeBOD 是行銷觀察工具：討論聲量不等於療程成效，也不取代醫療判斷</a:t>
            </a:r>
            <a:endParaRPr sz="1400"/>
          </a:p>
        </p:txBody>
      </p:sp>
      <p:sp>
        <p:nvSpPr>
          <p:cNvPr id="34" name="陳威帆 · 0:35–1:15">
            <a:extLst xmlns:a="http://schemas.openxmlformats.org/drawingml/2006/main">
              <a:ext uri="{FF2B5EF4-FFF2-40B4-BE49-F238E27FC236}">
                <a16:creationId xmlns:a16="http://schemas.microsoft.com/office/drawing/2014/main" id="{34BD9E31-64E3-4CAB-A968-734B96A5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0:35–1:15</a:t>
            </a:r>
          </a:p>
        </p:txBody>
      </p:sp>
      <p:sp>
        <p:nvSpPr>
          <p:cNvPr id="35" name="03">
            <a:extLst xmlns:a="http://schemas.openxmlformats.org/drawingml/2006/main">
              <a:ext uri="{FF2B5EF4-FFF2-40B4-BE49-F238E27FC236}">
                <a16:creationId xmlns:a16="http://schemas.microsoft.com/office/drawing/2014/main" id="{72A76EEC-AA91-4D5C-889A-261FAE0A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995376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前次評審意見修正情形">
            <a:extLst xmlns:a="http://schemas.openxmlformats.org/drawingml/2006/main">
              <a:ext uri="{FF2B5EF4-FFF2-40B4-BE49-F238E27FC236}">
                <a16:creationId xmlns:a16="http://schemas.microsoft.com/office/drawing/2014/main" id="{6AF31943-CD07-4715-B488-8A905AEC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767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C85C00"/>
                </a:solidFill>
              </a:defRPr>
            </a:pPr>
            <a:r>
              <a:rPr sz="1350" b="1">
                <a:solidFill>
                  <a:srgbClr val="C85C00"/>
                </a:solidFill>
              </a:rPr>
              <a:t>前次評審意見修正情形</a:t>
            </a:r>
          </a:p>
        </p:txBody>
      </p:sp>
      <p:sp>
        <p:nvSpPr>
          <p:cNvPr id="2" name="初評意見已轉成具體修正與待辦">
            <a:extLst xmlns:a="http://schemas.openxmlformats.org/drawingml/2006/main">
              <a:ext uri="{FF2B5EF4-FFF2-40B4-BE49-F238E27FC236}">
                <a16:creationId xmlns:a16="http://schemas.microsoft.com/office/drawing/2014/main" id="{4FD84B34-62B7-42E5-BDA4-DEAC158E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初評意見已轉成具體修正與待辦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578FEC-83F4-48A2-B585-110C4C12A34F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676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66950"/>
                <a:gridCol w="4533900"/>
                <a:gridCol w="3924300"/>
              </a:tblGrid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初評關切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本次修正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目前邊界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目標客戶與營運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聚焦小型行銷團隊；STP、成本試算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需求訪談、實際帳單待補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RAG 只有關鍵字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文章切段＋向量＋關鍵字混合檢索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固定題組評估待補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分數與資料品質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固定分類參數；100 篇一致性評估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人工標註、業配辨識待補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系統與文件證據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四平台、18 張表、分層測試紀錄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部署驗證、負載測試待補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53835-C781-4DB3-9900-0DD21944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</p:sp>
      <p:sp>
        <p:nvSpPr>
          <p:cNvPr id="5" name="本次分別說明：前次修正、系統完成度、功能完整性；未完成項目明">
            <a:extLst xmlns:a="http://schemas.openxmlformats.org/drawingml/2006/main">
              <a:ext uri="{FF2B5EF4-FFF2-40B4-BE49-F238E27FC236}">
                <a16:creationId xmlns:a16="http://schemas.microsoft.com/office/drawing/2014/main" id="{DB4087EC-C5CB-4FC3-8B33-59E9E8E4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本次分別說明：前次修正、系統完成度、功能完整性；未完成項目明列。</a:t>
            </a:r>
          </a:p>
        </p:txBody>
      </p:sp>
      <p:sp>
        <p:nvSpPr>
          <p:cNvPr id="6" name="陳威帆 · 1:15–1:50">
            <a:extLst xmlns:a="http://schemas.openxmlformats.org/drawingml/2006/main">
              <a:ext uri="{FF2B5EF4-FFF2-40B4-BE49-F238E27FC236}">
                <a16:creationId xmlns:a16="http://schemas.microsoft.com/office/drawing/2014/main" id="{11F455A9-78D6-42C9-91DB-A24956B1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1:15–1:50</a:t>
            </a:r>
          </a:p>
        </p:txBody>
      </p:sp>
      <p:sp>
        <p:nvSpPr>
          <p:cNvPr id="7" name="04">
            <a:extLst xmlns:a="http://schemas.openxmlformats.org/drawingml/2006/main">
              <a:ext uri="{FF2B5EF4-FFF2-40B4-BE49-F238E27FC236}">
                <a16:creationId xmlns:a16="http://schemas.microsoft.com/office/drawing/2014/main" id="{5E176C02-579C-4EA4-A7E2-8799185A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804005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378EB1E-5866-46B2-B727-E02E66C7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評審A · 使用對象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92BD872-6076-4F21-88E0-A83C64B2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鎖定一群人：要定期看口碑的小團隊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7705D8B-0D52-4310-9299-B62C101D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5120640" cy="365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255F5A5-4559-4CDE-8052-CE2F3B9C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65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A14425BB-4C6E-4D19-8716-198A95A46A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4d541236d4e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0896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E95D8AD-DD41-4F7C-B669-C4E62D2C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34640"/>
            <a:ext cx="5120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目標使用者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6272697-F2AF-471D-AA7B-9F8E208D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小型診所、保養品牌、行銷研究團隊</a:t>
            </a:r>
            <a:endParaRPr sz="14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271D884-C12B-49EC-9B37-B375AD49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4048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STP 區隔變數</a:t>
            </a:r>
            <a:endParaRPr sz="14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58FC03CB-5DEB-4538-9DC5-CC36A79A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3BC98E7-348F-44DC-A9A5-9F458D36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機構規模</a:t>
            </a:r>
            <a:endParaRPr sz="1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951E8CDD-19A9-493B-8824-63C5FC7B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D7F5BB2-39B3-43BE-96F8-0C8B993E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觀察主題</a:t>
            </a:r>
            <a:endParaRPr sz="12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3583E3A-EEF4-4A4E-BC5C-B3EF31AA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C0439D1A-686A-4773-8AC4-4E418657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使用頻率</a:t>
            </a:r>
            <a:endParaRPr sz="12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5DE9C54C-F233-42AB-8B5B-EE3840EF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4632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一般消費者版需要療程知識補充，列入下一步</a:t>
            </a:r>
            <a:endParaRPr sz="12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9C2EF53F-BABB-435D-9E49-BA12D8BD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523951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為行銷研究整合哪些工作？</a:t>
            </a:r>
            <a:endParaRPr sz="18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AA6BD65-4097-4C6E-9ECD-063E10D2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25AD148-EAC6-4031-9425-B96E5DD55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持續觀察</a:t>
            </a:r>
            <a:endParaRPr sz="1400"/>
          </a:p>
        </p:txBody>
      </p:sp>
      <p:pic>
        <p:nvPicPr>
          <p:cNvPr id="22" name="Image 1">
            <a:extLst xmlns:a="http://schemas.openxmlformats.org/drawingml/2006/main">
              <a:ext uri="{FF2B5EF4-FFF2-40B4-BE49-F238E27FC236}">
                <a16:creationId xmlns:a16="http://schemas.microsoft.com/office/drawing/2014/main" id="{B2A598C7-2AD9-4230-B552-A393D2D469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dee57549547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255117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5A43E4E6-0534-472D-AAEA-1C4A35DC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377440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2537F47C-CB7A-4F36-AD11-94C0F9A8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377440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每日自動追蹤＋負面預警</a:t>
            </a:r>
            <a:endParaRPr sz="14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FF1BECA0-76FB-4292-B238-3EF5FEE9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145536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F65B291-AA8F-4C29-BC55-CA3B5ABE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145536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證據核對</a:t>
            </a:r>
            <a:endParaRPr sz="1400"/>
          </a:p>
        </p:txBody>
      </p:sp>
      <p:pic>
        <p:nvPicPr>
          <p:cNvPr id="27" name="Image 2">
            <a:extLst xmlns:a="http://schemas.openxmlformats.org/drawingml/2006/main">
              <a:ext uri="{FF2B5EF4-FFF2-40B4-BE49-F238E27FC236}">
                <a16:creationId xmlns:a16="http://schemas.microsoft.com/office/drawing/2014/main" id="{8F50DF4D-5409-4DC6-8409-6EA408BE07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c4fa01ad4945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3319272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C259AE0D-5754-491C-9DDA-366187DD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145536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18B7BB7D-FC23-48DA-A226-8355653E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145536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回答附原文，點了就看</a:t>
            </a:r>
            <a:endParaRPr sz="1400"/>
          </a:p>
        </p:txBody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ABCFBF94-4698-4500-9CAE-C3DF7B87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13632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31" name="Text 26">
            <a:extLst xmlns:a="http://schemas.openxmlformats.org/drawingml/2006/main">
              <a:ext uri="{FF2B5EF4-FFF2-40B4-BE49-F238E27FC236}">
                <a16:creationId xmlns:a16="http://schemas.microsoft.com/office/drawing/2014/main" id="{AA157392-80BD-4119-97C4-95210302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13632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期間比較</a:t>
            </a:r>
            <a:endParaRPr sz="1400"/>
          </a:p>
        </p:txBody>
      </p:sp>
      <p:pic>
        <p:nvPicPr>
          <p:cNvPr id="32" name="Image 3">
            <a:extLst xmlns:a="http://schemas.openxmlformats.org/drawingml/2006/main">
              <a:ext uri="{FF2B5EF4-FFF2-40B4-BE49-F238E27FC236}">
                <a16:creationId xmlns:a16="http://schemas.microsoft.com/office/drawing/2014/main" id="{67FA3406-E978-402F-A81E-DE8E1D42C9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63660d3c645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4087368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3" name="Shape 27">
            <a:extLst xmlns:a="http://schemas.openxmlformats.org/drawingml/2006/main">
              <a:ext uri="{FF2B5EF4-FFF2-40B4-BE49-F238E27FC236}">
                <a16:creationId xmlns:a16="http://schemas.microsoft.com/office/drawing/2014/main" id="{3C718A5A-6EEA-41A8-9D37-9EFCD4BA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913632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5240582E-5B39-4018-B47F-4E462F6B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913632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依期間、平台出趨勢圖</a:t>
            </a:r>
            <a:endParaRPr sz="1400"/>
          </a:p>
        </p:txBody>
      </p:sp>
      <p:sp>
        <p:nvSpPr>
          <p:cNvPr id="35" name="Shape 29">
            <a:extLst xmlns:a="http://schemas.openxmlformats.org/drawingml/2006/main">
              <a:ext uri="{FF2B5EF4-FFF2-40B4-BE49-F238E27FC236}">
                <a16:creationId xmlns:a16="http://schemas.microsoft.com/office/drawing/2014/main" id="{4336B683-C109-4D43-8E40-634F0A22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681728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3EE2C696-383D-4642-9730-81A8EEF4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681728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成果留存</a:t>
            </a:r>
            <a:endParaRPr sz="1400"/>
          </a:p>
        </p:txBody>
      </p:sp>
      <p:pic>
        <p:nvPicPr>
          <p:cNvPr id="37" name="Image 4">
            <a:extLst xmlns:a="http://schemas.openxmlformats.org/drawingml/2006/main">
              <a:ext uri="{FF2B5EF4-FFF2-40B4-BE49-F238E27FC236}">
                <a16:creationId xmlns:a16="http://schemas.microsoft.com/office/drawing/2014/main" id="{7E5ED0B8-692D-4EB2-9B72-4B6979905B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2793fc54af4c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485546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8" name="Shape 31">
            <a:extLst xmlns:a="http://schemas.openxmlformats.org/drawingml/2006/main">
              <a:ext uri="{FF2B5EF4-FFF2-40B4-BE49-F238E27FC236}">
                <a16:creationId xmlns:a16="http://schemas.microsoft.com/office/drawing/2014/main" id="{1CF12B8F-A026-45F9-AC0C-66B55056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4681728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39" name="Text 32">
            <a:extLst xmlns:a="http://schemas.openxmlformats.org/drawingml/2006/main">
              <a:ext uri="{FF2B5EF4-FFF2-40B4-BE49-F238E27FC236}">
                <a16:creationId xmlns:a16="http://schemas.microsoft.com/office/drawing/2014/main" id="{9B9CDD5D-318C-49A5-A1A6-4AF97E5C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4681728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個人帳號、匯出報表</a:t>
            </a:r>
            <a:endParaRPr sz="1400"/>
          </a:p>
        </p:txBody>
      </p:sp>
      <p:sp>
        <p:nvSpPr>
          <p:cNvPr id="40" name="Shape 33">
            <a:extLst xmlns:a="http://schemas.openxmlformats.org/drawingml/2006/main">
              <a:ext uri="{FF2B5EF4-FFF2-40B4-BE49-F238E27FC236}">
                <a16:creationId xmlns:a16="http://schemas.microsoft.com/office/drawing/2014/main" id="{3672E564-5385-405B-B5F0-D1112B64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</p:sp>
      <p:sp>
        <p:nvSpPr>
          <p:cNvPr id="41" name="Text 34">
            <a:extLst xmlns:a="http://schemas.openxmlformats.org/drawingml/2006/main">
              <a:ext uri="{FF2B5EF4-FFF2-40B4-BE49-F238E27FC236}">
                <a16:creationId xmlns:a16="http://schemas.microsoft.com/office/drawing/2014/main" id="{FFB37A8C-2AE6-4C9F-9194-5ED1F2BA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初評口頭報告提及與雜誌社交流；正式訪談紀錄及需求驗收仍待補。</a:t>
            </a:r>
            <a:endParaRPr sz="1400"/>
          </a:p>
        </p:txBody>
      </p:sp>
      <p:sp>
        <p:nvSpPr>
          <p:cNvPr id="42" name="陳威帆 · 1:50–2:30">
            <a:extLst xmlns:a="http://schemas.openxmlformats.org/drawingml/2006/main">
              <a:ext uri="{FF2B5EF4-FFF2-40B4-BE49-F238E27FC236}">
                <a16:creationId xmlns:a16="http://schemas.microsoft.com/office/drawing/2014/main" id="{1239E67C-7E93-40E5-97FD-9F90C84D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1:50–2:30</a:t>
            </a:r>
          </a:p>
        </p:txBody>
      </p:sp>
      <p:sp>
        <p:nvSpPr>
          <p:cNvPr id="43" name="05">
            <a:extLst xmlns:a="http://schemas.openxmlformats.org/drawingml/2006/main">
              <a:ext uri="{FF2B5EF4-FFF2-40B4-BE49-F238E27FC236}">
                <a16:creationId xmlns:a16="http://schemas.microsoft.com/office/drawing/2014/main" id="{DBB75A9E-1AE3-4458-BCA6-1C6ADFDA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598158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E48E66F-7B16-4B77-A90F-18E4CCBD9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評審C · 商業模式九大區塊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FC2E084-788E-4AA1-A011-FD608BAA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商業模式：九個區塊串成一個訂閱服務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73D501D-EF9C-4DC0-A6B9-AEA384A9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AFE5D26-E9A9-4018-BEC7-4816BA86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顧客區隔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400AA4B-03A8-4949-8B4F-67E13CDE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行銷研究團隊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9726D99-C0C6-41BE-AB13-1C9EE935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86506BE-3EB8-4EA7-81F8-743C61A0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價值主張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A49E480-BB4E-48EB-9414-1C1A414C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跨平台口碑一次看完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結論可回查原文</a:t>
            </a:r>
            <a:endParaRPr sz="14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1CA4986-7EC6-4FCC-8B8E-90A9B210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630EB6D-B991-406D-AD0B-8BDD9979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通路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0CCA089-EBE0-406D-9612-B5812207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網頁服務、專題展示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客戶試用</a:t>
            </a:r>
            <a:endParaRPr sz="14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42C9A5A-701C-4DE4-9BE2-FE241CDA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A906EF3-819E-4325-9117-4B01A9DD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顧客關係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5986184-DEF8-4875-8B06-131DA4E3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帳號服務、使用教學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問題回報</a:t>
            </a:r>
            <a:endParaRPr sz="14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65C9346-EE06-4CF2-96A9-D5DCB6A8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95422CB-ADAB-4EF0-BC00-3301F758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收益來源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DB83AB-A8D6-4ACA-A6C4-C91D08C8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免費／專業 490／企業 1,990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月費皆為假設，待付費意願驗證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1C55690-3280-4369-B0A9-73F6C902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5110F48-5D7A-476F-A9F1-092DA040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關鍵資源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FE6883-1E4B-4B36-A8E4-67587517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累積的文章資料庫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領域詞庫、程式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0DFBF11-BC8E-4DF5-BE40-B491BD83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6504BA7-3C1C-459E-A6D2-E03498D6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關鍵活動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30B8C84-20BC-40FA-8568-0EA4EF83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爬取清理、情緒評分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向量建立、品質檢查</a:t>
            </a:r>
            <a:endParaRPr sz="14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8E8E952-5B75-4B74-B902-6D8B3ABB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8480925-CF0B-438D-88C8-D2363485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關鍵夥伴</a:t>
            </a:r>
            <a:endParaRPr sz="16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79153E2-D8BC-4B92-98BC-83E3803E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模型 API 供應商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主機與網路服務商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249AA711-747F-40F3-B2F5-CA47FF22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17465AA-BCAF-4107-8F03-06189B8E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成本結構</a:t>
            </a:r>
            <a:endParaRPr sz="16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F88FD6C-B894-4AD9-A81B-AA6E2AA4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雲端主機、資料庫、模型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金流手續費、維運人力</a:t>
            </a:r>
            <a:endParaRPr sz="14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5BE08BA-F7BC-411B-8CDA-FFD86C9D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F1237A8-245D-444C-AD78-5EA43828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方案額度已實作；訂閱收款尚未串接，月費與付費意願仍屬營運假設。</a:t>
            </a:r>
            <a:endParaRPr sz="1400"/>
          </a:p>
        </p:txBody>
      </p:sp>
      <p:sp>
        <p:nvSpPr>
          <p:cNvPr id="35" name="陳威帆 · 2:30–3:05">
            <a:extLst xmlns:a="http://schemas.openxmlformats.org/drawingml/2006/main">
              <a:ext uri="{FF2B5EF4-FFF2-40B4-BE49-F238E27FC236}">
                <a16:creationId xmlns:a16="http://schemas.microsoft.com/office/drawing/2014/main" id="{BC982EA8-545D-477C-8DB7-CB5D129D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2:30–3:05</a:t>
            </a:r>
          </a:p>
        </p:txBody>
      </p:sp>
      <p:sp>
        <p:nvSpPr>
          <p:cNvPr id="36" name="06">
            <a:extLst xmlns:a="http://schemas.openxmlformats.org/drawingml/2006/main">
              <a:ext uri="{FF2B5EF4-FFF2-40B4-BE49-F238E27FC236}">
                <a16:creationId xmlns:a16="http://schemas.microsoft.com/office/drawing/2014/main" id="{2EBC2E49-1D76-434B-A184-C5A48BA6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77810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5251437-2CBB-4C6D-8413-BC466264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評審C · 量化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AB2D361-6AEC-43A3-B0E1-1370DFE9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成本重算：4 個專業版帳號可打平雲端支出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2ABE0FF-C9C7-43A7-B316-AB380518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85A3F5F-CAC5-40D7-A02D-39DBD2B4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0.06 元</a:t>
            </a:r>
            <a:endParaRPr sz="3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2BEA3D9-A009-4CEA-B0DD-D5E22278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每次 AI 問答（保守上限）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C76224E-6880-42E4-BCC5-DD201F63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實測 prompt×官方單價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F5898B4-0D91-400B-A3E6-1EA3FA36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A85723-AC44-4CA2-ACCB-8AE9A597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27 元</a:t>
            </a:r>
            <a:endParaRPr sz="3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DCBBE7D-2D2D-4D5C-8E2C-9C15E869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每位專業版用戶／月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E7B73D4-0CE7-48A5-BF08-571B2268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問答100、洞察60、金流3%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69880F6-9021-42D8-857E-6B3D32E8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4D12D62-5D8D-4E45-BCFC-ED5E4859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1,450 元</a:t>
            </a:r>
            <a:endParaRPr sz="3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ED8EA77-2B5E-469E-8275-5A4B4D5F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每月雲端固定支出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AC93142-C0A9-4B69-9623-0ABACA09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主機、資料庫、網域、判讀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5EC6AB01-C01E-4038-B70A-DD2D8BA2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1783080"/>
            <a:ext cx="2404872" cy="3703320"/>
          </a:xfrm>
          <a:prstGeom xmlns:a="http://schemas.openxmlformats.org/drawingml/2006/main" prst="roundRect">
            <a:avLst>
              <a:gd name="adj" fmla="val 6084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F08BD10-8E54-4639-B49F-5A1262B8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057400"/>
            <a:ext cx="240487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營運支出平衡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CBD95C2-6776-488D-8AA1-A33AB42A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514600"/>
            <a:ext cx="2404872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4 帳號</a:t>
            </a:r>
            <a:endParaRPr sz="5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A99349E-721C-4384-ABAB-AE70C0D1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65760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⌈1,450 ÷ (490 − 27)⌉</a:t>
            </a:r>
            <a:endParaRPr sz="12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05FECCB-D9C7-4154-8CE1-A7738D35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06908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4 帳號每月餘額 402 元</a:t>
            </a:r>
            <a:endParaRPr sz="12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31788AA-EE2A-4983-B910-E496729D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75488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月費 490 元為團隊假設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1E81070-A35F-42FD-8834-66AC620E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86200"/>
            <a:ext cx="8046720" cy="1600200"/>
          </a:xfrm>
          <a:prstGeom xmlns:a="http://schemas.openxmlformats.org/drawingml/2006/main" prst="roundRect">
            <a:avLst>
              <a:gd name="adj" fmla="val 9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7886CE8-19D6-4214-A643-3748AB0D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A5383211-1DB8-4E4C-A4B9-04E90E7B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新臺幣／月；官方單價查於 10/12（1 USD≈32 元）；未含人力，見附錄 C、F。</a:t>
            </a:r>
            <a:endParaRPr sz="1400"/>
          </a:p>
        </p:txBody>
      </p:sp>
      <p:sp>
        <p:nvSpPr>
          <p:cNvPr id="28" name="陳威帆 · 3:05–3:50">
            <a:extLst xmlns:a="http://schemas.openxmlformats.org/drawingml/2006/main">
              <a:ext uri="{FF2B5EF4-FFF2-40B4-BE49-F238E27FC236}">
                <a16:creationId xmlns:a16="http://schemas.microsoft.com/office/drawing/2014/main" id="{6B13CACB-5429-4B4E-8705-C61874EE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3:05–3:50</a:t>
            </a:r>
          </a:p>
        </p:txBody>
      </p:sp>
      <p:sp>
        <p:nvSpPr>
          <p:cNvPr id="29" name="07">
            <a:extLst xmlns:a="http://schemas.openxmlformats.org/drawingml/2006/main">
              <a:ext uri="{FF2B5EF4-FFF2-40B4-BE49-F238E27FC236}">
                <a16:creationId xmlns:a16="http://schemas.microsoft.com/office/drawing/2014/main" id="{732FBB28-8821-4EFE-850A-BFD02858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07</a:t>
            </a:r>
          </a:p>
        </p:txBody>
      </p:sp>
      <p:graphicFrame>
        <p:nvGraphicFramePr>
          <p:cNvPr id="30" name="Chart">
            <a:extLst xmlns:a="http://schemas.openxmlformats.org/drawingml/2006/main">
              <a:ext uri="{FF2B5EF4-FFF2-40B4-BE49-F238E27FC236}">
                <a16:creationId xmlns:a16="http://schemas.microsoft.com/office/drawing/2014/main" id="{CF1A1B14-1B85-4032-AA9E-AA4200B256E5}"/>
              </a:ext>
            </a:extLst>
          </p:cNvPr>
          <p:cNvGraphicFramePr/>
          <p:nvPr/>
        </p:nvGraphicFramePr>
        <p:xfrm>
          <a:off xmlns:a="http://schemas.openxmlformats.org/drawingml/2006/main" x="868680" y="3959352"/>
          <a:ext xmlns:a="http://schemas.openxmlformats.org/drawingml/2006/main" cx="7772400" cy="14630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08d3aa71c14e64"/>
          </a:graphicData>
        </a:graphic>
      </p:graphicFrame>
    </p:spTree>
    <p:extLst>
      <p:ext uri="{BB962C8B-B14F-4D97-AF65-F5344CB8AC3E}">
        <p14:creationId xmlns:p14="http://schemas.microsoft.com/office/powerpoint/2010/main" val="6806162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DD8379D-9BFF-494D-AFB5-B484A88F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評審C · SWOT → TOWS ／ Agentic AI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7CCBAA3-821B-4617-9BE5-5BCB6973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TOWS：把優劣勢變成可驗證的策略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107BB1A-FDDD-48D4-98C1-4BFB7442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77440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66DD236-593D-46E3-A5C5-14CD0AA9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內部 ＼ 外部</a:t>
            </a:r>
            <a:endParaRPr sz="14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F171F00-F09F-4512-A758-183E3B18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1783080"/>
            <a:ext cx="4064508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DE1491D-5706-4CE1-A412-CD7F551B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1837944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機會 O</a:t>
            </a:r>
            <a:endParaRPr sz="14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B177DCF-4722-4646-9FA2-1DCB5D31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148840"/>
            <a:ext cx="40645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團隊需要持續整理公開討論</a:t>
            </a:r>
            <a:endParaRPr sz="12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06EF465-1938-45FA-A8F2-B30AA029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1783080"/>
            <a:ext cx="4064508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804E204-F39D-4589-8632-0718D859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1837944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威脅 T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4B73569-3FFA-4FCF-96F6-60658D2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148840"/>
            <a:ext cx="40645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網站改版、模型費用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代理（Agentic AI）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4DFD663-6F1B-41F6-9D66-5525770A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70048"/>
            <a:ext cx="2377440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6087561-95F5-4B1A-A1DA-CE2174FD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44368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優勢 S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0C57ADA-1148-44C0-B8CE-7ED4C7D8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5584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垂直詞庫、多平台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  <a:endParaRPr sz="1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B917158-53D7-4A98-8786-0128C277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2377440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D476D84-CB34-4ACE-94D9-4FAB3797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07408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劣勢 W</a:t>
            </a:r>
            <a:endParaRPr sz="1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14BE4AE-327B-4CCC-935D-DEAC6814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1888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資料與模型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依賴外部服務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DE308C3-0086-4189-976E-14BD80E7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67004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B32B576-9F39-473E-A90C-6173B4AA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80720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SO 擴大試用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AB98F55-5C1E-4BE0-9AE2-DDDB8112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14553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用固定關鍵字監測，先給診所與品牌試用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D9E894C-4A68-4A27-B7DB-041B5724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65760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驗證：試用帳號每週查詢與匯出次數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D302650-AFA3-4604-97AF-4CE54EE1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67004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8377BD2-1390-4EB4-9C68-1D14EAED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80720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ST 拉開差異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C78A3C1-B85A-4F31-9660-A0F4A91E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314553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長期歷史資料＋原文回查＋持續監測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與通用 AI 代理區隔</a:t>
            </a:r>
            <a:endParaRPr sz="14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9BF74F6-C499-4F46-90DF-A3B8844A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365760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驗證：與通用 AI 同題任務比較</a:t>
            </a:r>
            <a:endParaRPr sz="12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A82F97A8-DBEE-46B3-9B10-6B358B95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413308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7244F9F-9F55-4D57-A57D-1A4B8A73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427024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WO 補品質</a:t>
            </a:r>
            <a:endParaRPr sz="16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7278167-D4AE-47FF-8A49-389C561E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460857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人工抽樣標註，建立情緒與相關性基準</a:t>
            </a:r>
            <a:endParaRPr sz="14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9AEB992-C521-43AD-86DA-08A71E87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512064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驗證：抽樣一致率、領域合作者複核</a:t>
            </a:r>
            <a:endParaRPr sz="12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11640254-8473-41BE-98BF-3DE9787D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413308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5DC46B8-55B7-4207-AC0F-541B08D2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427024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WT 降風險</a:t>
            </a:r>
            <a:endParaRPr sz="16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DC63F14-F402-48DD-9911-6384C21D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460857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停用故障平台、方案額度、問答快取、備份</a:t>
            </a:r>
            <a:endParaRPr sz="14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D8CB0705-16E3-42C3-A4F0-DAA65DF9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512064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驗證：用量紀錄與備份還原測試</a:t>
            </a:r>
            <a:endParaRPr sz="12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F18A8F5E-2D8E-4B81-9EFA-3204C312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CB25984E-EAEC-47F6-92CA-36239A5D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Agentic AI 是評審C最後的提問：通用 AI 能自己搜尋整理，我們靠累積資料與可回查做區隔</a:t>
            </a:r>
            <a:endParaRPr sz="1400"/>
          </a:p>
        </p:txBody>
      </p:sp>
      <p:sp>
        <p:nvSpPr>
          <p:cNvPr id="38" name="陳威帆 · 3:50–4:25">
            <a:extLst xmlns:a="http://schemas.openxmlformats.org/drawingml/2006/main">
              <a:ext uri="{FF2B5EF4-FFF2-40B4-BE49-F238E27FC236}">
                <a16:creationId xmlns:a16="http://schemas.microsoft.com/office/drawing/2014/main" id="{5E1A92CE-5E9B-40D4-AB1B-030C85CB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3:50–4:25</a:t>
            </a:r>
          </a:p>
        </p:txBody>
      </p:sp>
      <p:sp>
        <p:nvSpPr>
          <p:cNvPr id="39" name="08">
            <a:extLst xmlns:a="http://schemas.openxmlformats.org/drawingml/2006/main">
              <a:ext uri="{FF2B5EF4-FFF2-40B4-BE49-F238E27FC236}">
                <a16:creationId xmlns:a16="http://schemas.microsoft.com/office/drawing/2014/main" id="{229CB9A2-69C0-4C75-85FB-11A89FBA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30966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A382AC0-1725-4E97-8880-5B5576A9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HOW · 系統架構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0A85B40-B96A-4BB1-BD59-C068ED22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三層架構：介面、服務、資料各司其職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03EE594-5EDB-41D5-BE3E-3295AFAF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5F89204-804D-4C6F-A555-4A6F12DD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81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17A77513-39CF-4F27-8FF0-A8A6A8B97D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52d51b34246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0312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A656B7-DF83-4AFB-BA98-70487856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使用介面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4B04266-7968-48EC-839F-0794A6C3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Vue 3 ＋ Chart.js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儀表板、問答、歷史、管理</a:t>
            </a:r>
            <a:endParaRPr sz="1400"/>
          </a:p>
        </p:txBody>
      </p:sp>
      <p:pic>
        <p:nvPicPr>
          <p:cNvPr id="11" name="Image 1">
            <a:extLst xmlns:a="http://schemas.openxmlformats.org/drawingml/2006/main">
              <a:ext uri="{FF2B5EF4-FFF2-40B4-BE49-F238E27FC236}">
                <a16:creationId xmlns:a16="http://schemas.microsoft.com/office/drawing/2014/main" id="{AAA88FCC-54F8-4A98-9B7A-242591F616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1858e9be948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50792" y="2999232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B0C8BB0-8FAB-4F7B-9CD1-8E6413E1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9996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A46EAA1-0024-4E88-A877-B817B00E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14" name="Image 2">
            <a:extLst xmlns:a="http://schemas.openxmlformats.org/drawingml/2006/main">
              <a:ext uri="{FF2B5EF4-FFF2-40B4-BE49-F238E27FC236}">
                <a16:creationId xmlns:a16="http://schemas.microsoft.com/office/drawing/2014/main" id="{6B868C35-7FAF-4E6D-85D7-7C25330981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ff51fb52274b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8B396E06-7935-4F69-8CA0-F6C17232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7156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應用服務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D343DCAE-088D-467D-8243-70F1E0AB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7156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FastAPI ＋ 服務層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授權、分析、檢索、匯出</a:t>
            </a:r>
            <a:endParaRPr sz="1400"/>
          </a:p>
        </p:txBody>
      </p:sp>
      <p:pic>
        <p:nvPicPr>
          <p:cNvPr id="17" name="Image 3">
            <a:extLst xmlns:a="http://schemas.openxmlformats.org/drawingml/2006/main">
              <a:ext uri="{FF2B5EF4-FFF2-40B4-BE49-F238E27FC236}">
                <a16:creationId xmlns:a16="http://schemas.microsoft.com/office/drawing/2014/main" id="{B18B74B6-6479-43C4-A545-09C863EDB0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a7e10a7cbd49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59268" y="2999232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B5B3E279-45FD-4B70-B404-921CE581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CC3FEFD1-EE3C-491B-848D-5295F403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20" name="Image 4">
            <a:extLst xmlns:a="http://schemas.openxmlformats.org/drawingml/2006/main">
              <a:ext uri="{FF2B5EF4-FFF2-40B4-BE49-F238E27FC236}">
                <a16:creationId xmlns:a16="http://schemas.microsoft.com/office/drawing/2014/main" id="{00D2973F-29C1-4627-8278-F6CE0DD797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89bd094e9444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2007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4F8A541F-FC5B-499D-B2BA-DA7F8ED2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資料與外部服務</a:t>
            </a:r>
            <a:endParaRPr sz="18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73CCB1A8-6878-4626-93D8-4F1B26E9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PostgreSQL ＋ SQLAlchemy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四平台爬蟲、Gemini API</a:t>
            </a:r>
            <a:endParaRPr sz="1400"/>
          </a:p>
        </p:txBody>
      </p:sp>
      <p:sp>
        <p:nvSpPr>
          <p:cNvPr id="23" name="Shape 16">
            <a:extLst xmlns:a="http://schemas.openxmlformats.org/drawingml/2006/main">
              <a:ext uri="{FF2B5EF4-FFF2-40B4-BE49-F238E27FC236}">
                <a16:creationId xmlns:a16="http://schemas.microsoft.com/office/drawing/2014/main" id="{55DCD4F6-04AB-47AD-A817-2C060B02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</p:sp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9E5FE95C-0D73-41E5-B6B7-365C1F22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張表・Alembic 遷移</a:t>
            </a:r>
            <a:endParaRPr sz="1200"/>
          </a:p>
        </p:txBody>
      </p:sp>
      <p:sp>
        <p:nvSpPr>
          <p:cNvPr id="25" name="Shape 18">
            <a:extLst xmlns:a="http://schemas.openxmlformats.org/drawingml/2006/main">
              <a:ext uri="{FF2B5EF4-FFF2-40B4-BE49-F238E27FC236}">
                <a16:creationId xmlns:a16="http://schemas.microsoft.com/office/drawing/2014/main" id="{600FC39A-0A2D-4EDE-AE89-E236798B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689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</p:sp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9804428B-B261-410C-9E6E-D1188CD3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689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問答：關鍵字＋向量 RRF</a:t>
            </a:r>
            <a:endParaRPr sz="1200"/>
          </a:p>
        </p:txBody>
      </p:sp>
      <p:sp>
        <p:nvSpPr>
          <p:cNvPr id="27" name="Shape 20">
            <a:extLst xmlns:a="http://schemas.openxmlformats.org/drawingml/2006/main">
              <a:ext uri="{FF2B5EF4-FFF2-40B4-BE49-F238E27FC236}">
                <a16:creationId xmlns:a16="http://schemas.microsoft.com/office/drawing/2014/main" id="{92DBFD1B-3A96-44D2-984C-2BFD2252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858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3F04553E-9670-46C5-AD97-A31B89A3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858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WebSocket：爬取進度推送</a:t>
            </a:r>
            <a:endParaRPr sz="1200"/>
          </a:p>
        </p:txBody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B5B492EC-BAF0-4474-9106-B7115F84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8026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BA5E8A2E-0EED-4FB1-95E4-F8595C93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8026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cloudflared：HTTPS 對外</a:t>
            </a:r>
            <a:endParaRPr sz="12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8FBCDF45-118E-4FBE-98E3-451060B5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32" name="Text 25">
            <a:extLst xmlns:a="http://schemas.openxmlformats.org/drawingml/2006/main">
              <a:ext uri="{FF2B5EF4-FFF2-40B4-BE49-F238E27FC236}">
                <a16:creationId xmlns:a16="http://schemas.microsoft.com/office/drawing/2014/main" id="{78CB195D-AC11-4DB4-9EEC-E5137624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權限與額度皆在後端檢查；預警的查詢、已讀與即時檢查已依帳號隔離。</a:t>
            </a:r>
            <a:endParaRPr sz="1400"/>
          </a:p>
        </p:txBody>
      </p:sp>
      <p:sp>
        <p:nvSpPr>
          <p:cNvPr id="33" name="許家全 · 4:25–5:10">
            <a:extLst xmlns:a="http://schemas.openxmlformats.org/drawingml/2006/main">
              <a:ext uri="{FF2B5EF4-FFF2-40B4-BE49-F238E27FC236}">
                <a16:creationId xmlns:a16="http://schemas.microsoft.com/office/drawing/2014/main" id="{D88E650D-A0FC-41A9-8332-49B526C1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4:25–5:10</a:t>
            </a:r>
          </a:p>
        </p:txBody>
      </p:sp>
      <p:sp>
        <p:nvSpPr>
          <p:cNvPr id="34" name="09">
            <a:extLst xmlns:a="http://schemas.openxmlformats.org/drawingml/2006/main">
              <a:ext uri="{FF2B5EF4-FFF2-40B4-BE49-F238E27FC236}">
                <a16:creationId xmlns:a16="http://schemas.microsoft.com/office/drawing/2014/main" id="{F9B4ED37-4DCC-419D-B661-AADC07E1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546937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B329953-4910-47FA-969C-2A92C2CC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評審C · 爬蟲觸發 ／ 評審B · 資料篩選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A082D87-CCD7-43A8-91CA-40A94DBB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從一個論壇，到四個平台自動收錄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221DA69-9696-4C45-A925-D461420B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906CE69-A9A4-4981-B25F-8F711E9A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19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67540054-5A8D-477E-9B21-C967856343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7235476fd43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1450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C870681-CC95-4CE7-B3E1-6F9779BF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觸發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50A0FCC-D00C-4C22-9E37-7D01AC13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管理員手動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或每日排程</a:t>
            </a:r>
            <a:endParaRPr sz="1400"/>
          </a:p>
        </p:txBody>
      </p:sp>
      <p:pic>
        <p:nvPicPr>
          <p:cNvPr id="11" name="Image 1">
            <a:extLst xmlns:a="http://schemas.openxmlformats.org/drawingml/2006/main">
              <a:ext uri="{FF2B5EF4-FFF2-40B4-BE49-F238E27FC236}">
                <a16:creationId xmlns:a16="http://schemas.microsoft.com/office/drawing/2014/main" id="{7E07D1F4-56F3-4DC1-8514-D098450FCF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ed67d940a443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54680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E5235BA2-4DF4-47EA-A4A7-EDEEE454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A5E936C-8D45-4659-AB91-BC037CED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260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14" name="Image 2">
            <a:extLst xmlns:a="http://schemas.openxmlformats.org/drawingml/2006/main">
              <a:ext uri="{FF2B5EF4-FFF2-40B4-BE49-F238E27FC236}">
                <a16:creationId xmlns:a16="http://schemas.microsoft.com/office/drawing/2014/main" id="{D24F1D12-48F5-4CA3-B3FF-BD1E58BC1B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49eaac7ee74f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2564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048570E2-B196-43D5-8C75-E1EE20B7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744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爬取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CA670059-18CE-4BE9-8D06-FE786DC48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744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PTT・Dcard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Mobile01・Threads</a:t>
            </a:r>
            <a:endParaRPr sz="1400"/>
          </a:p>
        </p:txBody>
      </p:sp>
      <p:pic>
        <p:nvPicPr>
          <p:cNvPr id="17" name="Image 3">
            <a:extLst xmlns:a="http://schemas.openxmlformats.org/drawingml/2006/main">
              <a:ext uri="{FF2B5EF4-FFF2-40B4-BE49-F238E27FC236}">
                <a16:creationId xmlns:a16="http://schemas.microsoft.com/office/drawing/2014/main" id="{75BE6797-EC12-4239-800A-D7733C804F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237a106ac240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2744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4E0C1B37-12D1-41D3-92C7-794D999A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3AD08487-3D79-4B53-9591-16730930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4324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20" name="Image 4">
            <a:extLst xmlns:a="http://schemas.openxmlformats.org/drawingml/2006/main">
              <a:ext uri="{FF2B5EF4-FFF2-40B4-BE49-F238E27FC236}">
                <a16:creationId xmlns:a16="http://schemas.microsoft.com/office/drawing/2014/main" id="{43CEFB47-56E5-4289-B01D-49BC5D5D67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d0099d6fa64e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0628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27DFC239-9632-4CCC-ABF7-53E0A972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自動收錄</a:t>
            </a:r>
            <a:endParaRPr sz="18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FE8EE5EF-0578-4288-AA18-774C17C1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領域詞命中計分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依平台與看板判斷</a:t>
            </a:r>
          </a:p>
        </p:txBody>
      </p:sp>
      <p:pic>
        <p:nvPicPr>
          <p:cNvPr id="23" name="Image 5">
            <a:extLst xmlns:a="http://schemas.openxmlformats.org/drawingml/2006/main">
              <a:ext uri="{FF2B5EF4-FFF2-40B4-BE49-F238E27FC236}">
                <a16:creationId xmlns:a16="http://schemas.microsoft.com/office/drawing/2014/main" id="{93458B57-3A19-4D73-A910-5AF3F22583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0ff8319c4948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50808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4" name="Shape 16">
            <a:extLst xmlns:a="http://schemas.openxmlformats.org/drawingml/2006/main">
              <a:ext uri="{FF2B5EF4-FFF2-40B4-BE49-F238E27FC236}">
                <a16:creationId xmlns:a16="http://schemas.microsoft.com/office/drawing/2014/main" id="{DDF022F1-ACAA-452B-8962-3FF27805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25" name="Shape 17">
            <a:extLst xmlns:a="http://schemas.openxmlformats.org/drawingml/2006/main">
              <a:ext uri="{FF2B5EF4-FFF2-40B4-BE49-F238E27FC236}">
                <a16:creationId xmlns:a16="http://schemas.microsoft.com/office/drawing/2014/main" id="{7CF5314B-BDE4-465B-9892-CCC1B9C5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238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26" name="Image 6">
            <a:extLst xmlns:a="http://schemas.openxmlformats.org/drawingml/2006/main">
              <a:ext uri="{FF2B5EF4-FFF2-40B4-BE49-F238E27FC236}">
                <a16:creationId xmlns:a16="http://schemas.microsoft.com/office/drawing/2014/main" id="{502EF078-5A73-4C50-83AD-A338EC53C2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176296cb549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0869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7" name="Text 18">
            <a:extLst xmlns:a="http://schemas.openxmlformats.org/drawingml/2006/main">
              <a:ext uri="{FF2B5EF4-FFF2-40B4-BE49-F238E27FC236}">
                <a16:creationId xmlns:a16="http://schemas.microsoft.com/office/drawing/2014/main" id="{ABACF938-DDAC-4833-B479-AC194F7A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872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入庫</a:t>
            </a:r>
            <a:endParaRPr sz="1800"/>
          </a:p>
        </p:txBody>
      </p:sp>
      <p:sp>
        <p:nvSpPr>
          <p:cNvPr id="28" name="Text 19">
            <a:extLst xmlns:a="http://schemas.openxmlformats.org/drawingml/2006/main">
              <a:ext uri="{FF2B5EF4-FFF2-40B4-BE49-F238E27FC236}">
                <a16:creationId xmlns:a16="http://schemas.microsoft.com/office/drawing/2014/main" id="{70073DD7-ABFC-47D4-AF5F-0F20A3F9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872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張資料表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文章、留言、切段</a:t>
            </a:r>
            <a:endParaRPr sz="1400"/>
          </a:p>
        </p:txBody>
      </p:sp>
      <p:sp>
        <p:nvSpPr>
          <p:cNvPr id="29" name="Shape 20">
            <a:extLst xmlns:a="http://schemas.openxmlformats.org/drawingml/2006/main">
              <a:ext uri="{FF2B5EF4-FFF2-40B4-BE49-F238E27FC236}">
                <a16:creationId xmlns:a16="http://schemas.microsoft.com/office/drawing/2014/main" id="{0D1857AC-A072-4D6D-983A-057B03A7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846320"/>
            <a:ext cx="34747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1A457C06-BFAC-4639-BC68-95A477DB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84632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WebSocket 即時回報爬取進度</a:t>
            </a:r>
            <a:endParaRPr sz="1200"/>
          </a:p>
        </p:txBody>
      </p:sp>
      <p:sp>
        <p:nvSpPr>
          <p:cNvPr id="31" name="Shape 22">
            <a:extLst xmlns:a="http://schemas.openxmlformats.org/drawingml/2006/main">
              <a:ext uri="{FF2B5EF4-FFF2-40B4-BE49-F238E27FC236}">
                <a16:creationId xmlns:a16="http://schemas.microsoft.com/office/drawing/2014/main" id="{7F7E1441-4D8A-426D-864B-E3E011C0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4846320"/>
            <a:ext cx="34747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32" name="Text 23">
            <a:extLst xmlns:a="http://schemas.openxmlformats.org/drawingml/2006/main">
              <a:ext uri="{FF2B5EF4-FFF2-40B4-BE49-F238E27FC236}">
                <a16:creationId xmlns:a16="http://schemas.microsoft.com/office/drawing/2014/main" id="{65FF2298-BEE7-4B41-BB94-90D33EED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484632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租約鎖：手動與排程不重複跑</a:t>
            </a:r>
            <a:endParaRPr sz="1200"/>
          </a:p>
        </p:txBody>
      </p:sp>
      <p:sp>
        <p:nvSpPr>
          <p:cNvPr id="33" name="Shape 24">
            <a:extLst xmlns:a="http://schemas.openxmlformats.org/drawingml/2006/main">
              <a:ext uri="{FF2B5EF4-FFF2-40B4-BE49-F238E27FC236}">
                <a16:creationId xmlns:a16="http://schemas.microsoft.com/office/drawing/2014/main" id="{7425DDD9-6192-4E87-9376-4FB80BB5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</p:sp>
      <p:sp>
        <p:nvSpPr>
          <p:cNvPr id="34" name="Text 25">
            <a:extLst xmlns:a="http://schemas.openxmlformats.org/drawingml/2006/main">
              <a:ext uri="{FF2B5EF4-FFF2-40B4-BE49-F238E27FC236}">
                <a16:creationId xmlns:a16="http://schemas.microsoft.com/office/drawing/2014/main" id="{7EE680D6-AFDF-4F56-9F2E-036E857C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相關性規則已自動化；不等同業配、真偽或醫療知識驗證，人工複核流程待建立。</a:t>
            </a:r>
            <a:endParaRPr sz="1400"/>
          </a:p>
        </p:txBody>
      </p:sp>
      <p:sp>
        <p:nvSpPr>
          <p:cNvPr id="35" name="許家全 · 5:10–5:50">
            <a:extLst xmlns:a="http://schemas.openxmlformats.org/drawingml/2006/main">
              <a:ext uri="{FF2B5EF4-FFF2-40B4-BE49-F238E27FC236}">
                <a16:creationId xmlns:a16="http://schemas.microsoft.com/office/drawing/2014/main" id="{1199BFDD-CEBC-4035-91D6-76DEC2CF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5:10–5:50</a:t>
            </a:r>
          </a:p>
        </p:txBody>
      </p:sp>
      <p:sp>
        <p:nvSpPr>
          <p:cNvPr id="36" name="10">
            <a:extLst xmlns:a="http://schemas.openxmlformats.org/drawingml/2006/main">
              <a:ext uri="{FF2B5EF4-FFF2-40B4-BE49-F238E27FC236}">
                <a16:creationId xmlns:a16="http://schemas.microsoft.com/office/drawing/2014/main" id="{6C7CD6C5-8790-4F00-9A64-73A0743D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7737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評審 B · RAG 修正">
            <a:extLst xmlns:a="http://schemas.openxmlformats.org/drawingml/2006/main">
              <a:ext uri="{FF2B5EF4-FFF2-40B4-BE49-F238E27FC236}">
                <a16:creationId xmlns:a16="http://schemas.microsoft.com/office/drawing/2014/main" id="{75DE63E1-E2C4-45FD-85D0-6BD338CA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767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C85C00"/>
                </a:solidFill>
              </a:defRPr>
            </a:pPr>
            <a:r>
              <a:rPr sz="1350" b="1">
                <a:solidFill>
                  <a:srgbClr val="C85C00"/>
                </a:solidFill>
              </a:rPr>
              <a:t>評審 B · RAG 修正</a:t>
            </a:r>
          </a:p>
        </p:txBody>
      </p:sp>
      <p:sp>
        <p:nvSpPr>
          <p:cNvPr id="2" name="RAG：先找證據，再依問題整理答案">
            <a:extLst xmlns:a="http://schemas.openxmlformats.org/drawingml/2006/main">
              <a:ext uri="{FF2B5EF4-FFF2-40B4-BE49-F238E27FC236}">
                <a16:creationId xmlns:a16="http://schemas.microsoft.com/office/drawing/2014/main" id="{B9A53406-8A5D-42E6-95B8-D77620C0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RAG：先找證據，再依問題整理答案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7CCB0-E324-40E6-9857-9A7CA4EB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</p:sp>
      <p:sp>
        <p:nvSpPr>
          <p:cNvPr id="4" name="1｜解析問題">
            <a:extLst xmlns:a="http://schemas.openxmlformats.org/drawingml/2006/main">
              <a:ext uri="{FF2B5EF4-FFF2-40B4-BE49-F238E27FC236}">
                <a16:creationId xmlns:a16="http://schemas.microsoft.com/office/drawing/2014/main" id="{A9A8F6FF-F78F-40D6-B591-F3964E8C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1｜解析問題</a:t>
            </a:r>
          </a:p>
        </p:txBody>
      </p:sp>
      <p:sp>
        <p:nvSpPr>
          <p:cNvPr id="5" name="關鍵字、平台、期間&#10;辨識問題類型">
            <a:extLst xmlns:a="http://schemas.openxmlformats.org/drawingml/2006/main">
              <a:ext uri="{FF2B5EF4-FFF2-40B4-BE49-F238E27FC236}">
                <a16:creationId xmlns:a16="http://schemas.microsoft.com/office/drawing/2014/main" id="{BA7B32A6-2946-4558-A0F5-9F504D6F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關鍵字、平台、期間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辨識問題類型</a:t>
            </a:r>
          </a:p>
        </p:txBody>
      </p:sp>
      <p:sp>
        <p:nvSpPr>
          <p:cNvPr id="6" name="→">
            <a:extLst xmlns:a="http://schemas.openxmlformats.org/drawingml/2006/main">
              <a:ext uri="{FF2B5EF4-FFF2-40B4-BE49-F238E27FC236}">
                <a16:creationId xmlns:a16="http://schemas.microsoft.com/office/drawing/2014/main" id="{09145811-D4EB-43FE-81FA-D0FBE75B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F128E4-B351-4E52-823F-BADFB5B4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</p:sp>
      <p:sp>
        <p:nvSpPr>
          <p:cNvPr id="8" name="2｜雙路檢索">
            <a:extLst xmlns:a="http://schemas.openxmlformats.org/drawingml/2006/main">
              <a:ext uri="{FF2B5EF4-FFF2-40B4-BE49-F238E27FC236}">
                <a16:creationId xmlns:a16="http://schemas.microsoft.com/office/drawing/2014/main" id="{C43B28F5-73C2-499A-BFE2-0FA448C6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2｜雙路檢索</a:t>
            </a:r>
          </a:p>
        </p:txBody>
      </p:sp>
      <p:sp>
        <p:nvSpPr>
          <p:cNvPr id="9" name="關鍵字命中文章&#10;向量搜尋相似切段">
            <a:extLst xmlns:a="http://schemas.openxmlformats.org/drawingml/2006/main">
              <a:ext uri="{FF2B5EF4-FFF2-40B4-BE49-F238E27FC236}">
                <a16:creationId xmlns:a16="http://schemas.microsoft.com/office/drawing/2014/main" id="{245FB36B-CCAD-493D-856B-DFA03BF5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關鍵字命中文章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向量搜尋相似切段</a:t>
            </a:r>
          </a:p>
        </p:txBody>
      </p:sp>
      <p:sp>
        <p:nvSpPr>
          <p:cNvPr id="10" name="→">
            <a:extLst xmlns:a="http://schemas.openxmlformats.org/drawingml/2006/main">
              <a:ext uri="{FF2B5EF4-FFF2-40B4-BE49-F238E27FC236}">
                <a16:creationId xmlns:a16="http://schemas.microsoft.com/office/drawing/2014/main" id="{C5FF2BD1-F159-45DB-96A7-57377604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F99D2-85E1-4652-AA2C-32820DBC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</p:sp>
      <p:sp>
        <p:nvSpPr>
          <p:cNvPr id="12" name="3｜融合證據">
            <a:extLst xmlns:a="http://schemas.openxmlformats.org/drawingml/2006/main">
              <a:ext uri="{FF2B5EF4-FFF2-40B4-BE49-F238E27FC236}">
                <a16:creationId xmlns:a16="http://schemas.microsoft.com/office/drawing/2014/main" id="{37ECD397-79E6-4977-BDC2-7EA74FEB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3｜融合證據</a:t>
            </a:r>
          </a:p>
        </p:txBody>
      </p:sp>
      <p:sp>
        <p:nvSpPr>
          <p:cNvPr id="13" name="RRF 合併排序&#10;整理文章與留言">
            <a:extLst xmlns:a="http://schemas.openxmlformats.org/drawingml/2006/main">
              <a:ext uri="{FF2B5EF4-FFF2-40B4-BE49-F238E27FC236}">
                <a16:creationId xmlns:a16="http://schemas.microsoft.com/office/drawing/2014/main" id="{9E31B891-4FEE-4EC5-9B80-4CC01DB7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RRF 合併排序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整理文章與留言</a:t>
            </a:r>
          </a:p>
        </p:txBody>
      </p:sp>
      <p:sp>
        <p:nvSpPr>
          <p:cNvPr id="14" name="→">
            <a:extLst xmlns:a="http://schemas.openxmlformats.org/drawingml/2006/main">
              <a:ext uri="{FF2B5EF4-FFF2-40B4-BE49-F238E27FC236}">
                <a16:creationId xmlns:a16="http://schemas.microsoft.com/office/drawing/2014/main" id="{CB0A0004-9FC8-44EF-8B0F-94560DF6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201A17-01D7-4F4E-A435-A67E2661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</p:sp>
      <p:sp>
        <p:nvSpPr>
          <p:cNvPr id="16" name="4｜生成與回查">
            <a:extLst xmlns:a="http://schemas.openxmlformats.org/drawingml/2006/main">
              <a:ext uri="{FF2B5EF4-FFF2-40B4-BE49-F238E27FC236}">
                <a16:creationId xmlns:a16="http://schemas.microsoft.com/office/drawing/2014/main" id="{C7D3F989-65D1-4905-93A3-F69A9147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4｜生成與回查</a:t>
            </a:r>
          </a:p>
        </p:txBody>
      </p:sp>
      <p:sp>
        <p:nvSpPr>
          <p:cNvPr id="17" name="Gemini 依證據回答&#10;顯示引用來源連結">
            <a:extLst xmlns:a="http://schemas.openxmlformats.org/drawingml/2006/main">
              <a:ext uri="{FF2B5EF4-FFF2-40B4-BE49-F238E27FC236}">
                <a16:creationId xmlns:a16="http://schemas.microsoft.com/office/drawing/2014/main" id="{21568FEA-2740-46DF-8E7E-05C2DF83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Gemini 依證據回答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顯示引用來源連結</a:t>
            </a:r>
          </a:p>
        </p:txBody>
      </p:sp>
      <p:sp>
        <p:nvSpPr>
          <p:cNvPr id="18" name="初評：SQL 關鍵字比對">
            <a:extLst xmlns:a="http://schemas.openxmlformats.org/drawingml/2006/main">
              <a:ext uri="{FF2B5EF4-FFF2-40B4-BE49-F238E27FC236}">
                <a16:creationId xmlns:a16="http://schemas.microsoft.com/office/drawing/2014/main" id="{21E1B770-BB3D-456D-9E37-B54EC601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23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初評：SQL 關鍵字比對</a:t>
            </a:r>
          </a:p>
        </p:txBody>
      </p:sp>
      <p:sp>
        <p:nvSpPr>
          <p:cNvPr id="19" name="現行：意圖解析＋混合檢索">
            <a:extLst xmlns:a="http://schemas.openxmlformats.org/drawingml/2006/main">
              <a:ext uri="{FF2B5EF4-FFF2-40B4-BE49-F238E27FC236}">
                <a16:creationId xmlns:a16="http://schemas.microsoft.com/office/drawing/2014/main" id="{6AAC09A4-89E6-43CC-B944-F63DCA8C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514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2073BE"/>
                </a:solidFill>
              </a:defRPr>
            </a:pPr>
            <a:r>
              <a:rPr sz="1800" b="1">
                <a:solidFill>
                  <a:srgbClr val="2073BE"/>
                </a:solidFill>
              </a:rPr>
              <a:t>現行：意圖解析＋混合檢索</a:t>
            </a:r>
          </a:p>
        </p:txBody>
      </p:sp>
      <p:sp>
        <p:nvSpPr>
          <p:cNvPr id="20" name="文章預處理：文章切段 → 建立向量 → 儲存 article">
            <a:extLst xmlns:a="http://schemas.openxmlformats.org/drawingml/2006/main">
              <a:ext uri="{FF2B5EF4-FFF2-40B4-BE49-F238E27FC236}">
                <a16:creationId xmlns:a16="http://schemas.microsoft.com/office/drawing/2014/main" id="{CC43DE36-80D4-4D7C-8680-E179EF10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29175"/>
            <a:ext cx="10725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文章預處理：文章切段 → 建立向量 → 儲存 article_chunks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A7B715-1567-4D18-979F-61EE189B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</p:sp>
      <p:sp>
        <p:nvSpPr>
          <p:cNvPr id="22" name="向量無結果時回退關鍵字；引用可核對來源，但仍需驗證答案品質。">
            <a:extLst xmlns:a="http://schemas.openxmlformats.org/drawingml/2006/main">
              <a:ext uri="{FF2B5EF4-FFF2-40B4-BE49-F238E27FC236}">
                <a16:creationId xmlns:a16="http://schemas.microsoft.com/office/drawing/2014/main" id="{41A3AE8C-22B4-4507-9429-9A536FD2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向量無結果時回退關鍵字；引用可核對來源，但仍需驗證答案品質。</a:t>
            </a:r>
          </a:p>
        </p:txBody>
      </p:sp>
      <p:sp>
        <p:nvSpPr>
          <p:cNvPr id="23" name="許家全 · 5:50–6:35">
            <a:extLst xmlns:a="http://schemas.openxmlformats.org/drawingml/2006/main">
              <a:ext uri="{FF2B5EF4-FFF2-40B4-BE49-F238E27FC236}">
                <a16:creationId xmlns:a16="http://schemas.microsoft.com/office/drawing/2014/main" id="{209D6858-4F66-42BB-AE07-5F5B74BF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5:50–6:35</a:t>
            </a:r>
          </a:p>
        </p:txBody>
      </p:sp>
      <p:sp>
        <p:nvSpPr>
          <p:cNvPr id="24" name="11">
            <a:extLst xmlns:a="http://schemas.openxmlformats.org/drawingml/2006/main">
              <a:ext uri="{FF2B5EF4-FFF2-40B4-BE49-F238E27FC236}">
                <a16:creationId xmlns:a16="http://schemas.microsoft.com/office/drawing/2014/main" id="{CACC4743-E5A1-4826-B85C-32F0F333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089718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BAAFB14-3979-4C29-A168-E86AC5F8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評審B · 分數一致性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233F3C0-5A8E-4E34-8ECF-E33A23B4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情緒驗證：區分模型一致性與重跑穩定性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5CEA188-EA69-45AE-A12C-C3167970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4C4B1AC-B8EB-4E5D-9805-9C092E69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82%</a:t>
            </a:r>
            <a:endParaRPr sz="3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7EE03E4-B401-4044-8DC0-F7AB6406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與另一模型盲標一致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F21E905-8B4E-4856-BA54-CF33C512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篇分層抽樣，κ ≈ 0.73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6FE9418-C4CC-4F04-BE99-2259F43F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330BEC-080B-46C0-BF9E-710871B6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1416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12 → 0</a:t>
            </a:r>
            <a:endParaRPr sz="3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5C05624-C73B-490A-99FD-E14AC740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1416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本批 100 篇標籤變動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B3BE34B-8396-4F77-8F37-752D0C7A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temperature 0.3 → 0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238C662-39CA-44E4-9046-5A77CF04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C3B5637-06BD-4EA7-8079-48688A05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0.67</a:t>
            </a:r>
            <a:endParaRPr sz="3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0B1C888-5786-4E85-9B7F-75A54D45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負面 precision（AI 對照）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E2E9DD7-396D-458E-91C7-4A553156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以另一模型標籤為參照，非人工準確度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495A569-2A36-44A4-BA0D-4D48EB57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69080"/>
            <a:ext cx="10725912" cy="128016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17C0E2E-3F9B-4759-8BCF-5D07BDFC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06240"/>
            <a:ext cx="1072591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比較用分數 ＝ 50 ＋（正面% − 負面%）÷ 2</a:t>
            </a:r>
            <a:endParaRPr sz="2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DBF1759-9F6A-4EAD-AD43-1F8388C5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1072591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例如正面 60%、負面 10% → 75 分；須在相同範圍及分母下比較。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A5F12A4-CE1B-41B2-88F4-7C16AD0D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6E680E5-C80B-4BC0-ADD1-10CDEAC2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全庫 1.6 萬筆已改 temperature 0 重評；模型一致率不等於正確率，人工標註待補。</a:t>
            </a:r>
            <a:endParaRPr sz="1400"/>
          </a:p>
        </p:txBody>
      </p:sp>
      <p:sp>
        <p:nvSpPr>
          <p:cNvPr id="23" name="許家全 · 6:35–7:20">
            <a:extLst xmlns:a="http://schemas.openxmlformats.org/drawingml/2006/main">
              <a:ext uri="{FF2B5EF4-FFF2-40B4-BE49-F238E27FC236}">
                <a16:creationId xmlns:a16="http://schemas.microsoft.com/office/drawing/2014/main" id="{FA88BA15-74D1-4710-8B9E-0D832E8B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6:35–7:20</a:t>
            </a:r>
          </a:p>
        </p:txBody>
      </p:sp>
      <p:sp>
        <p:nvSpPr>
          <p:cNvPr id="24" name="12">
            <a:extLst xmlns:a="http://schemas.openxmlformats.org/drawingml/2006/main">
              <a:ext uri="{FF2B5EF4-FFF2-40B4-BE49-F238E27FC236}">
                <a16:creationId xmlns:a16="http://schemas.microsoft.com/office/drawing/2014/main" id="{6E8821F2-C3F9-4329-AF81-AFBBB376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50467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8E45A7A-556D-4F81-83A7-14615AB2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系統完成度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137F97-A0DA-4BE7-90F8-DC23A4E6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系統完成度：核心已實作，驗收仍有缺口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5DB0BBF-30F6-4DC6-95B8-C2DD0C30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CB9C0CF-009C-4D19-BE99-D8226979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4AF8D58E-104C-4539-847D-587A19083F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774151dbb54a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6DECED8-F6E0-4C42-935A-88647A15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已實作的核心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0C65E00-C153-4A54-A212-A7176CF5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儀表板、文章詳情、文字雲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問答附來源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個人歷史、比較、Excel 匯出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帳號角色、方案額度、監測預警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Alembic 資料庫遷移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8C928EB-5393-40E6-88E5-AB37A99A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893B97AE-7A1B-4A20-A702-8098EB94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6228734B-0F17-4F5F-A60E-AC1D32E2D9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9d62c036fe49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18E5ED8-45D7-4578-A247-1BB53D2A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待修正・待驗證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1DA4A7D-B8D3-4F19-BE11-C888272E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建置與部署驗證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情緒準確度（人工標註）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檢索相關性（固定題組）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高負載與多使用者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B42AC430-86BA-48DE-986E-C676D28D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0EF4F65E-758A-4E09-8FD0-F3E96682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5087F159-9941-4BFF-B53B-F14175154C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0eded80b1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F5100BB6-0D7E-4E9A-AFF4-AD721DB2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規劃中（不計入）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5D86EF59-CB22-4022-B197-EC040A35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訂閱收款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知識萃取與專家驗證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一般消費者版本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90E245E7-B93B-4453-8342-2C55280C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9A411FC2-DF37-4156-8DA8-61080FED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依「已實作／待驗證／規劃」分列；未定義驗收分母，不宣稱完成百分比。</a:t>
            </a:r>
            <a:endParaRPr sz="1400"/>
          </a:p>
        </p:txBody>
      </p:sp>
      <p:sp>
        <p:nvSpPr>
          <p:cNvPr id="23" name="許家全 · 7:20–8:00">
            <a:extLst xmlns:a="http://schemas.openxmlformats.org/drawingml/2006/main">
              <a:ext uri="{FF2B5EF4-FFF2-40B4-BE49-F238E27FC236}">
                <a16:creationId xmlns:a16="http://schemas.microsoft.com/office/drawing/2014/main" id="{3CFAA62A-AF22-4B52-AE23-A600D1B9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7:20–8:00</a:t>
            </a:r>
          </a:p>
        </p:txBody>
      </p:sp>
      <p:sp>
        <p:nvSpPr>
          <p:cNvPr id="24" name="13">
            <a:extLst xmlns:a="http://schemas.openxmlformats.org/drawingml/2006/main">
              <a:ext uri="{FF2B5EF4-FFF2-40B4-BE49-F238E27FC236}">
                <a16:creationId xmlns:a16="http://schemas.microsoft.com/office/drawing/2014/main" id="{BFD69344-8AE2-42D9-B1F5-611FD6B4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2572280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功能完整性">
            <a:extLst xmlns:a="http://schemas.openxmlformats.org/drawingml/2006/main">
              <a:ext uri="{FF2B5EF4-FFF2-40B4-BE49-F238E27FC236}">
                <a16:creationId xmlns:a16="http://schemas.microsoft.com/office/drawing/2014/main" id="{6E42A8D1-38E0-47A4-9BC4-5B5DFEDF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767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C85C00"/>
                </a:solidFill>
              </a:defRPr>
            </a:pPr>
            <a:r>
              <a:rPr sz="1350" b="1">
                <a:solidFill>
                  <a:srgbClr val="C85C00"/>
                </a:solidFill>
              </a:rPr>
              <a:t>功能完整性</a:t>
            </a:r>
          </a:p>
        </p:txBody>
      </p:sp>
      <p:sp>
        <p:nvSpPr>
          <p:cNvPr id="2" name="一條研究流程，對應六組可操作功能">
            <a:extLst xmlns:a="http://schemas.openxmlformats.org/drawingml/2006/main">
              <a:ext uri="{FF2B5EF4-FFF2-40B4-BE49-F238E27FC236}">
                <a16:creationId xmlns:a16="http://schemas.microsoft.com/office/drawing/2014/main" id="{BE27C868-2AD2-4089-8BF8-60D6F295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一條研究流程，對應六組可操作功能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A1F4E0-905D-41F2-BD1B-FB7836BCADB3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771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28800"/>
                <a:gridCol w="5010150"/>
                <a:gridCol w="3886200"/>
              </a:tblGrid>
              <a:tr h="53884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流程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使用者能完成的操作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輸出／驗收重點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設定範圍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關鍵字、平台、期間篩選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查詢條件與資料範圍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觀察討論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趨勢、情緒、主題、熱門文章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圖表與文章明細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追問與核對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AI 問答、展開來源、回原文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回答與引用清單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留存與比較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儲存分析歷史、比較兩次結果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歷史列表與差異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輸出成果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Excel 匯出、報告列印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可下載／可列印資料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持續監測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關鍵字監測、預警列表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只能操作自己的預警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1D8A4-4F17-4D2A-8002-55C9ADD1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</p:sp>
      <p:sp>
        <p:nvSpPr>
          <p:cNvPr id="5" name="涵蓋搜尋 → 分析 → 問答 → 回查 → 留存 → 輸出；">
            <a:extLst xmlns:a="http://schemas.openxmlformats.org/drawingml/2006/main">
              <a:ext uri="{FF2B5EF4-FFF2-40B4-BE49-F238E27FC236}">
                <a16:creationId xmlns:a16="http://schemas.microsoft.com/office/drawing/2014/main" id="{F3F2EEEA-0C9E-42FA-A4D3-4091B38E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涵蓋搜尋 → 分析 → 問答 → 回查 → 留存 → 輸出；品質與權限另列驗證。</a:t>
            </a:r>
          </a:p>
        </p:txBody>
      </p:sp>
      <p:sp>
        <p:nvSpPr>
          <p:cNvPr id="6" name="許家全 · 8:00–8:35">
            <a:extLst xmlns:a="http://schemas.openxmlformats.org/drawingml/2006/main">
              <a:ext uri="{FF2B5EF4-FFF2-40B4-BE49-F238E27FC236}">
                <a16:creationId xmlns:a16="http://schemas.microsoft.com/office/drawing/2014/main" id="{256D84E3-1A04-45AE-B6C2-61D7838A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8:00–8:35</a:t>
            </a:r>
          </a:p>
        </p:txBody>
      </p:sp>
      <p:sp>
        <p:nvSpPr>
          <p:cNvPr id="7" name="14">
            <a:extLst xmlns:a="http://schemas.openxmlformats.org/drawingml/2006/main">
              <a:ext uri="{FF2B5EF4-FFF2-40B4-BE49-F238E27FC236}">
                <a16:creationId xmlns:a16="http://schemas.microsoft.com/office/drawing/2014/main" id="{9C267043-34B0-4751-9CE1-2E6AD157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487754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實機展示 · 2 分 20 秒">
            <a:extLst xmlns:a="http://schemas.openxmlformats.org/drawingml/2006/main">
              <a:ext uri="{FF2B5EF4-FFF2-40B4-BE49-F238E27FC236}">
                <a16:creationId xmlns:a16="http://schemas.microsoft.com/office/drawing/2014/main" id="{6A4537BA-0D5D-4481-9844-C69165E1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767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C85C00"/>
                </a:solidFill>
              </a:defRPr>
            </a:pPr>
            <a:r>
              <a:rPr sz="1350" b="1">
                <a:solidFill>
                  <a:srgbClr val="C85C00"/>
                </a:solidFill>
              </a:rPr>
              <a:t>實機展示 · 2 分 20 秒</a:t>
            </a:r>
          </a:p>
        </p:txBody>
      </p:sp>
      <p:sp>
        <p:nvSpPr>
          <p:cNvPr id="2" name="Demo：完成一次跨平台口碑研究">
            <a:extLst xmlns:a="http://schemas.openxmlformats.org/drawingml/2006/main">
              <a:ext uri="{FF2B5EF4-FFF2-40B4-BE49-F238E27FC236}">
                <a16:creationId xmlns:a16="http://schemas.microsoft.com/office/drawing/2014/main" id="{972B6D80-BB92-4BA7-BCC1-8C2E2AAE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Demo：完成一次跨平台口碑研究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7A6399-C70D-43BD-B052-11B64F9E93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bc89e017e4048"/>
          <a:stretch xmlns:a="http://schemas.openxmlformats.org/drawingml/2006/main"/>
        </p:blipFill>
        <p:spPr>
          <a:xfrm xmlns:a="http://schemas.openxmlformats.org/drawingml/2006/main">
            <a:off x="1584325" y="1771650"/>
            <a:ext cx="6032500" cy="3771900"/>
          </a:xfrm>
          <a:prstGeom xmlns:a="http://schemas.openxmlformats.org/drawingml/2006/main" prst="rect">
            <a:avLst/>
          </a:prstGeom>
        </p:spPr>
      </p:pic>
      <p:sp>
        <p:nvSpPr>
          <p:cNvPr id="4" name="01  範圍與趨勢">
            <a:extLst xmlns:a="http://schemas.openxmlformats.org/drawingml/2006/main">
              <a:ext uri="{FF2B5EF4-FFF2-40B4-BE49-F238E27FC236}">
                <a16:creationId xmlns:a16="http://schemas.microsoft.com/office/drawing/2014/main" id="{C97588E4-F0F7-4492-819D-5189D843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1914525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01  範圍與趨勢</a:t>
            </a:r>
          </a:p>
        </p:txBody>
      </p:sp>
      <p:sp>
        <p:nvSpPr>
          <p:cNvPr id="5" name="選擇關鍵字、平台與期間&#10;核對趨勢及文章明細">
            <a:extLst xmlns:a="http://schemas.openxmlformats.org/drawingml/2006/main">
              <a:ext uri="{FF2B5EF4-FFF2-40B4-BE49-F238E27FC236}">
                <a16:creationId xmlns:a16="http://schemas.microsoft.com/office/drawing/2014/main" id="{9A78CDC3-CED4-4044-92C1-FEACD928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38125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選擇關鍵字、平台與期間</a:t>
            </a:r>
          </a:p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核對趨勢及文章明細</a:t>
            </a:r>
          </a:p>
        </p:txBody>
      </p:sp>
      <p:sp>
        <p:nvSpPr>
          <p:cNvPr id="6" name="02  問答與回查">
            <a:extLst xmlns:a="http://schemas.openxmlformats.org/drawingml/2006/main">
              <a:ext uri="{FF2B5EF4-FFF2-40B4-BE49-F238E27FC236}">
                <a16:creationId xmlns:a16="http://schemas.microsoft.com/office/drawing/2014/main" id="{83B7B1E0-BED3-4132-B003-B5BFA1A2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2575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02  問答與回查</a:t>
            </a:r>
          </a:p>
        </p:txBody>
      </p:sp>
      <p:sp>
        <p:nvSpPr>
          <p:cNvPr id="7" name="提出研究問題&#10;展開引用，返回原文">
            <a:extLst xmlns:a="http://schemas.openxmlformats.org/drawingml/2006/main">
              <a:ext uri="{FF2B5EF4-FFF2-40B4-BE49-F238E27FC236}">
                <a16:creationId xmlns:a16="http://schemas.microsoft.com/office/drawing/2014/main" id="{BB4CA276-D84B-4107-B496-81E35364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724275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提出研究問題</a:t>
            </a:r>
          </a:p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展開引用，返回原文</a:t>
            </a:r>
          </a:p>
        </p:txBody>
      </p:sp>
      <p:sp>
        <p:nvSpPr>
          <p:cNvPr id="8" name="03  比較與匯出">
            <a:extLst xmlns:a="http://schemas.openxmlformats.org/drawingml/2006/main">
              <a:ext uri="{FF2B5EF4-FFF2-40B4-BE49-F238E27FC236}">
                <a16:creationId xmlns:a16="http://schemas.microsoft.com/office/drawing/2014/main" id="{51972152-5DF2-4E83-B7CA-DE2DAFC5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7434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03  比較與匯出</a:t>
            </a:r>
          </a:p>
        </p:txBody>
      </p:sp>
      <p:sp>
        <p:nvSpPr>
          <p:cNvPr id="9" name="比較歷史，匯出 Excel">
            <a:extLst xmlns:a="http://schemas.openxmlformats.org/drawingml/2006/main">
              <a:ext uri="{FF2B5EF4-FFF2-40B4-BE49-F238E27FC236}">
                <a16:creationId xmlns:a16="http://schemas.microsoft.com/office/drawing/2014/main" id="{015E1E5A-6369-4DFA-87A2-D0F21F35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5238750"/>
            <a:ext cx="2686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比較歷史，匯出 Excel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8DC994-AF3A-4CCE-AE30-84C0746A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</p:sp>
      <p:sp>
        <p:nvSpPr>
          <p:cNvPr id="11" name="示範重點：相同查詢條件、可回查的來源、可留存的結果。">
            <a:extLst xmlns:a="http://schemas.openxmlformats.org/drawingml/2006/main">
              <a:ext uri="{FF2B5EF4-FFF2-40B4-BE49-F238E27FC236}">
                <a16:creationId xmlns:a16="http://schemas.microsoft.com/office/drawing/2014/main" id="{507120D7-1814-4148-9CE6-178D939A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示範重點：相同查詢條件、可回查的來源、可留存的結果。</a:t>
            </a:r>
          </a:p>
        </p:txBody>
      </p:sp>
      <p:sp>
        <p:nvSpPr>
          <p:cNvPr id="12" name="許家全 · 8:35–10:55">
            <a:extLst xmlns:a="http://schemas.openxmlformats.org/drawingml/2006/main">
              <a:ext uri="{FF2B5EF4-FFF2-40B4-BE49-F238E27FC236}">
                <a16:creationId xmlns:a16="http://schemas.microsoft.com/office/drawing/2014/main" id="{3FAED758-A0C2-4EBA-A42C-BB1D0193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8:35–10:55</a:t>
            </a:r>
          </a:p>
        </p:txBody>
      </p:sp>
      <p:sp>
        <p:nvSpPr>
          <p:cNvPr id="13" name="15">
            <a:extLst xmlns:a="http://schemas.openxmlformats.org/drawingml/2006/main">
              <a:ext uri="{FF2B5EF4-FFF2-40B4-BE49-F238E27FC236}">
                <a16:creationId xmlns:a16="http://schemas.microsoft.com/office/drawing/2014/main" id="{0EA590A7-008B-4E74-A0EE-42FF4FC6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2016465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驗證證據">
            <a:extLst xmlns:a="http://schemas.openxmlformats.org/drawingml/2006/main">
              <a:ext uri="{FF2B5EF4-FFF2-40B4-BE49-F238E27FC236}">
                <a16:creationId xmlns:a16="http://schemas.microsoft.com/office/drawing/2014/main" id="{38E10553-FCB4-4202-94B2-40896151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767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C85C00"/>
                </a:solidFill>
              </a:defRPr>
            </a:pPr>
            <a:r>
              <a:rPr sz="1350" b="1">
                <a:solidFill>
                  <a:srgbClr val="C85C00"/>
                </a:solidFill>
              </a:rPr>
              <a:t>驗證證據</a:t>
            </a:r>
          </a:p>
        </p:txBody>
      </p:sp>
      <p:sp>
        <p:nvSpPr>
          <p:cNvPr id="2" name="分層測試：區分原始報告與原稿紀錄">
            <a:extLst xmlns:a="http://schemas.openxmlformats.org/drawingml/2006/main">
              <a:ext uri="{FF2B5EF4-FFF2-40B4-BE49-F238E27FC236}">
                <a16:creationId xmlns:a16="http://schemas.microsoft.com/office/drawing/2014/main" id="{D16A66BA-E063-48C5-8CED-B168A753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分層測試：每一層都有可核對的原始報告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4A74EC-4A35-461F-ABDB-A1528177ABA7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9350"/>
                <a:gridCol w="4000500"/>
                <a:gridCol w="4305300"/>
              </a:tblGrid>
              <a:tr h="63817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層級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結果與日期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本次可核對的證據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PostgreSQL 整合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10 通過｜2026/10/03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postgres-results.xml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Chromium 端對端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4 通過｜2026/09/27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all-results.xml 內 4 個 E2E 案例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後端 pytest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493 通過、1 略過｜2026/10/12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pytest-20261012.xml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前端 Vitest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43 通過｜2026/10/12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vitest-20261012.xml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測試能支持流程；外部模型的固定回應不能證明回答品質。">
            <a:extLst xmlns:a="http://schemas.openxmlformats.org/drawingml/2006/main">
              <a:ext uri="{FF2B5EF4-FFF2-40B4-BE49-F238E27FC236}">
                <a16:creationId xmlns:a16="http://schemas.microsoft.com/office/drawing/2014/main" id="{2794C48B-BB46-47CC-BC47-B9099746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181600"/>
            <a:ext cx="1072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測試能支持流程；外部模型的固定回應不能證明回答品質。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3D7C7B-A4A7-4323-83BE-56D71FBE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以上為歷史紀錄，本次未重跑系統測試；不同日期、範圍的測試不累">
            <a:extLst xmlns:a="http://schemas.openxmlformats.org/drawingml/2006/main">
              <a:ext uri="{FF2B5EF4-FFF2-40B4-BE49-F238E27FC236}">
                <a16:creationId xmlns:a16="http://schemas.microsoft.com/office/drawing/2014/main" id="{474FE176-8F6C-43D2-BF97-B262F2A7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單元／API 測試 10/12 重跑並保存 XML；PostgreSQL、E2E 為先前報告，不同日期不累加。</a:t>
            </a:r>
          </a:p>
        </p:txBody>
      </p:sp>
      <p:sp>
        <p:nvSpPr>
          <p:cNvPr id="7" name="許家全 · 10:55–11:30">
            <a:extLst xmlns:a="http://schemas.openxmlformats.org/drawingml/2006/main">
              <a:ext uri="{FF2B5EF4-FFF2-40B4-BE49-F238E27FC236}">
                <a16:creationId xmlns:a16="http://schemas.microsoft.com/office/drawing/2014/main" id="{ADC34263-8249-4F0D-8E5E-90DCF42F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10:55–11:30</a:t>
            </a:r>
          </a:p>
        </p:txBody>
      </p:sp>
      <p:sp>
        <p:nvSpPr>
          <p:cNvPr id="8" name="16">
            <a:extLst xmlns:a="http://schemas.openxmlformats.org/drawingml/2006/main">
              <a:ext uri="{FF2B5EF4-FFF2-40B4-BE49-F238E27FC236}">
                <a16:creationId xmlns:a16="http://schemas.microsoft.com/office/drawing/2014/main" id="{0F8FF5F3-E919-4AB8-85B5-F26C52CD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4383032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77474F0-F8F4-49B2-B021-2841AA62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評審C · 甘特圖年月 ／ GitHub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19F8EF-F5DF-40AA-9A65-9DD5DD1F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一年兩學期：用實際月份管進度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50CE05C-0D67-44F9-A324-DEE1C27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115/2</a:t>
            </a:r>
            <a:endParaRPr sz="1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6172688-1603-49F3-9037-34F87F86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534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3月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DF420BD-015E-4EC4-9A61-03E00ECF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172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4月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5F6480C-F537-4BEB-B40F-F6EF40BB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998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5月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4F17DD7-21C0-4EEB-9208-13438D2A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24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6月</a:t>
            </a:r>
            <a:endParaRPr sz="1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CD1FBEE-868C-45F1-879C-75AAFC53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7月</a:t>
            </a:r>
            <a:endParaRPr sz="12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DF6BD7C-6AF6-411A-B983-A925B6CB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47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8月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1B3BC42-EBF2-463E-BDC3-DF66A676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8302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9月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173730A-AD3F-4629-8749-02C46522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10月</a:t>
            </a:r>
            <a:endParaRPr sz="1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3727586-7BC0-4AA2-B812-CF674A06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5954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11月</a:t>
            </a:r>
            <a:endParaRPr sz="1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EB3137D-C277-4BFF-AAFF-55F9FFCC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978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12月</a:t>
            </a:r>
            <a:endParaRPr sz="1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D6C11BB-135C-4DD4-B084-C935FAAD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360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116/1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CA6B60B-938D-4823-BCC2-411DD7C2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2112264"/>
            <a:ext cx="1285875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6670DA9-0465-461E-AA7C-02D55AB3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12264"/>
            <a:ext cx="1340739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起始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67B7FF5-F52F-4975-B88F-F9F8D17E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9691" y="2112264"/>
            <a:ext cx="1554023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CCDDD2A-5E57-4149-A269-2104A0A4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2259" y="2112264"/>
            <a:ext cx="1608887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精化</a:t>
            </a:r>
            <a:endParaRPr sz="12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0ACEE37-122A-4799-BB96-38088912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8578" y="2112264"/>
            <a:ext cx="4414266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6149992-F0B7-4DEC-97E1-9E72FAC9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146" y="2112264"/>
            <a:ext cx="446913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建構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E2DD23C-1F13-4B52-A47E-C4E8B7CD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708" y="2112264"/>
            <a:ext cx="3252292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AAA81B3-D9E4-41F5-A3B7-43021EAC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0276" y="2112264"/>
            <a:ext cx="330715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移轉（進行中）</a:t>
            </a:r>
            <a:endParaRPr sz="12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C78BB86-82BA-44D9-99B4-72053C76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343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831BA3F-DA7A-4203-9754-4624537A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4999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6/2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初審</a:t>
            </a:r>
            <a:endParaRPr sz="12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DA486A40-9025-445C-BF06-E4A57A54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7362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906C453-B41D-4EDF-8F56-CF584557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1018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10/13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複審繳件</a:t>
            </a:r>
            <a:endParaRPr sz="12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F3C9906E-D32A-4BA9-A3B4-BEC39368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8719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BC57DE1-F6A8-4D40-9146-3FD4D0BB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375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11/25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觀摩展</a:t>
            </a:r>
            <a:endParaRPr sz="12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672DB685-AB9D-4363-B773-0D7CF409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6619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74F7715-C5AD-4AD8-8777-D6C4C57D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0275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12/29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最終版</a:t>
            </a:r>
            <a:endParaRPr sz="12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7B0BBB13-89B7-45AB-951A-48BEFA7E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83280"/>
            <a:ext cx="6035040" cy="2148840"/>
          </a:xfrm>
          <a:prstGeom xmlns:a="http://schemas.openxmlformats.org/drawingml/2006/main" prst="roundRect">
            <a:avLst>
              <a:gd name="adj" fmla="val 6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7643EAF1-6475-49A7-A48F-A432EAFE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383280"/>
            <a:ext cx="4507992" cy="2148840"/>
          </a:xfrm>
          <a:prstGeom xmlns:a="http://schemas.openxmlformats.org/drawingml/2006/main" prst="roundRect">
            <a:avLst>
              <a:gd name="adj" fmla="val 6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02A8C67-D741-49E1-9E36-B97E8D78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566160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0E730E12-F1AC-47E1-A3A6-3FD8BBC6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566160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5 月</a:t>
            </a:r>
            <a:endParaRPr sz="1200"/>
          </a:p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1B239023-9E52-4116-B7F8-29BE9432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547872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 爬蟲、儀表板雛形</a:t>
            </a:r>
            <a:endParaRPr sz="1400"/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F2A69462-030D-4208-B9BA-475C0E95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950208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093B1419-DF2B-4FAA-B2BD-EE694173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950208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7 月</a:t>
            </a:r>
            <a:endParaRPr sz="1200"/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7B9FB28-D2A6-4787-9847-0600FCA0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931920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帳號、WebSocket、Threads</a:t>
            </a:r>
            <a:endParaRPr sz="1400"/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8FE1E07-1E40-4B32-BCD9-A4934E54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334256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21099281-C000-4EAE-B247-E0855EE8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334256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8 月</a:t>
            </a:r>
            <a:endParaRPr sz="1200"/>
          </a:p>
        </p:txBody>
      </p:sp>
      <p:sp>
        <p:nvSpPr>
          <p:cNvPr id="45" name="Text 42">
            <a:extLst xmlns:a="http://schemas.openxmlformats.org/drawingml/2006/main">
              <a:ext uri="{FF2B5EF4-FFF2-40B4-BE49-F238E27FC236}">
                <a16:creationId xmlns:a16="http://schemas.microsoft.com/office/drawing/2014/main" id="{43D7E73D-6558-4FCB-B74E-F9BEF1F3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315968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Dcard、Mobile01、方案額度</a:t>
            </a:r>
            <a:endParaRPr sz="1400"/>
          </a:p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551EF12F-89F5-42E4-95D5-1BACD5D2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718304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64826EBD-EDD1-4A9F-9D99-14C6FCA0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718304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9 月</a:t>
            </a:r>
            <a:endParaRPr sz="1200"/>
          </a:p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97A4B502-DDBF-4AE9-B88B-96868612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700016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Alembic 遷移、向量檢索</a:t>
            </a:r>
            <a:endParaRPr sz="1400"/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013B4DC3-643A-4B1A-81C6-E3AE9F64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102352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68A1ADBC-DD35-4C29-A297-584A9573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102352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10 月</a:t>
            </a:r>
            <a:endParaRPr sz="1200"/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4CBCE47-65E0-4426-AD10-3048A470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5084064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整合測試、情緒一致性修正</a:t>
            </a:r>
            <a:endParaRPr sz="1400"/>
          </a:p>
        </p:txBody>
      </p:sp>
      <p:sp>
        <p:nvSpPr>
          <p:cNvPr id="52" name="Shape 49">
            <a:extLst xmlns:a="http://schemas.openxmlformats.org/drawingml/2006/main">
              <a:ext uri="{FF2B5EF4-FFF2-40B4-BE49-F238E27FC236}">
                <a16:creationId xmlns:a16="http://schemas.microsoft.com/office/drawing/2014/main" id="{1BC04AE9-A050-40E6-AA53-5E1A8A20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</p:sp>
      <p:sp>
        <p:nvSpPr>
          <p:cNvPr id="53" name="Text 50">
            <a:extLst xmlns:a="http://schemas.openxmlformats.org/drawingml/2006/main">
              <a:ext uri="{FF2B5EF4-FFF2-40B4-BE49-F238E27FC236}">
                <a16:creationId xmlns:a16="http://schemas.microsoft.com/office/drawing/2014/main" id="{15366697-B447-49EA-A244-2C2D721D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GitHub：7–10 月 146 次提交（截至 10/12，皆已推送）；非逐人貢獻比例。</a:t>
            </a:r>
            <a:endParaRPr sz="1400"/>
          </a:p>
        </p:txBody>
      </p:sp>
      <p:sp>
        <p:nvSpPr>
          <p:cNvPr id="54" name="陳威帆 · 11:30–12:15">
            <a:extLst xmlns:a="http://schemas.openxmlformats.org/drawingml/2006/main">
              <a:ext uri="{FF2B5EF4-FFF2-40B4-BE49-F238E27FC236}">
                <a16:creationId xmlns:a16="http://schemas.microsoft.com/office/drawing/2014/main" id="{CB8A64D2-E498-4020-B1A2-49E6B8E7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11:30–12:15</a:t>
            </a:r>
          </a:p>
        </p:txBody>
      </p:sp>
      <p:sp>
        <p:nvSpPr>
          <p:cNvPr id="55" name="17">
            <a:extLst xmlns:a="http://schemas.openxmlformats.org/drawingml/2006/main">
              <a:ext uri="{FF2B5EF4-FFF2-40B4-BE49-F238E27FC236}">
                <a16:creationId xmlns:a16="http://schemas.microsoft.com/office/drawing/2014/main" id="{A13AD611-5595-4DFB-8BD9-6296EE5D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17</a:t>
            </a:r>
          </a:p>
        </p:txBody>
      </p:sp>
      <p:graphicFrame>
        <p:nvGraphicFramePr>
          <p:cNvPr id="56" name="Chart">
            <a:extLst xmlns:a="http://schemas.openxmlformats.org/drawingml/2006/main">
              <a:ext uri="{FF2B5EF4-FFF2-40B4-BE49-F238E27FC236}">
                <a16:creationId xmlns:a16="http://schemas.microsoft.com/office/drawing/2014/main" id="{1010574F-0FDF-4032-8F0A-AF35C50413F4}"/>
              </a:ext>
            </a:extLst>
          </p:cNvPr>
          <p:cNvGraphicFramePr/>
          <p:nvPr/>
        </p:nvGraphicFramePr>
        <p:xfrm>
          <a:off xmlns:a="http://schemas.openxmlformats.org/drawingml/2006/main" x="914400" y="3474720"/>
          <a:ext xmlns:a="http://schemas.openxmlformats.org/drawingml/2006/main" cx="5669280" cy="19659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d47b1b21624dc2"/>
          </a:graphicData>
        </a:graphic>
      </p:graphicFrame>
    </p:spTree>
    <p:extLst>
      <p:ext uri="{BB962C8B-B14F-4D97-AF65-F5344CB8AC3E}">
        <p14:creationId xmlns:p14="http://schemas.microsoft.com/office/powerpoint/2010/main" val="114495821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16872A3-C2B2-4E51-AA59-7D118329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分工參與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9B8CFF4-E02B-4252-8BD1-762D52CB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兩人分工：一人顧需求與營運，一人顧系統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8E681A0-5409-45C5-8409-963228D4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5257800" cy="3611880"/>
          </a:xfrm>
          <a:prstGeom xmlns:a="http://schemas.openxmlformats.org/drawingml/2006/main" prst="roundRect">
            <a:avLst>
              <a:gd name="adj" fmla="val 4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76B4F59-4499-4213-A914-8E3D6E72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2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EDD4EF95-F430-4C5B-813C-59626F21DC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04c86ae98f45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775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B05FFBB-F3A1-4E2E-A848-8A9E15C4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20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F192125-9823-46B2-B755-8AA0B628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54680"/>
            <a:ext cx="5257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組長 · 11246044</a:t>
            </a:r>
            <a:endParaRPr sz="12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3A718B3-CAC3-4AD1-A310-D4FA4F81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11880"/>
            <a:ext cx="47091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需求企劃與雜誌社交流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營運計畫：成本、STP、TOWS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系統手冊統整、第 1–6 章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簡報與報告</a:t>
            </a:r>
            <a:endParaRPr sz="14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6C4B1D09-965F-4278-BB96-05EDC629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783080"/>
            <a:ext cx="5257800" cy="3611880"/>
          </a:xfrm>
          <a:prstGeom xmlns:a="http://schemas.openxmlformats.org/drawingml/2006/main" prst="roundRect">
            <a:avLst>
              <a:gd name="adj" fmla="val 4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EA7D5A10-81B8-439B-8B6B-2F620F69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93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14" name="Image 1">
            <a:extLst xmlns:a="http://schemas.openxmlformats.org/drawingml/2006/main">
              <a:ext uri="{FF2B5EF4-FFF2-40B4-BE49-F238E27FC236}">
                <a16:creationId xmlns:a16="http://schemas.microsoft.com/office/drawing/2014/main" id="{B7C32F33-4147-4F1C-A934-265AD1D558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0a7f01c864a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456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B6C6DAE-D43E-4E74-91FE-6BC25773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743200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20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9737799-19A1-4BE2-AB26-D915C2E6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3154680"/>
            <a:ext cx="5257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組員 · 11246039</a:t>
            </a:r>
            <a:endParaRPr sz="12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C700552-A3FE-47BF-A790-D921C5B1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611880"/>
            <a:ext cx="47091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系統架構、資料庫、FastAPI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問答、情緒評分、向量檢索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前端介面、測試、手冊第 7–12 章</a:t>
            </a:r>
            <a:endParaRPr sz="14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A07CAEA-8240-4DE0-AEC2-AA671D0B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C98A2BE1-896E-4C16-BFFC-0BF8E304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程式提交與文件、企劃工作分開佐證；不以單一帳號的提交次數推算貢獻比例。</a:t>
            </a:r>
            <a:endParaRPr sz="1400"/>
          </a:p>
        </p:txBody>
      </p:sp>
      <p:sp>
        <p:nvSpPr>
          <p:cNvPr id="20" name="陳威帆 · 12:15–12:45">
            <a:extLst xmlns:a="http://schemas.openxmlformats.org/drawingml/2006/main">
              <a:ext uri="{FF2B5EF4-FFF2-40B4-BE49-F238E27FC236}">
                <a16:creationId xmlns:a16="http://schemas.microsoft.com/office/drawing/2014/main" id="{D2AEDEB7-F2B9-4051-8EE1-9EAEFFA5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12:15–12:45</a:t>
            </a:r>
          </a:p>
        </p:txBody>
      </p:sp>
      <p:sp>
        <p:nvSpPr>
          <p:cNvPr id="21" name="18">
            <a:extLst xmlns:a="http://schemas.openxmlformats.org/drawingml/2006/main">
              <a:ext uri="{FF2B5EF4-FFF2-40B4-BE49-F238E27FC236}">
                <a16:creationId xmlns:a16="http://schemas.microsoft.com/office/drawing/2014/main" id="{5915EECD-9CB3-4C20-BD63-1E2E0776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6619433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4112E93-58A0-4FBC-948D-8502D6A3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WRAP-UP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8207CD5-442C-4087-92D6-711674D5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做到了什麼，也說清楚還差什麼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1FD7E8F-C86E-46D8-A462-78EF5A17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F9608BE-8DFF-4BAD-AA7B-345E7281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762B4E0E-9370-4F7E-9D18-A3B9E4B850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1aaf8a6b1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15D9D35-5B72-459C-900C-482ED22A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已完成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EF85B4D-3111-4A00-8620-86B1F1AF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四平台自動收錄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混合檢索 AI 問答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篇重跑一致性紀錄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帳號、方案、監測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成本試算、STP、TOWS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B866582-65E0-4169-A760-EF0AEB53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1BB554AC-7DB0-4616-8B90-F6F5589C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B0A8DD29-9224-4225-B6BF-35B0BB16C3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a33f42612648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D62EDA9-B302-45AD-9AC3-55AF423C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下一步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C596423-02A8-4E00-9A10-913695B3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人工標註驗證情緒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固定題組測檢索品質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部署回歸驗證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正式需求訪談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F9B1004A-9689-45C5-B410-1E76FA46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0FC89931-319C-434A-9FD0-F1228211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8012532D-7C24-4164-92E0-B8A4E8668C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43636d51454f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6C18D32F-DC6B-40F4-8BAF-E987D501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面對 AI 代理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97646DF6-F8C2-450D-9506-D54667FF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能搜尋整理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我們的定位：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長期累積的歷史資料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回答附引用來源清單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帳號化的持續監測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47EE1155-878C-490A-827B-63704F88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4BB1571-CFFA-4015-A62E-1FD8E4B2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謝謝老師，敬請指教</a:t>
            </a:r>
            <a:endParaRPr sz="1400"/>
          </a:p>
        </p:txBody>
      </p:sp>
      <p:sp>
        <p:nvSpPr>
          <p:cNvPr id="23" name="陳威帆 · 12:45–14:30">
            <a:extLst xmlns:a="http://schemas.openxmlformats.org/drawingml/2006/main">
              <a:ext uri="{FF2B5EF4-FFF2-40B4-BE49-F238E27FC236}">
                <a16:creationId xmlns:a16="http://schemas.microsoft.com/office/drawing/2014/main" id="{E7AAF622-5A08-4036-802C-FF55E468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12:45–14:30</a:t>
            </a:r>
          </a:p>
        </p:txBody>
      </p:sp>
      <p:sp>
        <p:nvSpPr>
          <p:cNvPr id="24" name="19">
            <a:extLst xmlns:a="http://schemas.openxmlformats.org/drawingml/2006/main">
              <a:ext uri="{FF2B5EF4-FFF2-40B4-BE49-F238E27FC236}">
                <a16:creationId xmlns:a16="http://schemas.microsoft.com/office/drawing/2014/main" id="{FBA77503-0410-404C-97E1-8E9015C6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854890851"/>
      </p:ext>
    </p:extLst>
  </p:cSld>
</p:sld>
</file>

<file path=ppt/slides/slide20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附錄 A · 前次評審意見修正情形">
            <a:extLst xmlns:a="http://schemas.openxmlformats.org/drawingml/2006/main">
              <a:ext uri="{FF2B5EF4-FFF2-40B4-BE49-F238E27FC236}">
                <a16:creationId xmlns:a16="http://schemas.microsoft.com/office/drawing/2014/main" id="{857FA5A3-3658-46EE-AAB5-0C9EECE7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767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C85C00"/>
                </a:solidFill>
              </a:defRPr>
            </a:pPr>
            <a:r>
              <a:rPr sz="1350" b="1">
                <a:solidFill>
                  <a:srgbClr val="C85C00"/>
                </a:solidFill>
              </a:rPr>
              <a:t>附錄 A · 前次評審意見修正情形</a:t>
            </a:r>
          </a:p>
        </p:txBody>
      </p:sp>
      <p:sp>
        <p:nvSpPr>
          <p:cNvPr id="2" name="16 項意見對照：定位、營運與實作（1/2）">
            <a:extLst xmlns:a="http://schemas.openxmlformats.org/drawingml/2006/main">
              <a:ext uri="{FF2B5EF4-FFF2-40B4-BE49-F238E27FC236}">
                <a16:creationId xmlns:a16="http://schemas.microsoft.com/office/drawing/2014/main" id="{E2BC45AA-4715-493E-B4D5-33FB96DE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16 項意見對照：定位、營運與實作（1/2）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8E32A-5362-4E24-9516-8370F47A193D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4181475"/>
                <a:gridCol w="3762375"/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R01 成本量化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p7 實測重算；附錄 C、F 明細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實際帳單、付費意願、獲利時點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R02 九大區塊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p6 訂閱模式與額度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付費意願及收款驗證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R03 STP 區隔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規模／主題／頻率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需求訪談驗證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R04 TOWS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四類策略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試用與策略成效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R05 爬蟲觸發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手動／每日排程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持續運行監測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R06 甘特年月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p17 實際月份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更新每月進度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R07 GitHub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p17 提交紀錄；p18 分工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逐人可追溯的交付物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R08 RAG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p11 混合檢索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固定題組與檢索評估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20">
            <a:extLst xmlns:a="http://schemas.openxmlformats.org/drawingml/2006/main">
              <a:ext uri="{FF2B5EF4-FFF2-40B4-BE49-F238E27FC236}">
                <a16:creationId xmlns:a16="http://schemas.microsoft.com/office/drawing/2014/main" id="{6DADCECF-885F-4182-BC39-B667DC02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49368395"/>
      </p:ext>
    </p:extLst>
  </p:cSld>
</p:sld>
</file>

<file path=ppt/slides/slide21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附錄 B · 前次評審意見修正情形">
            <a:extLst xmlns:a="http://schemas.openxmlformats.org/drawingml/2006/main">
              <a:ext uri="{FF2B5EF4-FFF2-40B4-BE49-F238E27FC236}">
                <a16:creationId xmlns:a16="http://schemas.microsoft.com/office/drawing/2014/main" id="{642ACF4E-61A3-4305-ADAD-3A0BA312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767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C85C00"/>
                </a:solidFill>
              </a:defRPr>
            </a:pPr>
            <a:r>
              <a:rPr sz="1350" b="1">
                <a:solidFill>
                  <a:srgbClr val="C85C00"/>
                </a:solidFill>
              </a:rPr>
              <a:t>附錄 B · 前次評審意見修正情形</a:t>
            </a:r>
          </a:p>
        </p:txBody>
      </p:sp>
      <p:sp>
        <p:nvSpPr>
          <p:cNvPr id="2" name="16 項意見對照：資料品質與驗證（2/2）">
            <a:extLst xmlns:a="http://schemas.openxmlformats.org/drawingml/2006/main">
              <a:ext uri="{FF2B5EF4-FFF2-40B4-BE49-F238E27FC236}">
                <a16:creationId xmlns:a16="http://schemas.microsoft.com/office/drawing/2014/main" id="{CF353B7E-532B-48C0-B4DB-3B5F5BA6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16 項意見對照：資料品質與驗證（2/2）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B7F4D-56E5-4B29-B78B-45A9377CD51F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4181475"/>
                <a:gridCol w="3762375"/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R09 分數一致性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p12 分數規則與重跑紀錄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人工標註及模型版本追蹤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R10 自動篩選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相關性規則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業配辨識與抽樣複核流程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R11 領域知識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熱門話題只計 178 個醫美領域詞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知識萃取、專家驗證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R12 使用對象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先聚焦從業人員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一般消費者版另行設計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R13 通用 AI 差異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流程整合；p8 策略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同題比較，不宣稱優於所有 AI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R14 需求訪談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初評口頭交流來源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正式訪談紀錄與需求驗收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R15 Agentic AI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TOWS；p19 後續策略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同題實測；補聽未轉錄錄音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R16 文件強化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本簡報與現有系統手冊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同步修正狀態、版本與證據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F10B7-20FE-41DE-8503-C7370D7F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</p:sp>
      <p:sp>
        <p:nvSpPr>
          <p:cNvPr id="5" name="編號依「初評評審意見整理」第 3 頁；原錄音 29:58 後">
            <a:extLst xmlns:a="http://schemas.openxmlformats.org/drawingml/2006/main">
              <a:ext uri="{FF2B5EF4-FFF2-40B4-BE49-F238E27FC236}">
                <a16:creationId xmlns:a16="http://schemas.microsoft.com/office/drawing/2014/main" id="{8BBCBDA4-46AC-433C-ABB3-A7EBC155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編號依「初評評審意見整理」第 3 頁；原錄音 29:58 後未轉錄，待補聽。</a:t>
            </a:r>
          </a:p>
        </p:txBody>
      </p:sp>
      <p:sp>
        <p:nvSpPr>
          <p:cNvPr id="6" name="21">
            <a:extLst xmlns:a="http://schemas.openxmlformats.org/drawingml/2006/main">
              <a:ext uri="{FF2B5EF4-FFF2-40B4-BE49-F238E27FC236}">
                <a16:creationId xmlns:a16="http://schemas.microsoft.com/office/drawing/2014/main" id="{E66E2EA8-3A40-4E76-BC94-46395AAD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311770878"/>
      </p:ext>
    </p:extLst>
  </p:cSld>
</p:sld>
</file>

<file path=ppt/slides/slide22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附錄 C · 成本敏感度（純情境）">
            <a:extLst xmlns:a="http://schemas.openxmlformats.org/drawingml/2006/main">
              <a:ext uri="{FF2B5EF4-FFF2-40B4-BE49-F238E27FC236}">
                <a16:creationId xmlns:a16="http://schemas.microsoft.com/office/drawing/2014/main" id="{214F1E84-FCAD-443F-93C1-46E80450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767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C85C00"/>
                </a:solidFill>
              </a:defRPr>
            </a:pPr>
            <a:r>
              <a:rPr sz="1350" b="1">
                <a:solidFill>
                  <a:srgbClr val="C85C00"/>
                </a:solidFill>
              </a:rPr>
              <a:t>附錄 C · 成本敏感度（加入人力）</a:t>
            </a:r>
          </a:p>
        </p:txBody>
      </p:sp>
      <p:sp>
        <p:nvSpPr>
          <p:cNvPr id="2" name="人力成本納入後，平衡帳號數會上升">
            <a:extLst xmlns:a="http://schemas.openxmlformats.org/drawingml/2006/main"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加入維運人力後，平衡帳號數變成 12～21 個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95900"/>
                <a:gridCol w="2400300"/>
                <a:gridCol w="30289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情境（新臺幣／月）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月固定支出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平衡專業版帳號數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雲端基本支出；未含人力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1,450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⌈1,450 ÷ 463⌉ = 4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20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5,370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⌈5,370 ÷ 463⌉ = 12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40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9,290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⌈9,290 ÷ 463⌉ = 21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每帳號月貢獻＝月費 490 − 變動費 45＝445 元">
            <a:extLst xmlns:a="http://schemas.openxmlformats.org/drawingml/2006/main">
              <a:ext uri="{FF2B5EF4-FFF2-40B4-BE49-F238E27FC236}">
                <a16:creationId xmlns:a16="http://schemas.microsoft.com/office/drawing/2014/main" id="{5A8AC995-D2D2-4F10-BB20-CADB82A3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76800"/>
            <a:ext cx="1072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2073BE"/>
                </a:solidFill>
              </a:defRPr>
            </a:pPr>
            <a:r>
              <a:rPr sz="2100" b="1">
                <a:solidFill>
                  <a:srgbClr val="2073BE"/>
                </a:solidFill>
              </a:rPr>
              <a:t>每帳號月貢獻＝月費 490 − 變動成本 27＝463 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5,000／10,000 為示例假設；未含開發回收、稅費，尚">
            <a:extLst xmlns:a="http://schemas.openxmlformats.org/drawingml/2006/main"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1 個企業版（建議價 1,990）約抵 4 個專業版；仍未含開發回收與稅費。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</p:sld>
</file>

<file path=ppt/slides/slide23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附錄 D · Demo 備援畫面">
            <a:extLst xmlns:a="http://schemas.openxmlformats.org/drawingml/2006/main">
              <a:ext uri="{FF2B5EF4-FFF2-40B4-BE49-F238E27FC236}">
                <a16:creationId xmlns:a16="http://schemas.microsoft.com/office/drawing/2014/main" id="{5CE1F2A8-0EE7-40D8-80F0-F729CCA9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767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C85C00"/>
                </a:solidFill>
              </a:defRPr>
            </a:pPr>
            <a:r>
              <a:rPr sz="1350" b="1">
                <a:solidFill>
                  <a:srgbClr val="C85C00"/>
                </a:solidFill>
              </a:rPr>
              <a:t>附錄 D · Demo 備援畫面</a:t>
            </a:r>
          </a:p>
        </p:txBody>
      </p:sp>
      <p:sp>
        <p:nvSpPr>
          <p:cNvPr id="2" name="AI 問答：從回答回到引用文章">
            <a:extLst xmlns:a="http://schemas.openxmlformats.org/drawingml/2006/main">
              <a:ext uri="{FF2B5EF4-FFF2-40B4-BE49-F238E27FC236}">
                <a16:creationId xmlns:a16="http://schemas.microsoft.com/office/drawing/2014/main" id="{CD4E88AE-E5B8-4FC4-AFE2-AC0F898C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AI 問答：從回答回到引用文章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1255E-DF0F-4CF2-8509-CAAC797998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25623db041404b"/>
          <a:stretch xmlns:a="http://schemas.openxmlformats.org/drawingml/2006/main"/>
        </p:blipFill>
        <p:spPr>
          <a:xfrm xmlns:a="http://schemas.openxmlformats.org/drawingml/2006/main">
            <a:off x="2819400" y="1695450"/>
            <a:ext cx="65532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746D0-4EA9-4B28-B657-30B4A22C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</p:sp>
      <p:sp>
        <p:nvSpPr>
          <p:cNvPr id="5" name="既有管理員操作截圖（2026/10/07）；示範引用回查，不">
            <a:extLst xmlns:a="http://schemas.openxmlformats.org/drawingml/2006/main">
              <a:ext uri="{FF2B5EF4-FFF2-40B4-BE49-F238E27FC236}">
                <a16:creationId xmlns:a16="http://schemas.microsoft.com/office/drawing/2014/main" id="{E70FBA50-1BEB-4C84-BBA4-85069240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既有管理員操作截圖（2026/10/07）；示範引用回查，不代表即時服務狀態。</a:t>
            </a:r>
          </a:p>
        </p:txBody>
      </p:sp>
      <p:sp>
        <p:nvSpPr>
          <p:cNvPr id="6" name="23">
            <a:extLst xmlns:a="http://schemas.openxmlformats.org/drawingml/2006/main">
              <a:ext uri="{FF2B5EF4-FFF2-40B4-BE49-F238E27FC236}">
                <a16:creationId xmlns:a16="http://schemas.microsoft.com/office/drawing/2014/main" id="{3D9CCD87-5EA3-481E-AD2D-07ADB22B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39713143"/>
      </p:ext>
    </p:extLst>
  </p:cSld>
</p:sld>
</file>

<file path=ppt/slides/slide24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附錄 E · Demo 備援畫面">
            <a:extLst xmlns:a="http://schemas.openxmlformats.org/drawingml/2006/main">
              <a:ext uri="{FF2B5EF4-FFF2-40B4-BE49-F238E27FC236}">
                <a16:creationId xmlns:a16="http://schemas.microsoft.com/office/drawing/2014/main" id="{5EA75AAF-5CFE-49EB-A641-5693FBDA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767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C85C00"/>
                </a:solidFill>
              </a:defRPr>
            </a:pPr>
            <a:r>
              <a:rPr sz="1350" b="1">
                <a:solidFill>
                  <a:srgbClr val="C85C00"/>
                </a:solidFill>
              </a:rPr>
              <a:t>附錄 E · Demo 備援畫面</a:t>
            </a:r>
          </a:p>
        </p:txBody>
      </p:sp>
      <p:sp>
        <p:nvSpPr>
          <p:cNvPr id="2" name="歷史比較：保留兩次查詢的分析結果">
            <a:extLst xmlns:a="http://schemas.openxmlformats.org/drawingml/2006/main">
              <a:ext uri="{FF2B5EF4-FFF2-40B4-BE49-F238E27FC236}">
                <a16:creationId xmlns:a16="http://schemas.microsoft.com/office/drawing/2014/main" id="{18FF3E2A-7776-4E3F-9C3A-5421CE75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歷史比較：保留兩次查詢的分析結果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42545-9ADE-4B0D-974B-AB090D5F23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491f3d8804055"/>
          <a:stretch xmlns:a="http://schemas.openxmlformats.org/drawingml/2006/main"/>
        </p:blipFill>
        <p:spPr>
          <a:xfrm xmlns:a="http://schemas.openxmlformats.org/drawingml/2006/main">
            <a:off x="2819400" y="1695450"/>
            <a:ext cx="65532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E8307-5D00-4CBB-B2E0-8E2AA7ED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</p:sp>
      <p:sp>
        <p:nvSpPr>
          <p:cNvPr id="5" name="沿用原稿實際畫面；確認兩次範圍與分母後再解讀差異。">
            <a:extLst xmlns:a="http://schemas.openxmlformats.org/drawingml/2006/main">
              <a:ext uri="{FF2B5EF4-FFF2-40B4-BE49-F238E27FC236}">
                <a16:creationId xmlns:a16="http://schemas.microsoft.com/office/drawing/2014/main" id="{A862B7B2-8384-4BF5-8414-716962CE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沿用原稿實際畫面；確認兩次範圍與分母後再解讀差異。</a:t>
            </a:r>
          </a:p>
        </p:txBody>
      </p:sp>
      <p:sp>
        <p:nvSpPr>
          <p:cNvPr id="6" name="24">
            <a:extLst xmlns:a="http://schemas.openxmlformats.org/drawingml/2006/main">
              <a:ext uri="{FF2B5EF4-FFF2-40B4-BE49-F238E27FC236}">
                <a16:creationId xmlns:a16="http://schemas.microsoft.com/office/drawing/2014/main" id="{A96C2179-D115-407C-A957-021583D9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748786098"/>
      </p:ext>
    </p:extLst>
  </p:cSld>
</p:sld>
</file>

<file path=ppt/slides/slide25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附錄 C · 成本敏感度（純情境）">
            <a:extLst xmlns:a="http://schemas.openxmlformats.org/drawingml/2006/main">
              <a:ext uri="{FF2B5EF4-FFF2-40B4-BE49-F238E27FC236}">
                <a16:creationId xmlns:a16="http://schemas.microsoft.com/office/drawing/2014/main" id="{214F1E84-FCAD-443F-93C1-46E80450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767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C85C00"/>
                </a:solidFill>
              </a:defRPr>
            </a:pPr>
            <a:r>
              <a:rPr sz="1350" b="1">
                <a:solidFill>
                  <a:srgbClr val="C85C00"/>
                </a:solidFill>
              </a:rPr>
              <a:t>附錄 F · 成本明細與來源</a:t>
            </a:r>
          </a:p>
        </p:txBody>
      </p:sp>
      <p:sp>
        <p:nvSpPr>
          <p:cNvPr id="2" name="人力成本納入後，平衡帳號數會上升">
            <a:extLst xmlns:a="http://schemas.openxmlformats.org/drawingml/2006/main"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每一個數字的算法與出處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912" cy="3712463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40280"/>
                <a:gridCol w="4343400"/>
                <a:gridCol w="4142232"/>
              </a:tblGrid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項目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計算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依據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AI 問答／次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輸入 8,963＋輸出 2,150 token ≈ 0.06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Gemini 官方價 0.10／0.40 美元／百萬 token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儀表板洞察／次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輸入 14,341＋輸出 4,519 token ≈ 0.10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同上；輸出取已存 31 筆最大值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每日收錄與判讀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近 30 天 897 篇＋3,216 則 ≈ 6.3 元（計 7）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實際收錄量；向量 US$0.15／百萬 token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主機與網域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US$25＋US$19 ≈ 1,408 元；網域 35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Render 公開價；網域年費 420 元為假設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金流手續費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月費 × 3%（專業版約 15 元）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假設值，待向金流商確認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維運人力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20／40 小時 × 196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115 年基本工資時薪 196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5,000／10,000 為示例假設；未含開發回收、稅費，尚">
            <a:extLst xmlns:a="http://schemas.openxmlformats.org/drawingml/2006/main"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中文以 1 字≈1 token 保守估算；匯率 32（央行 115/8/20 收盤 31.925）。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2026-10-12T01:12:13.2290000Z</dcterms:created>
  <dcterms:modified xsi:type="dcterms:W3CDTF">2026-10-12T01:12:13.2290000Z</dcterms:modified>
</coreProperties>
</file>