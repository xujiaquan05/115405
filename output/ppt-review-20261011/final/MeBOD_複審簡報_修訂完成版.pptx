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8f56988d64dae" /><Relationship Type="http://schemas.openxmlformats.org/officeDocument/2006/relationships/extended-properties" Target="/docProps/app.xml" Id="R0519235a80dd470f" /><Relationship Type="http://schemas.openxmlformats.org/officeDocument/2006/relationships/officeDocument" Target="/ppt/presentation.xml" Id="R379c7d836b9f4d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c67a75a5af4a2c"/>
  </p:sldMasterIdLst>
  <p:notesMasterIdLst>
    <p:notesMasterId xmlns:r="http://schemas.openxmlformats.org/officeDocument/2006/relationships" r:id="Rc8f86db9c5514a3e"/>
  </p:notesMasterIdLst>
  <p:sldIdLst>
    <p:sldId xmlns:r="http://schemas.openxmlformats.org/officeDocument/2006/relationships" id="256" r:id="Radea79d4f7ff4756"/>
    <p:sldId xmlns:r="http://schemas.openxmlformats.org/officeDocument/2006/relationships" id="257" r:id="R11db7550635f407c"/>
    <p:sldId xmlns:r="http://schemas.openxmlformats.org/officeDocument/2006/relationships" id="258" r:id="R3a98a6a0a2b54500"/>
    <p:sldId xmlns:r="http://schemas.openxmlformats.org/officeDocument/2006/relationships" id="259" r:id="R10b042ee02634ef9"/>
    <p:sldId xmlns:r="http://schemas.openxmlformats.org/officeDocument/2006/relationships" id="260" r:id="R569ab92c3a9b4131"/>
    <p:sldId xmlns:r="http://schemas.openxmlformats.org/officeDocument/2006/relationships" id="261" r:id="Red6d3cd09e224511"/>
    <p:sldId xmlns:r="http://schemas.openxmlformats.org/officeDocument/2006/relationships" id="262" r:id="Rac1cfeb6b5c843a9"/>
    <p:sldId xmlns:r="http://schemas.openxmlformats.org/officeDocument/2006/relationships" id="263" r:id="R829edaa4e55a4413"/>
    <p:sldId xmlns:r="http://schemas.openxmlformats.org/officeDocument/2006/relationships" id="264" r:id="Ref6f276d3d3f4e41"/>
    <p:sldId xmlns:r="http://schemas.openxmlformats.org/officeDocument/2006/relationships" id="265" r:id="Rd21e37e9e21f425f"/>
    <p:sldId xmlns:r="http://schemas.openxmlformats.org/officeDocument/2006/relationships" id="266" r:id="R2bfc11a4122143c4"/>
    <p:sldId xmlns:r="http://schemas.openxmlformats.org/officeDocument/2006/relationships" id="267" r:id="R55d3c241009a4d00"/>
    <p:sldId xmlns:r="http://schemas.openxmlformats.org/officeDocument/2006/relationships" id="268" r:id="R2e34a04d4951441f"/>
    <p:sldId xmlns:r="http://schemas.openxmlformats.org/officeDocument/2006/relationships" id="269" r:id="Rc0e2eaea6c8a454c"/>
    <p:sldId xmlns:r="http://schemas.openxmlformats.org/officeDocument/2006/relationships" id="270" r:id="Rc427127a7a1a4820"/>
    <p:sldId xmlns:r="http://schemas.openxmlformats.org/officeDocument/2006/relationships" id="271" r:id="Rd84d0f967edf4479"/>
    <p:sldId xmlns:r="http://schemas.openxmlformats.org/officeDocument/2006/relationships" id="272" r:id="Rb13b1a1201294e36"/>
    <p:sldId xmlns:r="http://schemas.openxmlformats.org/officeDocument/2006/relationships" id="273" r:id="R24f78b4f98114178"/>
    <p:sldId xmlns:r="http://schemas.openxmlformats.org/officeDocument/2006/relationships" id="274" r:id="R2ffa6da9ff1d4ab9"/>
    <p:sldId xmlns:r="http://schemas.openxmlformats.org/officeDocument/2006/relationships" id="275" r:id="R4708094973ba48ba"/>
    <p:sldId xmlns:r="http://schemas.openxmlformats.org/officeDocument/2006/relationships" id="276" r:id="Rb39dd1583b024f6c"/>
    <p:sldId xmlns:r="http://schemas.openxmlformats.org/officeDocument/2006/relationships" id="277" r:id="R12df4e686d1f40a1"/>
    <p:sldId xmlns:r="http://schemas.openxmlformats.org/officeDocument/2006/relationships" id="278" r:id="Rffaa51bbbf104dc2"/>
    <p:sldId xmlns:r="http://schemas.openxmlformats.org/officeDocument/2006/relationships" id="279" r:id="Rb95112417bb145c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aa45f86dda4af3" /><Relationship Type="http://schemas.openxmlformats.org/officeDocument/2006/relationships/slideMaster" Target="/ppt/slideMasters/slideMaster1.xml" Id="R18c67a75a5af4a2c" /><Relationship Type="http://schemas.openxmlformats.org/officeDocument/2006/relationships/notesMaster" Target="/ppt/notesMasters/notesMaster1.xml" Id="Rc8f86db9c5514a3e" /><Relationship Type="http://schemas.openxmlformats.org/officeDocument/2006/relationships/presProps" Target="/ppt/presProps.xml" Id="Ref6b1207244e4fde" /><Relationship Type="http://schemas.openxmlformats.org/officeDocument/2006/relationships/viewProps" Target="/ppt/viewProps.xml" Id="R48302ea2729449b5" /><Relationship Type="http://schemas.openxmlformats.org/officeDocument/2006/relationships/tableStyles" Target="/ppt/tableStyles.xml" Id="R8d697a7c29d84f4a" /><Relationship Type="http://schemas.openxmlformats.org/officeDocument/2006/relationships/slide" Target="/ppt/slides/slide1.xml" Id="Radea79d4f7ff4756" /><Relationship Type="http://schemas.openxmlformats.org/officeDocument/2006/relationships/slide" Target="/ppt/slides/slide2.xml" Id="R11db7550635f407c" /><Relationship Type="http://schemas.openxmlformats.org/officeDocument/2006/relationships/slide" Target="/ppt/slides/slide3.xml" Id="R3a98a6a0a2b54500" /><Relationship Type="http://schemas.openxmlformats.org/officeDocument/2006/relationships/slide" Target="/ppt/slides/slide4.xml" Id="R10b042ee02634ef9" /><Relationship Type="http://schemas.openxmlformats.org/officeDocument/2006/relationships/slide" Target="/ppt/slides/slide5.xml" Id="R569ab92c3a9b4131" /><Relationship Type="http://schemas.openxmlformats.org/officeDocument/2006/relationships/slide" Target="/ppt/slides/slide6.xml" Id="Red6d3cd09e224511" /><Relationship Type="http://schemas.openxmlformats.org/officeDocument/2006/relationships/slide" Target="/ppt/slides/slide7.xml" Id="Rac1cfeb6b5c843a9" /><Relationship Type="http://schemas.openxmlformats.org/officeDocument/2006/relationships/slide" Target="/ppt/slides/slide8.xml" Id="R829edaa4e55a4413" /><Relationship Type="http://schemas.openxmlformats.org/officeDocument/2006/relationships/slide" Target="/ppt/slides/slide9.xml" Id="Ref6f276d3d3f4e41" /><Relationship Type="http://schemas.openxmlformats.org/officeDocument/2006/relationships/slide" Target="/ppt/slides/slide10.xml" Id="Rd21e37e9e21f425f" /><Relationship Type="http://schemas.openxmlformats.org/officeDocument/2006/relationships/slide" Target="/ppt/slides/slide11.xml" Id="R2bfc11a4122143c4" /><Relationship Type="http://schemas.openxmlformats.org/officeDocument/2006/relationships/slide" Target="/ppt/slides/slide12.xml" Id="R55d3c241009a4d00" /><Relationship Type="http://schemas.openxmlformats.org/officeDocument/2006/relationships/slide" Target="/ppt/slides/slide13.xml" Id="R2e34a04d4951441f" /><Relationship Type="http://schemas.openxmlformats.org/officeDocument/2006/relationships/slide" Target="/ppt/slides/slide14.xml" Id="Rc0e2eaea6c8a454c" /><Relationship Type="http://schemas.openxmlformats.org/officeDocument/2006/relationships/slide" Target="/ppt/slides/slide15.xml" Id="Rc427127a7a1a4820" /><Relationship Type="http://schemas.openxmlformats.org/officeDocument/2006/relationships/slide" Target="/ppt/slides/slide16.xml" Id="Rd84d0f967edf4479" /><Relationship Type="http://schemas.openxmlformats.org/officeDocument/2006/relationships/slide" Target="/ppt/slides/slide17.xml" Id="Rb13b1a1201294e36" /><Relationship Type="http://schemas.openxmlformats.org/officeDocument/2006/relationships/slide" Target="/ppt/slides/slide18.xml" Id="R24f78b4f98114178" /><Relationship Type="http://schemas.openxmlformats.org/officeDocument/2006/relationships/slide" Target="/ppt/slides/slide19.xml" Id="R2ffa6da9ff1d4ab9" /><Relationship Type="http://schemas.openxmlformats.org/officeDocument/2006/relationships/slide" Target="/ppt/slides/slide20.xml" Id="R4708094973ba48ba" /><Relationship Type="http://schemas.openxmlformats.org/officeDocument/2006/relationships/slide" Target="/ppt/slides/slide21.xml" Id="Rb39dd1583b024f6c" /><Relationship Type="http://schemas.openxmlformats.org/officeDocument/2006/relationships/slide" Target="/ppt/slides/slide22.xml" Id="R12df4e686d1f40a1" /><Relationship Type="http://schemas.openxmlformats.org/officeDocument/2006/relationships/slide" Target="/ppt/slides/slide23.xml" Id="Rffaa51bbbf104dc2" /><Relationship Type="http://schemas.openxmlformats.org/officeDocument/2006/relationships/slide" Target="/ppt/slides/slide24.xml" Id="Rb95112417bb145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63a48d7d6d4e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b649ce81024607" /><Relationship Type="http://schemas.openxmlformats.org/officeDocument/2006/relationships/notesMaster" Target="/ppt/notesMasters/notesMaster1.xml" Id="R6d64a4bf07d548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6ec409b14346cd" /><Relationship Type="http://schemas.openxmlformats.org/officeDocument/2006/relationships/notesMaster" Target="/ppt/notesMasters/notesMaster1.xml" Id="Rb95e62b5b8c643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086b17342b4235" /><Relationship Type="http://schemas.openxmlformats.org/officeDocument/2006/relationships/notesMaster" Target="/ppt/notesMasters/notesMaster1.xml" Id="R1c199b29a56349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0f3852014a4973" /><Relationship Type="http://schemas.openxmlformats.org/officeDocument/2006/relationships/notesMaster" Target="/ppt/notesMasters/notesMaster1.xml" Id="R7ea915cd1dfd45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5e001892b74c3a" /><Relationship Type="http://schemas.openxmlformats.org/officeDocument/2006/relationships/notesMaster" Target="/ppt/notesMasters/notesMaster1.xml" Id="R159ea4c93d4448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a9e0564a274628" /><Relationship Type="http://schemas.openxmlformats.org/officeDocument/2006/relationships/notesMaster" Target="/ppt/notesMasters/notesMaster1.xml" Id="Rd013d9f63cd946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37ce385c5a42a1" /><Relationship Type="http://schemas.openxmlformats.org/officeDocument/2006/relationships/notesMaster" Target="/ppt/notesMasters/notesMaster1.xml" Id="Rb64482f81c304d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7947cc00424d18" /><Relationship Type="http://schemas.openxmlformats.org/officeDocument/2006/relationships/notesMaster" Target="/ppt/notesMasters/notesMaster1.xml" Id="Rc70eb2f0dfae4b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3cbfb0d92340e6" /><Relationship Type="http://schemas.openxmlformats.org/officeDocument/2006/relationships/notesMaster" Target="/ppt/notesMasters/notesMaster1.xml" Id="Rf0e156a1f58847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342fd2545e49d5" /><Relationship Type="http://schemas.openxmlformats.org/officeDocument/2006/relationships/notesMaster" Target="/ppt/notesMasters/notesMaster1.xml" Id="R66d5126917754a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ea539557664161" /><Relationship Type="http://schemas.openxmlformats.org/officeDocument/2006/relationships/notesMaster" Target="/ppt/notesMasters/notesMaster1.xml" Id="R296ca5b331a049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064a925bc94004" /><Relationship Type="http://schemas.openxmlformats.org/officeDocument/2006/relationships/notesMaster" Target="/ppt/notesMasters/notesMaster1.xml" Id="Rdd1f04eb156d4f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54386832dd43cc" /><Relationship Type="http://schemas.openxmlformats.org/officeDocument/2006/relationships/notesMaster" Target="/ppt/notesMasters/notesMaster1.xml" Id="R34dd49949b1042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1ef945d0c94d19" /><Relationship Type="http://schemas.openxmlformats.org/officeDocument/2006/relationships/notesMaster" Target="/ppt/notesMasters/notesMaster1.xml" Id="Rc962ab0351264c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968fc25d9a4fc3" /><Relationship Type="http://schemas.openxmlformats.org/officeDocument/2006/relationships/notesMaster" Target="/ppt/notesMasters/notesMaster1.xml" Id="Rb7ffff9b8cc549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dc468999404392" /><Relationship Type="http://schemas.openxmlformats.org/officeDocument/2006/relationships/notesMaster" Target="/ppt/notesMasters/notesMaster1.xml" Id="Rf5c43c42726a4c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1daa6a99954ada" /><Relationship Type="http://schemas.openxmlformats.org/officeDocument/2006/relationships/notesMaster" Target="/ppt/notesMasters/notesMaster1.xml" Id="R8d301155e33546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0b5878bd0a4711" /><Relationship Type="http://schemas.openxmlformats.org/officeDocument/2006/relationships/notesMaster" Target="/ppt/notesMasters/notesMaster1.xml" Id="Ra044546b8af148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41db750aa042fe" /><Relationship Type="http://schemas.openxmlformats.org/officeDocument/2006/relationships/notesMaster" Target="/ppt/notesMasters/notesMaster1.xml" Id="R965e248ddefb49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84526236784c74" /><Relationship Type="http://schemas.openxmlformats.org/officeDocument/2006/relationships/notesMaster" Target="/ppt/notesMasters/notesMaster1.xml" Id="R71a3a12ca8aa4b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b3d0a1cac74484" /><Relationship Type="http://schemas.openxmlformats.org/officeDocument/2006/relationships/notesMaster" Target="/ppt/notesMasters/notesMaster1.xml" Id="R76c52be131864a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544a27524e495f" /><Relationship Type="http://schemas.openxmlformats.org/officeDocument/2006/relationships/notesMaster" Target="/ppt/notesMasters/notesMaster1.xml" Id="R7d9b5b6605904a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75044152474614" /><Relationship Type="http://schemas.openxmlformats.org/officeDocument/2006/relationships/notesMaster" Target="/ppt/notesMasters/notesMaster1.xml" Id="R2624a2a8c1ad4d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3e347d967b4e47" /><Relationship Type="http://schemas.openxmlformats.org/officeDocument/2006/relationships/notesMaster" Target="/ppt/notesMasters/notesMaster1.xml" Id="R9c1de09e323d47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【陳威帆｜20 秒】老師好，我們是第115405組，專題為MeBOD醫美時尚輿情分析系統。今天說明初評後的修正、系統完成度及功能完整性。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【陳威帆｜15 秒】先談問題與營運，再由家全說明技術、功能與Demo，最後回到進度與限制。主講14分30秒，保留30秒緩衝；附錄供問答使用。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【陳威帆｜40 秒】原始動機是資料分散、觀點混雜、結論難回查。研究人員需要先定義範圍，閱讀圖表與原文，再留存追蹤。MeBOD整合這段流程，是行銷觀察工具；網路討論不等同醫療療效。來源：使用者原稿第3頁；初評評審意見整理.pdf第1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【陳威帆｜35 秒】這頁先回應初評。定位、檢索、評分與驗證都有具體補強，但實作完成不代表品質驗證完成。完整 16 項對照列在附錄。來源：初評評審意見整理.pdf 第 3 頁；backend/app/models/database_models.py；backend/app/services/rag_service.py。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【陳威帆｜40 秒】主要使用者是需定期觀察口碑的小型團隊。以機構規模、觀察主題與頻率區隔。MeBOD 把查詢、歷史與監測放在固定流程；不宣稱通用 AI 無法搜尋或引用。需求交流依初評口頭報告，正式訪談紀錄待補。來源：初評評審意見整理.pdf 第 1、3 頁；frontend/src/views/HistoryView.vue、ReportView.vue。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【陳威帆｜35 秒】九個區塊串起訂閱服務：小型團隊透過網頁整理口碑，我們維護收錄、分析與檢索，提供額度與匯出功能。月費490為假設；系統已有方案額度，但收款尚未實作。成本含模型與基礎設施，維護人力需另外估列。來源：原稿第6頁；backend/app/models/database_models.py（plans、usage_counters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【陳威帆｜45 秒】本頁是情境估算，不是實際帳單或營收。沿用原稿：月費 490、每帳號變動費 45、基礎支出 1681。收入=490N；支出=1681+45N。四帳號收入1960、支出1861，差額99。尚未含人力、稅費及開發回收，不能宣稱四人就能真正獲利。價格未在本次重新查價；0.33是原稿假設，不標示為官方保守上限。附錄提供人力敏感度試算。來源：使用者原稿第7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【陳威帆｜35 秒】SWOT不能停在名詞，TOWS把條件轉成行動：用持續監測爭取試用，以歷史資料和回查流程面對通用代理，透過人工標註補品質，並以額度與備份降低外部服務風險。這些是待驗證策略，不是已量測的優勢。評審最後一段錄音未完整轉錄，仍需補聽。來源：初評評審意見整理.pdf第2–3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【許家全｜45 秒】Vue介面透過FastAPI存取PostgreSQL，服務層提供分析、檢索及匯出，另接Gemini和四平台收錄。現行ORM有18張表。多數權限在後端檢查，但預警已讀端點仍缺帳號隔離，已列待修。來源：backend/app/models/database_models.py、backend/app/routers/monitor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【許家全｜40 秒】管理員手動與每日排程觸發收錄；租約鎖避免重複執行，WebSocket推進度。相關性分數是標題命中權重3、內文1；Dcard/Mobile01/Threads門檻2。PTT依看板另判斷，不能一概說同一門檻。這些只是相關性規則，不等於辨識業配與真假。來源：backend/app/services/relevance_filter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【許家全｜45 秒】初評指出只有 keyword 比對。現在先解析問題意圖，再以關鍵字和向量雙路找證據，RRF 合併排序後給模型作答。資料預先切段並建立向量；向量無結果時回退關鍵字。引用支持人工回查，不保證每句結論都有充分證據。尚未完成專家知識庫和固定題組評估。來源：backend/app/services/rag_service.py（parse_question_intent、RRF_K、混合檢索）；embedding_service.py；article_compresso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【許家全｜45 秒】兩種問題分開回答。第一，同一批100篇由另一模型Claude盲標，與目前report.txt結果82%一致，kappa0.726約0.73，負面precision18/27約0.67。第二，temperature從0.3改為0後，本批重跑變动從12篇降到0篇；這不是未來所有請求零差異的保證。分數是50+(正面百分比−負面百分比)/2，例60%、10%得到75。比較須固定資料範圍與分母，分數不是療程成效。來源：docs/manual-work/sentiment-eval/report.txt、temp0_run1.txt、temp0_run2.txt；backend/app/routers/analysis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【許家全｜40 秒】系統完成度用已實作、待驗證及規劃三欄說明。未建立權重和驗收分母，不用百分比。已讀端點的帳號隔離尚待修；Linux部署、負載與模型品質需再驗證。來源：backend/app/routers/monitor.py；各前端功能頁。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【許家全｜35 秒】功能完整性從使用者流程檢查。從範圍設定、讀圖、問答回查，到歷史與匯出都有對應畫面與輸出。監測已實作，但已讀端點缺口不藏在完成清單裡。報告使用瀏覽器列印，不是獨立伺服器PDF生成。來源：frontend/src/views/DashboardView.vue、QAView.vue、HistoryView.vue、ReportView.vue、MonitorView.vue；backend/app/routers/monito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【許家全｜140 秒】預先登入正確帳號並備妥兩筆歷史。0–45秒：查詢醫美、設定平台與期間，讀趨勢並點文章。45–95秒：詢問消費者關注重點，展開引用並回原文；可用已完成的答案避免現場等待。95–140秒：歷史比較並匯出Excel。若網站10秒無回應，改以本頁和附錄實際畫面說明，不宣稱即時成功。畫面為原稿嵌入截圖，其數字只屬拍攝當時查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【許家全｜35 秒】PostgreSQL10項可核對2026/10/03原始XML；E2E4項可核對2026/09/27 17:14的all-results.xml。較早17:13的e2e-results.xml曾有1項失敗，因此以稍後合併報告四個E2E通過作證，保留失敗歷程。487與43為使用者原稿紀錄，本次未找到10/08原始報告，也未重跑，因此明列待保存證據。高負載、人工標註與檢索題組尚待驗證。來源：backend/.test-artifacts/postgres-results.xml、all-results.xml、e2e-results.xml；原稿第14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【陳威帆｜45 秒】甘特圖保留原稿115/2至116/1的計畫，10月後為計畫工作。繳件與展覽日期沿用使用者原稿，發表前仍按學校公告確認。提交數由本機Git於2026/10/11檢視：5月14、6月0、7月27、8月42、9月47、10月27，總157；7–10月143。這是本機歷史，不代表都已推送遠端，也不能當作兩位組員的貢獻比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【陳威帆｜30 秒】威帆負責需求、營運、文件統整與報告；家全負責架構、後端、爬蟲、模型、前端與測試。沿用原稿工作分配；程式提交和文件交付分別佐證，不能把單一作者提交數當兩人貢獻比例。來源：使用者原稿第16頁；本機Git提交歷史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【陳威帆｜105 秒】總結三點：一、四平台到問答與報告形成完整研究流程；二、RAG與分數規則已可說明，也有分層測試歷史；三、尚未把品質驗證說成全部完成。下一步依序修補預警已讀的帳號隔離、補Linux部署回歸、建立人工標註和檢索題組，再與實際使用者訪談試用。與通用代理的差異需要同題實測，現階段著重長期資料、來源回查與持續監測。結束於14:30，保留30秒緩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備詢：編號與名稱依使用者提供初評評審意見整理.pdf第3頁。回應頁碼按本簡報更新。成本和商業模式屬文件與情境補強，不宣稱市場驗證完成。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來源：使用者提供初評評審意見整理.pdf第3頁編號；第1–2頁轉錄範圍。R13是與通用AI的差異，不是R12使用對象的重複。現有手冊未在本次全面重做驗收，所以R16保留同步確認，不標成完全完成。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備詢：這是數學敏感度，不是市場報價。原始月預算1681、售價490、每帳號變動成本45來自原稿。人力5000及10000是本頁新增的明示假設。ceil6681/445=16；ceil11681/445=27。要回答何時獲利，還需實際帳單、維護工時、獲客速度及開發投入，目前沒有可支持的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來源：docs/demo-work/admin-male/screens/09-sources.png。現場備援，不計入主講時間。可說明引用清單、平台與文章連結；不要把畫面個案當作模型整體準確度。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來源：使用者原稿第13頁第三張圖片。此圖證明比較介面，不把查詢分數當作商業績效。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445b06112459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a28082e2c54961" /><Relationship Type="http://schemas.openxmlformats.org/officeDocument/2006/relationships/slideLayout" Target="/ppt/slideLayouts/slideLayout1.xml" Id="Re85e8a642e5f484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5e8a642e5f484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0508706144525" /><Relationship Type="http://schemas.openxmlformats.org/officeDocument/2006/relationships/image" Target="/ppt/media/image.png" Id="R55c00344031245cb" /><Relationship Type="http://schemas.openxmlformats.org/officeDocument/2006/relationships/notesSlide" Target="/ppt/notesSlides/notesSlide1.xml" Id="R1649e0e8ad7b41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109fbb554b05" /><Relationship Type="http://schemas.openxmlformats.org/officeDocument/2006/relationships/notesSlide" Target="/ppt/notesSlides/notesSlide2.xml" Id="R8afccc18fad5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473d3d504464d" /><Relationship Type="http://schemas.openxmlformats.org/officeDocument/2006/relationships/image" Target="/ppt/media/image2.png" Id="Rc30b04f9e7da435d" /><Relationship Type="http://schemas.openxmlformats.org/officeDocument/2006/relationships/image" Target="/ppt/media/image3.png" Id="R195201a24ca0498e" /><Relationship Type="http://schemas.openxmlformats.org/officeDocument/2006/relationships/image" Target="/ppt/media/image4.png" Id="Rfeab08d03b2144be" /><Relationship Type="http://schemas.openxmlformats.org/officeDocument/2006/relationships/image" Target="/ppt/media/image5.png" Id="R3899514722174a77" /><Relationship Type="http://schemas.openxmlformats.org/officeDocument/2006/relationships/image" Target="/ppt/media/image6.png" Id="Rf27ea23fd37b4eb8" /><Relationship Type="http://schemas.openxmlformats.org/officeDocument/2006/relationships/notesSlide" Target="/ppt/notesSlides/notesSlide3.xml" Id="Re73dbbea1592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c4b1d84df46c6" /><Relationship Type="http://schemas.openxmlformats.org/officeDocument/2006/relationships/notesSlide" Target="/ppt/notesSlides/notesSlide4.xml" Id="Rbd7f833843f847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3eb1eb43e40fa" /><Relationship Type="http://schemas.openxmlformats.org/officeDocument/2006/relationships/image" Target="/ppt/media/image7.png" Id="R2f24d541236d4eed" /><Relationship Type="http://schemas.openxmlformats.org/officeDocument/2006/relationships/image" Target="/ppt/media/image8.png" Id="R0dcdee5754954769" /><Relationship Type="http://schemas.openxmlformats.org/officeDocument/2006/relationships/image" Target="/ppt/media/image9.png" Id="R65c4fa01ad494501" /><Relationship Type="http://schemas.openxmlformats.org/officeDocument/2006/relationships/image" Target="/ppt/media/image10.png" Id="Rcfd63660d3c645c4" /><Relationship Type="http://schemas.openxmlformats.org/officeDocument/2006/relationships/image" Target="/ppt/media/image11.png" Id="R2b2793fc54af4c2f" /><Relationship Type="http://schemas.openxmlformats.org/officeDocument/2006/relationships/notesSlide" Target="/ppt/notesSlides/notesSlide5.xml" Id="Rd696f70348134c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59a28ae2945a4" /><Relationship Type="http://schemas.openxmlformats.org/officeDocument/2006/relationships/notesSlide" Target="/ppt/notesSlides/notesSlide6.xml" Id="Ra785a8f8b99b4a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53801fe8146c0" /><Relationship Type="http://schemas.openxmlformats.org/officeDocument/2006/relationships/chart" Target="/ppt/slides/charts/chart1.xml" Id="R0c08d3aa71c14e64" /><Relationship Type="http://schemas.openxmlformats.org/officeDocument/2006/relationships/notesSlide" Target="/ppt/notesSlides/notesSlide7.xml" Id="Rb05740cd89044d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feda1b459465d" /><Relationship Type="http://schemas.openxmlformats.org/officeDocument/2006/relationships/notesSlide" Target="/ppt/notesSlides/notesSlide8.xml" Id="R453f01ddc65e41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a82d1c5754fcf" /><Relationship Type="http://schemas.openxmlformats.org/officeDocument/2006/relationships/image" Target="/ppt/media/image12.png" Id="R03352d51b3424685" /><Relationship Type="http://schemas.openxmlformats.org/officeDocument/2006/relationships/image" Target="/ppt/media/image13.png" Id="Re511858e9be94825" /><Relationship Type="http://schemas.openxmlformats.org/officeDocument/2006/relationships/image" Target="/ppt/media/image14.png" Id="Rc5ff51fb52274bfe" /><Relationship Type="http://schemas.openxmlformats.org/officeDocument/2006/relationships/image" Target="/ppt/media/image15.png" Id="R47a7e10a7cbd495d" /><Relationship Type="http://schemas.openxmlformats.org/officeDocument/2006/relationships/image" Target="/ppt/media/image16.png" Id="Re689bd094e9444ac" /><Relationship Type="http://schemas.openxmlformats.org/officeDocument/2006/relationships/notesSlide" Target="/ppt/notesSlides/notesSlide9.xml" Id="Rb572b57b6dd346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715985d824539" /><Relationship Type="http://schemas.openxmlformats.org/officeDocument/2006/relationships/image" Target="/ppt/media/image17.png" Id="Rfdb7235476fd43d4" /><Relationship Type="http://schemas.openxmlformats.org/officeDocument/2006/relationships/image" Target="/ppt/media/image18.png" Id="Ra8ed67d940a4433d" /><Relationship Type="http://schemas.openxmlformats.org/officeDocument/2006/relationships/image" Target="/ppt/media/image19.png" Id="Re449eaac7ee74fcc" /><Relationship Type="http://schemas.openxmlformats.org/officeDocument/2006/relationships/image" Target="/ppt/media/image20.png" Id="R06237a106ac24052" /><Relationship Type="http://schemas.openxmlformats.org/officeDocument/2006/relationships/image" Target="/ppt/media/image21.png" Id="R77d0099d6fa64ed9" /><Relationship Type="http://schemas.openxmlformats.org/officeDocument/2006/relationships/image" Target="/ppt/media/image22.png" Id="R500ff8319c4948b2" /><Relationship Type="http://schemas.openxmlformats.org/officeDocument/2006/relationships/image" Target="/ppt/media/image23.png" Id="R33c176296cb549e7" /><Relationship Type="http://schemas.openxmlformats.org/officeDocument/2006/relationships/notesSlide" Target="/ppt/notesSlides/notesSlide10.xml" Id="R63a42b0ced1747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8c8dc700347b1" /><Relationship Type="http://schemas.openxmlformats.org/officeDocument/2006/relationships/notesSlide" Target="/ppt/notesSlides/notesSlide11.xml" Id="Rbbd9b3367c8f4a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66ad6ca0f4607" /><Relationship Type="http://schemas.openxmlformats.org/officeDocument/2006/relationships/notesSlide" Target="/ppt/notesSlides/notesSlide12.xml" Id="Rf6b132c446f642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7a349ca1c4404" /><Relationship Type="http://schemas.openxmlformats.org/officeDocument/2006/relationships/image" Target="/ppt/media/image24.png" Id="R4c774151dbb54a12" /><Relationship Type="http://schemas.openxmlformats.org/officeDocument/2006/relationships/image" Target="/ppt/media/image25.png" Id="R7c9d62c036fe4951" /><Relationship Type="http://schemas.openxmlformats.org/officeDocument/2006/relationships/image" Target="/ppt/media/image26.png" Id="R0120eded80b14477" /><Relationship Type="http://schemas.openxmlformats.org/officeDocument/2006/relationships/notesSlide" Target="/ppt/notesSlides/notesSlide13.xml" Id="Rdba4d86b0e0e4e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d24c5148f4dfc" /><Relationship Type="http://schemas.openxmlformats.org/officeDocument/2006/relationships/notesSlide" Target="/ppt/notesSlides/notesSlide14.xml" Id="R2721d002a2d44a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2411fce444161" /><Relationship Type="http://schemas.openxmlformats.org/officeDocument/2006/relationships/image" Target="/ppt/media/image.jpeg" Id="Ra72bc89e017e4048" /><Relationship Type="http://schemas.openxmlformats.org/officeDocument/2006/relationships/notesSlide" Target="/ppt/notesSlides/notesSlide15.xml" Id="R82ca9cd33b684a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930689b224904" /><Relationship Type="http://schemas.openxmlformats.org/officeDocument/2006/relationships/notesSlide" Target="/ppt/notesSlides/notesSlide16.xml" Id="R52a0f6ed39fd41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0517e184c4069" /><Relationship Type="http://schemas.openxmlformats.org/officeDocument/2006/relationships/chart" Target="/ppt/slides/charts/chart2.xml" Id="R2ed47b1b21624dc2" /><Relationship Type="http://schemas.openxmlformats.org/officeDocument/2006/relationships/notesSlide" Target="/ppt/notesSlides/notesSlide17.xml" Id="R78e4d3b26cdd49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f6d0778ac407f" /><Relationship Type="http://schemas.openxmlformats.org/officeDocument/2006/relationships/image" Target="/ppt/media/image27.png" Id="R8004c86ae98f4506" /><Relationship Type="http://schemas.openxmlformats.org/officeDocument/2006/relationships/image" Target="/ppt/media/image28.png" Id="R22f0a7f01c864a2c" /><Relationship Type="http://schemas.openxmlformats.org/officeDocument/2006/relationships/notesSlide" Target="/ppt/notesSlides/notesSlide18.xml" Id="Re20e9554808f41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b451a358440dd" /><Relationship Type="http://schemas.openxmlformats.org/officeDocument/2006/relationships/image" Target="/ppt/media/image29.png" Id="R6a01aaf8a6b14a35" /><Relationship Type="http://schemas.openxmlformats.org/officeDocument/2006/relationships/image" Target="/ppt/media/image30.png" Id="Rfca33f4261264883" /><Relationship Type="http://schemas.openxmlformats.org/officeDocument/2006/relationships/image" Target="/ppt/media/image31.png" Id="R2a43636d51454fa5" /><Relationship Type="http://schemas.openxmlformats.org/officeDocument/2006/relationships/notesSlide" Target="/ppt/notesSlides/notesSlide19.xml" Id="R38aebbbef4be4e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bfa1dbdcc4729" /><Relationship Type="http://schemas.openxmlformats.org/officeDocument/2006/relationships/notesSlide" Target="/ppt/notesSlides/notesSlide20.xml" Id="R0925dd9c158442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14e415f3448fe" /><Relationship Type="http://schemas.openxmlformats.org/officeDocument/2006/relationships/notesSlide" Target="/ppt/notesSlides/notesSlide21.xml" Id="R71a36591539d4a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31e946c604a98" /><Relationship Type="http://schemas.openxmlformats.org/officeDocument/2006/relationships/notesSlide" Target="/ppt/notesSlides/notesSlide22.xml" Id="Rdae5502b830d4d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225b66e5249c8" /><Relationship Type="http://schemas.openxmlformats.org/officeDocument/2006/relationships/image" Target="/ppt/media/image2.jpeg" Id="R1525623db041404b" /><Relationship Type="http://schemas.openxmlformats.org/officeDocument/2006/relationships/notesSlide" Target="/ppt/notesSlides/notesSlide23.xml" Id="Rbd903fa42f5f4f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dbedb78fd42eb" /><Relationship Type="http://schemas.openxmlformats.org/officeDocument/2006/relationships/image" Target="/ppt/media/image3.jpeg" Id="R70b491f3d8804055" /><Relationship Type="http://schemas.openxmlformats.org/officeDocument/2006/relationships/notesSlide" Target="/ppt/notesSlides/notesSlide24.xml" Id="Rc5ad84d1788b471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月收入</c:v>
          </c:tx>
          <c:spPr>
            <a:ln xmlns:a="http://schemas.openxmlformats.org/drawingml/2006/main" w="28575">
              <a:solidFill>
                <a:srgbClr val="2073BE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073BE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</c:v>
                </c:pt>
                <c:pt idx="1">
                  <c:v>980</c:v>
                </c:pt>
                <c:pt idx="2">
                  <c:v>1960</c:v>
                </c:pt>
                <c:pt idx="3">
                  <c:v>2940</c:v>
                </c:pt>
                <c:pt idx="4">
                  <c:v>3920</c:v>
                </c:pt>
                <c:pt idx="5">
                  <c:v>4900</c:v>
                </c:pt>
              </c:numCache>
            </c:numRef>
          </c:val>
        </c:ser>
        <c:ser>
          <c:idx val="1"/>
          <c:order val="1"/>
          <c:tx>
            <c:v>月支出</c:v>
          </c:tx>
          <c:spPr>
            <a:ln xmlns:a="http://schemas.openxmlformats.org/drawingml/2006/main" w="28575">
              <a:solidFill>
                <a:srgbClr val="D46A1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D46A12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1681</c:v>
                </c:pt>
                <c:pt idx="1">
                  <c:v>1771</c:v>
                </c:pt>
                <c:pt idx="2">
                  <c:v>1861</c:v>
                </c:pt>
                <c:pt idx="3">
                  <c:v>1951</c:v>
                </c:pt>
                <c:pt idx="4">
                  <c:v>2041</c:v>
                </c:pt>
                <c:pt idx="5">
                  <c:v>2131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JhengHei"/>
                    <a:ea typeface="Microsoft JhengHei"/>
                    <a:cs typeface="Microsoft JhengHei"/>
                  </a:rPr>
                  <a:t>付費帳號數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EF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465E78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本機 Git 每月提交（共 157 次）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4243A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提交次數</c:v>
          </c:tx>
          <c:spPr>
            <a:solidFill xmlns:a="http://schemas.openxmlformats.org/drawingml/2006/main">
              <a:srgbClr val="2073BE"/>
            </a:solidFill>
          </c:spPr>
          <c:cat>
            <c:strRef>
              <c:f>'Chart Data'!$A$2:$A$7</c:f>
              <c:strCache>
                <c:ptCount val="6"/>
                <c:pt idx="0">
                  <c:v>5月</c:v>
                </c:pt>
                <c:pt idx="1">
                  <c:v>6月</c:v>
                </c:pt>
                <c:pt idx="2">
                  <c:v>7月</c:v>
                </c:pt>
                <c:pt idx="3">
                  <c:v>8月</c:v>
                </c:pt>
                <c:pt idx="4">
                  <c:v>9月</c:v>
                </c:pt>
                <c:pt idx="5">
                  <c:v>10月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14</c:v>
                </c:pt>
                <c:pt idx="1">
                  <c:v>0</c:v>
                </c:pt>
                <c:pt idx="2">
                  <c:v>27</c:v>
                </c:pt>
                <c:pt idx="3">
                  <c:v>42</c:v>
                </c:pt>
                <c:pt idx="4">
                  <c:v>47</c:v>
                </c:pt>
                <c:pt idx="5">
                  <c:v>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4243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 0">
            <a:extLst xmlns:a="http://schemas.openxmlformats.org/drawingml/2006/main">
              <a:ext uri="{FF2B5EF4-FFF2-40B4-BE49-F238E27FC236}">
                <a16:creationId xmlns:a16="http://schemas.microsoft.com/office/drawing/2014/main" id="{82B0C943-5A1E-4ACE-9151-A8B4F7BA4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00344031245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2720" y="82296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299F6D-A59C-49BF-8431-2BE0FFE0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3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複審 · 15 MIN · 第115405組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B59D67-8F00-4E6B-969E-27A23325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7315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MeBOD</a:t>
            </a:r>
            <a:endParaRPr sz="6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2BBA0C7-C65B-4A5A-A81C-BD764BE4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醫美時尚輿情分析系統</a:t>
            </a:r>
            <a:endParaRPr sz="2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4D94B11-641D-4372-B4D1-2214B79F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11880"/>
            <a:ext cx="9144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跨平台資料分析、可回查的 AI 問答與持續監測</a:t>
            </a:r>
            <a:endParaRPr sz="1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74977E-391F-4E85-8CE8-27CB8C53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2356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組長 陳威帆 11246044　｜　組員 許家全 11246039　｜　指導老師 陳信宏</a:t>
            </a:r>
            <a:endParaRPr sz="1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B47819-AA2E-4420-A0EF-F27B41BF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8932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國立臺北商業大學 資訊管理系</a:t>
            </a:r>
            <a:endParaRPr sz="1200"/>
          </a:p>
        </p:txBody>
      </p:sp>
      <p:sp>
        <p:nvSpPr>
          <p:cNvPr id="11" name="01">
            <a:extLst xmlns:a="http://schemas.openxmlformats.org/drawingml/2006/main">
              <a:ext uri="{FF2B5EF4-FFF2-40B4-BE49-F238E27FC236}">
                <a16:creationId xmlns:a16="http://schemas.microsoft.com/office/drawing/2014/main" id="{4EA35771-81D9-467E-854C-0FBF9AAB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0548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455A85-E8A3-4FD7-BB36-5887F230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AGENDA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68291D-8866-4EFD-B6A9-739524AF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14 分 30 秒主講，保留 30 秒緩衝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6F7EDEF-87BE-487F-829E-8D05DE6B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2523744" cy="361188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6A1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FE2235-C488-46FA-9968-A8E44530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5237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 sz="4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9AAF241-ABE9-471E-B64D-4E82AA9D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26080"/>
            <a:ext cx="234086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為什麼做、做給誰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9E3FFD-D454-4CBD-A4E6-B7F0FC44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74720"/>
            <a:ext cx="22494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問題、使用者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商業模式、成本、TOWS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AEE99FC-695A-471B-88E0-425C727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80560"/>
            <a:ext cx="1645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BAF6D2E-C916-43B4-B39E-A07B8BAD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805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陳威帆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4337ECD-DA45-4041-86CE-5B52C945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3776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0:35–4:25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31F49D7-9215-4C44-8DC6-DB022DCC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783080"/>
            <a:ext cx="2523744" cy="361188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0337B4-99B6-4A74-A890-D45BDC6D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2057400"/>
            <a:ext cx="25237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 sz="4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F997F99-60F5-4019-AC65-98BC0805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016" y="2926080"/>
            <a:ext cx="234086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怎麼做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AC978F-E8EB-4E0A-9110-3579F60D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474720"/>
            <a:ext cx="22494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架構、資料收錄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情緒分數一致性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4D8CDB8-C444-4743-ACC4-342DD2E3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4480560"/>
            <a:ext cx="1645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516CD95-4CCA-4E6D-BCAA-68A8E45B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44805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許家全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5CB081B-9640-426B-B589-1CA1FDE1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93776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4:25–7:20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58F3A69-E4F1-4209-818B-C2A4109E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783080"/>
            <a:ext cx="2523744" cy="361188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FCD0CB-B16A-48F2-A2C8-869F2FB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057400"/>
            <a:ext cx="25237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 sz="4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FC4CAFE-9974-4D9D-9A5F-E075DA19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926080"/>
            <a:ext cx="234086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做到哪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EAD1606-9FAC-437D-BC8B-6FE99C65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474720"/>
            <a:ext cx="22494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功能完成度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實機展示、測試證據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7DA017B-2A37-45E1-9BF5-403FD57B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4480560"/>
            <a:ext cx="1645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1F33E70-64EE-4CE5-AFEB-BAA682BF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44805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許家全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1707E0E-4583-4848-9066-6812488A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93776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7:20–11:30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C005F6A-0FA2-472C-BA57-5ECDD809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783080"/>
            <a:ext cx="2523744" cy="361188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EC66ACC-03AA-43AD-99F2-2E2E732B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057400"/>
            <a:ext cx="25237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  <a:endParaRPr sz="4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6B147D5-EE5F-4EE7-B372-FF9BA35C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926080"/>
            <a:ext cx="234086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怎麼管、下一步</a:t>
            </a:r>
            <a:endParaRPr sz="18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E72B34F-4A9E-4796-BC1D-27A16EA4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474720"/>
            <a:ext cx="22494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時程與 GitHub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分工、結論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FA62E81-73DC-44E5-BDD9-5F76359D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80560"/>
            <a:ext cx="1645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C2C9254-E34F-4B45-9544-6577AE6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805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陳威帆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FCA79A7-477B-467C-A67D-655C618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937760"/>
            <a:ext cx="25237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11:30–14:30</a:t>
            </a:r>
            <a:endParaRPr sz="12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E43DCBC-DD71-4B89-9A82-763A4CCB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89D0AC0-8472-49F9-9FBA-762EF44A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每頁左上角標示這頁回應的初審評審意見</a:t>
            </a:r>
            <a:endParaRPr sz="1400"/>
          </a:p>
        </p:txBody>
      </p:sp>
      <p:sp>
        <p:nvSpPr>
          <p:cNvPr id="36" name="陳威帆 · 0:20–0:35">
            <a:extLst xmlns:a="http://schemas.openxmlformats.org/drawingml/2006/main">
              <a:ext uri="{FF2B5EF4-FFF2-40B4-BE49-F238E27FC236}">
                <a16:creationId xmlns:a16="http://schemas.microsoft.com/office/drawing/2014/main" id="{A7B5A32B-B239-4E44-AC24-585C9C8A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0:20–0:35</a:t>
            </a:r>
          </a:p>
        </p:txBody>
      </p:sp>
      <p:sp>
        <p:nvSpPr>
          <p:cNvPr id="37" name="02">
            <a:extLst xmlns:a="http://schemas.openxmlformats.org/drawingml/2006/main">
              <a:ext uri="{FF2B5EF4-FFF2-40B4-BE49-F238E27FC236}">
                <a16:creationId xmlns:a16="http://schemas.microsoft.com/office/drawing/2014/main" id="{5530B98C-4B3A-4176-8E77-B2021842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9388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EFDA59-683B-4B95-90AF-A7AFA272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WHY · 問題與動機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16A367-2A25-4100-93BD-F46A2534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使用者要的，是完成一次口碑研究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1FF437-3577-44AA-97B4-9D822BE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3429000" cy="233172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AC20D2E-E529-42D2-AD03-D762323D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836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33AA9622-39F9-4D75-943A-18DFD1461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b04f9e7da43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3140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13FC5CD-E166-4F7A-9B8A-8863B646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資料分散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0979B56-5CA9-4735-AD47-0D8C4446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832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四個平台各自搜尋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欄位與格式都不一樣</a:t>
            </a:r>
            <a:endParaRPr sz="14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34F52A6-7D52-44EB-B16D-FBC0CCB0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783080"/>
            <a:ext cx="3429000" cy="233172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9C69150-CD2D-49DC-A25E-AD5C0F4A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292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3" name="Image 1">
            <a:extLst xmlns:a="http://schemas.openxmlformats.org/drawingml/2006/main">
              <a:ext uri="{FF2B5EF4-FFF2-40B4-BE49-F238E27FC236}">
                <a16:creationId xmlns:a16="http://schemas.microsoft.com/office/drawing/2014/main" id="{3C5A2E19-B6CD-448B-98DF-A1AA7ACE3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201a24ca049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1596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90CEC1F-EA8D-4286-823E-E73F5D7D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8803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觀點混雜</a:t>
            </a:r>
            <a:endParaRPr sz="18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A5A7257-C0E2-460D-B597-8A7FE01A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3832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心得、提問、廣告、留言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只看標題容易誤判</a:t>
            </a:r>
            <a:endParaRPr sz="14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A8C8129-F73C-4901-AE34-71BFECF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783080"/>
            <a:ext cx="3429000" cy="233172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97F7C6A-87D4-456E-8DED-4BFBBC70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748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8" name="Image 2">
            <a:extLst xmlns:a="http://schemas.openxmlformats.org/drawingml/2006/main">
              <a:ext uri="{FF2B5EF4-FFF2-40B4-BE49-F238E27FC236}">
                <a16:creationId xmlns:a16="http://schemas.microsoft.com/office/drawing/2014/main" id="{49E459FA-0CD7-4B77-A77C-801E6F7FA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b08d03b2144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0052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8ED0E91C-99EC-442E-97FD-1352DB1E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8803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結論難回查</a:t>
            </a:r>
            <a:endParaRPr sz="18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3CE896B4-BAE8-4E46-B6F9-C06367BF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33832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摘要寫完了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卻找不回原文佐證</a:t>
            </a:r>
            <a:endParaRPr sz="14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97A1FB00-0C4A-4A92-B3F7-DE21693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97680"/>
            <a:ext cx="3429000" cy="10972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41F5A28-2304-4539-A929-645142A0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① 定義範圍</a:t>
            </a:r>
            <a:endParaRPr sz="1800"/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25D7A02-4C3C-44C3-B0C2-54E2EB9D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920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關鍵字＋平台＋期間</a:t>
            </a:r>
            <a:endParaRPr sz="1400"/>
          </a:p>
        </p:txBody>
      </p:sp>
      <p:pic>
        <p:nvPicPr>
          <p:cNvPr id="24" name="Image 3">
            <a:extLst xmlns:a="http://schemas.openxmlformats.org/drawingml/2006/main">
              <a:ext uri="{FF2B5EF4-FFF2-40B4-BE49-F238E27FC236}">
                <a16:creationId xmlns:a16="http://schemas.microsoft.com/office/drawing/2014/main" id="{C8D23219-0AC7-4F72-869A-F7ED90B984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9514722174a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0520" y="470916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6F9C38D-1F11-48C6-BC6E-F2213879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4297680"/>
            <a:ext cx="3429000" cy="10972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FEBFD265-52FC-4957-89CE-CB09FC58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443484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② 閱讀核對</a:t>
            </a:r>
            <a:endParaRPr sz="18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EAAFF19C-62C4-4ED6-B996-426F7FD4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48920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趨勢、情緒、回到原文</a:t>
            </a:r>
            <a:endParaRPr sz="1400"/>
          </a:p>
        </p:txBody>
      </p:sp>
      <p:pic>
        <p:nvPicPr>
          <p:cNvPr id="28" name="Image 4">
            <a:extLst xmlns:a="http://schemas.openxmlformats.org/drawingml/2006/main">
              <a:ext uri="{FF2B5EF4-FFF2-40B4-BE49-F238E27FC236}">
                <a16:creationId xmlns:a16="http://schemas.microsoft.com/office/drawing/2014/main" id="{D8D82CF0-D712-4034-9BAD-6B1B522AE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ea23fd37b4e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8976" y="470916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0157CEB1-311F-46E4-ADE5-E3AE384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297680"/>
            <a:ext cx="3429000" cy="10972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779FB8C9-C831-4AAC-BCA5-E6930436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43484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③ 留存追蹤</a:t>
            </a:r>
            <a:endParaRPr sz="1800"/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2C2225D1-0EAC-4751-891A-9D15D324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8920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歷史、比較、監測、匯出</a:t>
            </a:r>
            <a:endParaRPr sz="1400"/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2C75B6EE-6B39-4C67-B5CA-C6D1A924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2700">
            <a:solidFill>
              <a:srgbClr val="FDEEDF"/>
            </a:solidFill>
            <a:prstDash val="solid"/>
          </a:ln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0989A6E0-86FD-4F13-885A-2562C0D7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MeBOD 是行銷觀察工具：討論聲量不等於療程成效，也不取代醫療判斷</a:t>
            </a:r>
            <a:endParaRPr sz="1400"/>
          </a:p>
        </p:txBody>
      </p:sp>
      <p:sp>
        <p:nvSpPr>
          <p:cNvPr id="34" name="陳威帆 · 0:35–1:15">
            <a:extLst xmlns:a="http://schemas.openxmlformats.org/drawingml/2006/main">
              <a:ext uri="{FF2B5EF4-FFF2-40B4-BE49-F238E27FC236}">
                <a16:creationId xmlns:a16="http://schemas.microsoft.com/office/drawing/2014/main" id="{34BD9E31-64E3-4CAB-A968-734B96A5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0:35–1:15</a:t>
            </a:r>
          </a:p>
        </p:txBody>
      </p:sp>
      <p:sp>
        <p:nvSpPr>
          <p:cNvPr id="35" name="03">
            <a:extLst xmlns:a="http://schemas.openxmlformats.org/drawingml/2006/main">
              <a:ext uri="{FF2B5EF4-FFF2-40B4-BE49-F238E27FC236}">
                <a16:creationId xmlns:a16="http://schemas.microsoft.com/office/drawing/2014/main" id="{72A76EEC-AA91-4D5C-889A-261FAE0A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9537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前次評審意見修正情形">
            <a:extLst xmlns:a="http://schemas.openxmlformats.org/drawingml/2006/main">
              <a:ext uri="{FF2B5EF4-FFF2-40B4-BE49-F238E27FC236}">
                <a16:creationId xmlns:a16="http://schemas.microsoft.com/office/drawing/2014/main" id="{6AF31943-CD07-4715-B488-8A905AEC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前次評審意見修正情形</a:t>
            </a:r>
          </a:p>
        </p:txBody>
      </p:sp>
      <p:sp>
        <p:nvSpPr>
          <p:cNvPr id="2" name="初評意見已轉成具體修正與待辦">
            <a:extLst xmlns:a="http://schemas.openxmlformats.org/drawingml/2006/main">
              <a:ext uri="{FF2B5EF4-FFF2-40B4-BE49-F238E27FC236}">
                <a16:creationId xmlns:a16="http://schemas.microsoft.com/office/drawing/2014/main" id="{4FD84B34-62B7-42E5-BDA4-DEAC158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初評意見已轉成具體修正與待辦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78FEC-83F4-48A2-B585-110C4C12A34F}"/>
              </a:ext>
            </a:extLst>
          </p:cNvPr>
          <p:cNvGraphicFramePr/>
          <p:nvPr/>
        </p:nvGraphicFramePr>
        <p:xfrm>
          <a:off xmlns:a="http://schemas.openxmlformats.org/drawingml/2006/main" x="733425" y="1771650"/>
          <a:ext xmlns:a="http://schemas.openxmlformats.org/drawingml/2006/main" cx="107251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4533900"/>
                <a:gridCol w="3924300"/>
              </a:tblGrid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初評關切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本次修正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目前邊界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目標客戶與營運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聚焦小型行銷團隊；STP、成本試算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需求訪談、實際帳單待補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RAG 只有關鍵字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文章切段＋向量＋關鍵字混合檢索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固定題組評估待補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分數與資料品質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固定分類參數；100 篇一致性評估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人工標註、業配辨識待補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系統與文件證據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四平台、18 張表、分層測試紀錄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權限缺口、部署驗證待修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53835-C781-4DB3-9900-0DD21944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5" name="本次分別說明：前次修正、系統完成度、功能完整性；未完成項目明">
            <a:extLst xmlns:a="http://schemas.openxmlformats.org/drawingml/2006/main">
              <a:ext uri="{FF2B5EF4-FFF2-40B4-BE49-F238E27FC236}">
                <a16:creationId xmlns:a16="http://schemas.microsoft.com/office/drawing/2014/main" id="{DB4087EC-C5CB-4FC3-8B33-59E9E8E4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本次分別說明：前次修正、系統完成度、功能完整性；未完成項目明列。</a:t>
            </a:r>
          </a:p>
        </p:txBody>
      </p:sp>
      <p:sp>
        <p:nvSpPr>
          <p:cNvPr id="6" name="陳威帆 · 1:15–1:50">
            <a:extLst xmlns:a="http://schemas.openxmlformats.org/drawingml/2006/main">
              <a:ext uri="{FF2B5EF4-FFF2-40B4-BE49-F238E27FC236}">
                <a16:creationId xmlns:a16="http://schemas.microsoft.com/office/drawing/2014/main" id="{11F455A9-78D6-42C9-91DB-A24956B1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1:15–1:50</a:t>
            </a:r>
          </a:p>
        </p:txBody>
      </p:sp>
      <p:sp>
        <p:nvSpPr>
          <p:cNvPr id="7" name="04">
            <a:extLst xmlns:a="http://schemas.openxmlformats.org/drawingml/2006/main">
              <a:ext uri="{FF2B5EF4-FFF2-40B4-BE49-F238E27FC236}">
                <a16:creationId xmlns:a16="http://schemas.microsoft.com/office/drawing/2014/main" id="{5E176C02-579C-4EA4-A7E2-8799185A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0400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378EB1E-5866-46B2-B727-E02E66C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評審A · 使用對象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2BD872-6076-4F21-88E0-A83C64B2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鎖定一群人：要定期看口碑的小團隊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705D8B-0D52-4310-9299-B62C101D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5120640" cy="365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55F5A5-4559-4CDE-8052-CE2F3B9C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A14425BB-4C6E-4D19-8716-198A95A46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4d541236d4e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8960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E95D8AD-DD41-4F7C-B669-C4E62D2C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目標使用者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6272697-F2AF-471D-AA7B-9F8E208D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小型診所、保養品牌、行銷研究團隊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271D884-C12B-49EC-9B37-B375AD49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STP 區隔變數</a:t>
            </a:r>
            <a:endParaRPr sz="1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8FC03CB-5DEB-4538-9DC5-CC36A79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1960"/>
            <a:ext cx="13716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3BC98E7-348F-44DC-A9A5-9F458D36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196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機構規模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51E8CDD-19A9-493B-8824-63C5FC7B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251960"/>
            <a:ext cx="13716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7F5BB2-39B3-43BE-96F8-0C8B993E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25196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觀察主題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3583E3A-EEF4-4A4E-BC5C-B3EF31AA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51960"/>
            <a:ext cx="13716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0439D1A-686A-4773-8AC4-4E418657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5196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使用頻率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DE9C54C-F233-42AB-8B5B-EE3840EF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4632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一般消費者版需要療程知識補充，列入下一步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C2EF53F-BABB-435D-9E49-BA12D8BD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52395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為行銷研究整合哪些工作？</a:t>
            </a:r>
            <a:endParaRPr sz="18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AA6BD65-4097-4C6E-9ECD-063E10D2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77440"/>
            <a:ext cx="2194560" cy="603504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25AD148-EAC6-4031-9425-B96E5DD5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77440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持續觀察</a:t>
            </a:r>
            <a:endParaRPr sz="1400"/>
          </a:p>
        </p:txBody>
      </p:sp>
      <p:pic>
        <p:nvPicPr>
          <p:cNvPr id="22" name="Image 1">
            <a:extLst xmlns:a="http://schemas.openxmlformats.org/drawingml/2006/main">
              <a:ext uri="{FF2B5EF4-FFF2-40B4-BE49-F238E27FC236}">
                <a16:creationId xmlns:a16="http://schemas.microsoft.com/office/drawing/2014/main" id="{B2A598C7-2AD9-4230-B552-A393D2D46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dee575495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7072" y="255117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5A43E4E6-0534-472D-AAEA-1C4A35DC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377440"/>
            <a:ext cx="2496312" cy="603504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537F47C-CB7A-4F36-AD11-94C0F9A8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377440"/>
            <a:ext cx="249631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每日自動追蹤＋負面預警</a:t>
            </a:r>
            <a:endParaRPr sz="14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FF1BECA0-76FB-4292-B238-3EF5FEE9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45536"/>
            <a:ext cx="2194560" cy="603504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F65B291-AA8F-4C29-BC55-CA3B5ABE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45536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證據核對</a:t>
            </a:r>
            <a:endParaRPr sz="1400"/>
          </a:p>
        </p:txBody>
      </p:sp>
      <p:pic>
        <p:nvPicPr>
          <p:cNvPr id="27" name="Image 2">
            <a:extLst xmlns:a="http://schemas.openxmlformats.org/drawingml/2006/main">
              <a:ext uri="{FF2B5EF4-FFF2-40B4-BE49-F238E27FC236}">
                <a16:creationId xmlns:a16="http://schemas.microsoft.com/office/drawing/2014/main" id="{8F50DF4D-5409-4DC6-8409-6EA408BE0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4fa01ad494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7072" y="331927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C259AE0D-5754-491C-9DDA-366187DD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145536"/>
            <a:ext cx="2496312" cy="603504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18B7BB7D-FC23-48DA-A226-8355653E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145536"/>
            <a:ext cx="249631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回答附原文，點了就看</a:t>
            </a:r>
            <a:endParaRPr sz="1400"/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ABCFBF94-4698-4500-9CAE-C3DF7B87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913632"/>
            <a:ext cx="2194560" cy="603504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AA157392-80BD-4119-97C4-95210302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913632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期間比較</a:t>
            </a:r>
            <a:endParaRPr sz="1400"/>
          </a:p>
        </p:txBody>
      </p:sp>
      <p:pic>
        <p:nvPicPr>
          <p:cNvPr id="32" name="Image 3">
            <a:extLst xmlns:a="http://schemas.openxmlformats.org/drawingml/2006/main">
              <a:ext uri="{FF2B5EF4-FFF2-40B4-BE49-F238E27FC236}">
                <a16:creationId xmlns:a16="http://schemas.microsoft.com/office/drawing/2014/main" id="{67FA3406-E978-402F-A81E-DE8E1D42C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63660d3c645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7072" y="408736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3C718A5A-6EEA-41A8-9D37-9EFCD4BA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913632"/>
            <a:ext cx="2496312" cy="603504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5240582E-5B39-4018-B47F-4E462F6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913632"/>
            <a:ext cx="249631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依期間、平台出趨勢圖</a:t>
            </a:r>
            <a:endParaRPr sz="1400"/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4336B683-C109-4D43-8E40-634F0A22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681728"/>
            <a:ext cx="2194560" cy="603504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3EE2C696-383D-4642-9730-81A8EEF4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681728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成果留存</a:t>
            </a:r>
            <a:endParaRPr sz="1400"/>
          </a:p>
        </p:txBody>
      </p:sp>
      <p:pic>
        <p:nvPicPr>
          <p:cNvPr id="37" name="Image 4">
            <a:extLst xmlns:a="http://schemas.openxmlformats.org/drawingml/2006/main">
              <a:ext uri="{FF2B5EF4-FFF2-40B4-BE49-F238E27FC236}">
                <a16:creationId xmlns:a16="http://schemas.microsoft.com/office/drawing/2014/main" id="{7E5ED0B8-692D-4EB2-9B72-4B6979905B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793fc54af4c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7072" y="485546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1CF12B8F-A026-45F9-AC0C-66B5505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681728"/>
            <a:ext cx="2496312" cy="603504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9B9CDD5D-318C-49A5-A1A6-4AF97E5C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681728"/>
            <a:ext cx="249631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個人帳號、匯出報表</a:t>
            </a:r>
            <a:endParaRPr sz="1400"/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3672E564-5385-405B-B5F0-D1112B6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2700">
            <a:solidFill>
              <a:srgbClr val="FDEEDF"/>
            </a:solidFill>
            <a:prstDash val="solid"/>
          </a:ln>
        </p:spPr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FFB37A8C-2AE6-4C9F-9194-5ED1F2BA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初評口頭報告提及與雜誌社交流；正式訪談紀錄及需求驗收仍待補。</a:t>
            </a:r>
            <a:endParaRPr sz="1400"/>
          </a:p>
        </p:txBody>
      </p:sp>
      <p:sp>
        <p:nvSpPr>
          <p:cNvPr id="42" name="陳威帆 · 1:50–2:30">
            <a:extLst xmlns:a="http://schemas.openxmlformats.org/drawingml/2006/main">
              <a:ext uri="{FF2B5EF4-FFF2-40B4-BE49-F238E27FC236}">
                <a16:creationId xmlns:a16="http://schemas.microsoft.com/office/drawing/2014/main" id="{1239E67C-7E93-40E5-97FD-9F90C84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1:50–2:30</a:t>
            </a:r>
          </a:p>
        </p:txBody>
      </p:sp>
      <p:sp>
        <p:nvSpPr>
          <p:cNvPr id="43" name="05">
            <a:extLst xmlns:a="http://schemas.openxmlformats.org/drawingml/2006/main">
              <a:ext uri="{FF2B5EF4-FFF2-40B4-BE49-F238E27FC236}">
                <a16:creationId xmlns:a16="http://schemas.microsoft.com/office/drawing/2014/main" id="{DBB75A9E-1AE3-4458-BCA6-1C6ADFDA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9815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48E66F-7B16-4B77-A90F-18E4CCBD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評審C · 商業模式九大區塊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FC2E084-788E-4AA1-A011-FD608BAA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商業模式：九個區塊串成一個訂閱服務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73D501D-EF9C-4DC0-A6B9-AEA384A9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AFE5D26-E9A9-4018-BEC7-4816BA86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顧客區隔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400AA4B-03A8-4949-8B4F-67E13CDE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5856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小型診所、保養品牌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行銷研究團隊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9726D99-C0C6-41BE-AB13-1C9EE935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8308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6A12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6506BE-3EB8-4EA7-81F8-743C61A0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9280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價值主張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A49E480-BB4E-48EB-9414-1C1A414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5856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跨平台口碑一次看完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結論可回查原文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1CA4986-7EC6-4FCC-8B8E-90A9B210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78308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30EB6D-B991-406D-AD0B-8BDD9979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9280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通路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0CCA089-EBE0-406D-9612-B5812207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25856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網頁服務、專題展示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客戶試用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42C9A5A-701C-4DE4-9BE2-FE241CDA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906EF3-819E-4325-9117-4B01A9D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顧客關係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5986184-DEF8-4875-8B06-131DA4E3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9300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帳號服務、使用教學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問題回報</a:t>
            </a:r>
            <a:endParaRPr sz="1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65C9346-EE06-4CF2-96A9-D5DCB6A8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752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95422CB-ADAB-4EF0-BC00-3301F758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2724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收益來源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6DB83AB-A8D6-4ACA-A6C4-C91D08C8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49300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免費／專業／企業三級訂閱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專業版月費 490 元（假設）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1C55690-3280-4369-B0A9-73F6C902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01752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5110F48-5D7A-476F-A9F1-092DA040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12724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關鍵資源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FE6883-1E4B-4B36-A8E4-67587517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49300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累積的文章資料庫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領域詞庫、程式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DFBF11-BC8E-4DF5-BE40-B491BD8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6504BA7-3C1C-459E-A6D2-E03498D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6168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關鍵活動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30B8C84-20BC-40FA-8568-0EA4EF83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2744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爬取清理、情緒評分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向量建立、品質檢查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8E8E952-5B75-4B74-B902-6D8B3ABB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5196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8480925-CF0B-438D-88C8-D2363485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168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關鍵夥伴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79153E2-D8BC-4B92-98BC-83E3803E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2744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模型 API 供應商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主機與網路服務商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49AA711-747F-40F3-B2F5-CA47FF22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251960"/>
            <a:ext cx="3502152" cy="11430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17465AA-BCAF-4107-8F03-06189B8E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361688"/>
            <a:ext cx="35021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成本結構</a:t>
            </a:r>
            <a:endParaRPr sz="16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F88FD6C-B894-4AD9-A81B-AA6E2AA4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727448"/>
            <a:ext cx="322783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模型呼叫、主機備份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維護人力（尚未估列）</a:t>
            </a:r>
            <a:endParaRPr sz="14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5BE08BA-F7BC-411B-8CDA-FFD86C9D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F1237A8-245D-444C-AD78-5EA43828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方案額度已實作；訂閱收款尚未串接，月費與付費意願仍屬營運假設。</a:t>
            </a:r>
            <a:endParaRPr sz="1400"/>
          </a:p>
        </p:txBody>
      </p:sp>
      <p:sp>
        <p:nvSpPr>
          <p:cNvPr id="35" name="陳威帆 · 2:30–3:05">
            <a:extLst xmlns:a="http://schemas.openxmlformats.org/drawingml/2006/main">
              <a:ext uri="{FF2B5EF4-FFF2-40B4-BE49-F238E27FC236}">
                <a16:creationId xmlns:a16="http://schemas.microsoft.com/office/drawing/2014/main" id="{BC982EA8-545D-477C-8DB7-CB5D129D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2:30–3:05</a:t>
            </a:r>
          </a:p>
        </p:txBody>
      </p:sp>
      <p:sp>
        <p:nvSpPr>
          <p:cNvPr id="36" name="06">
            <a:extLst xmlns:a="http://schemas.openxmlformats.org/drawingml/2006/main">
              <a:ext uri="{FF2B5EF4-FFF2-40B4-BE49-F238E27FC236}">
                <a16:creationId xmlns:a16="http://schemas.microsoft.com/office/drawing/2014/main" id="{2EBC2E49-1D76-434B-A184-C5A48BA6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7781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251437-2CBB-4C6D-8413-BC46626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評審C · 量化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AB2D361-6AEC-43A3-B0E1-1370DFE9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成本情境：4 帳號可覆蓋假設營運支出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ABE0FF-C9C7-43A7-B316-AB380518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256032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85A3F5F-CAC5-40D7-A02D-39DBD2B4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0.33 元</a:t>
            </a:r>
            <a:endParaRPr sz="3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BEA3D9-A009-4CEA-B0DD-D5E22278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每次 AI 問答假設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C76224E-6880-42E4-BCC5-DD201F63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18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沿用原稿假設；待帳單校正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5898B4-0D91-400B-A3E6-1EA3FA36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83080"/>
            <a:ext cx="256032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A85723-AC44-4CA2-ACCB-8AE9A597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574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45 元</a:t>
            </a:r>
            <a:endParaRPr sz="3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DCBBE7D-2D2D-4D5C-8E2C-9C15E869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803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每位專業版用戶／月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E7B73D4-0CE7-48A5-BF08-571B2268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2918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問答 100 次＋分析 30 次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69880F6-9021-42D8-857E-6B3D32E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256032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D12D62-5D8D-4E45-BCFC-ED5E4859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574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1,681 元</a:t>
            </a:r>
            <a:endParaRPr sz="3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ED8EA77-2B5E-469E-8275-5A4B4D5F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803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每月基礎預算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C93142-C0A9-4B69-9623-0ABACA09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2918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主機、備份與批次處理假設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EC6AB01-C01E-4038-B70A-DD2D8BA2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783080"/>
            <a:ext cx="2404872" cy="3703320"/>
          </a:xfrm>
          <a:prstGeom xmlns:a="http://schemas.openxmlformats.org/drawingml/2006/main" prst="roundRect">
            <a:avLst>
              <a:gd name="adj" fmla="val 6084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9050">
            <a:solidFill>
              <a:srgbClr val="D46A12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F08BD10-8E54-4639-B49F-5A1262B8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057400"/>
            <a:ext cx="24048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營運支出平衡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CBD95C2-6776-488D-8AA1-A33AB42A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514600"/>
            <a:ext cx="24048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4 帳號</a:t>
            </a:r>
            <a:endParaRPr sz="5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A99349E-721C-4384-ABAB-AE70C0D1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57600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⌈1,681 ÷ (490 − 45)⌉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05FECCB-D9C7-4154-8CE1-A7738D35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069080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4 帳號每月餘額 99 元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31788AA-EE2A-4983-B910-E496729D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754880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月費 490 元為團隊假設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1E81070-A35F-42FD-8834-66AC620E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8046720" cy="1600200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7886CE8-19D6-4214-A643-3748AB0D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2700">
            <a:solidFill>
              <a:srgbClr val="FDEED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5383211-1DB8-4E4C-A4B9-04E90E7B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新臺幣／月；沿用原稿預算假設，未含人力、開發、稅費；不等於已獲利。</a:t>
            </a:r>
            <a:endParaRPr sz="1400"/>
          </a:p>
        </p:txBody>
      </p:sp>
      <p:sp>
        <p:nvSpPr>
          <p:cNvPr id="28" name="陳威帆 · 3:05–3:50">
            <a:extLst xmlns:a="http://schemas.openxmlformats.org/drawingml/2006/main">
              <a:ext uri="{FF2B5EF4-FFF2-40B4-BE49-F238E27FC236}">
                <a16:creationId xmlns:a16="http://schemas.microsoft.com/office/drawing/2014/main" id="{6B13CACB-5429-4B4E-8705-C61874EE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3:05–3:50</a:t>
            </a:r>
          </a:p>
        </p:txBody>
      </p:sp>
      <p:sp>
        <p:nvSpPr>
          <p:cNvPr id="29" name="07">
            <a:extLst xmlns:a="http://schemas.openxmlformats.org/drawingml/2006/main">
              <a:ext uri="{FF2B5EF4-FFF2-40B4-BE49-F238E27FC236}">
                <a16:creationId xmlns:a16="http://schemas.microsoft.com/office/drawing/2014/main" id="{732FBB28-8821-4EFE-850A-BFD02858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07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CF1A1B14-1B85-4032-AA9E-AA4200B256E5}"/>
              </a:ext>
            </a:extLst>
          </p:cNvPr>
          <p:cNvGraphicFramePr/>
          <p:nvPr/>
        </p:nvGraphicFramePr>
        <p:xfrm>
          <a:off xmlns:a="http://schemas.openxmlformats.org/drawingml/2006/main" x="868680" y="3959352"/>
          <a:ext xmlns:a="http://schemas.openxmlformats.org/drawingml/2006/main" cx="7772400" cy="14630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08d3aa71c14e64"/>
          </a:graphicData>
        </a:graphic>
      </p:graphicFrame>
    </p:spTree>
    <p:extLst>
      <p:ext uri="{BB962C8B-B14F-4D97-AF65-F5344CB8AC3E}">
        <p14:creationId xmlns:p14="http://schemas.microsoft.com/office/powerpoint/2010/main" val="680616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D8379D-9BFF-494D-AFB5-B484A88F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評審C · SWOT → TOWS ／ Agentic AI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CCBAA3-821B-4617-9BE5-5BCB6973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TOWS：把優劣勢變成可驗證的策略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107BB1A-FDDD-48D4-98C1-4BFB7442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2377440" cy="777240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F5F8F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6DD236-593D-46E3-A5C5-14CD0AA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內部 ＼ 外部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F171F00-F09F-4512-A758-183E3B18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1783080"/>
            <a:ext cx="4064508" cy="777240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E1491D-5706-4CE1-A412-CD7F551B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1837944"/>
            <a:ext cx="40645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機會 O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B177DCF-4722-4646-9FA2-1DCB5D31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148840"/>
            <a:ext cx="40645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團隊需要持續整理公開討論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6EF465-1938-45FA-A8F2-B30AA029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1783080"/>
            <a:ext cx="4064508" cy="777240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04E204-F39D-4589-8632-0718D859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1837944"/>
            <a:ext cx="40645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威脅 T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4B73569-3FFA-4FCF-96F6-60658D2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2148840"/>
            <a:ext cx="40645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網站改版、模型費用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通用 AI 代理（Agentic AI）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4DFD663-6F1B-41F6-9D66-5525770A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377440" cy="1353312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087561-95F5-4B1A-A1DA-CE2174FD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44368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優勢 S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C57ADA-1148-44C0-B8CE-7ED4C7D8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55848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垂直詞庫、多平台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結構化資料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B917158-53D7-4A98-8786-0128C277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2377440" cy="1353312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D476D84-CB34-4ACE-94D9-4FAB379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07408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劣勢 W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14BE4AE-327B-4CCC-935D-DEAC6814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18888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資料與模型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依賴外部服務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DE308C3-0086-4189-976E-14BD80E7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670048"/>
            <a:ext cx="4064508" cy="1353312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B32B576-9F39-473E-A90C-6173B4AA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807208"/>
            <a:ext cx="40645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SO 擴大試用</a:t>
            </a:r>
            <a:endParaRPr sz="16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B98F55-5C1E-4BE0-9AE2-DDDB811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145536"/>
            <a:ext cx="369874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用固定關鍵字監測，先給診所與品牌試用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D9E894C-4A68-4A27-B7DB-041B5724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657600"/>
            <a:ext cx="36987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驗證：試用帳號每週查詢與匯出次數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D302650-AFA3-4604-97AF-4CE54EE1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2670048"/>
            <a:ext cx="4064508" cy="1353312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9050">
            <a:solidFill>
              <a:srgbClr val="D46A1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8377BD2-1390-4EB4-9C68-1D14EAED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2807208"/>
            <a:ext cx="40645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ST 拉開差異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C78A3C1-B85A-4F31-9660-A0F4A91E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4" y="3145536"/>
            <a:ext cx="369874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長期歷史資料＋原文回查＋持續監測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與通用 AI 代理區隔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9BF74F6-C499-4F46-90DF-A3B8844A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4" y="3657600"/>
            <a:ext cx="36987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驗證：與通用 AI 同題任務比較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82F97A8-DBEE-46B3-9B10-6B358B95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133088"/>
            <a:ext cx="4064508" cy="1353312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7244F9F-9F55-4D57-A57D-1A4B8A73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270248"/>
            <a:ext cx="40645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WO 補品質</a:t>
            </a:r>
            <a:endParaRPr sz="16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7278167-D4AE-47FF-8A49-389C561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608576"/>
            <a:ext cx="369874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人工抽樣標註，建立情緒與相關性基準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9AEB992-C521-43AD-86DA-08A71E87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120640"/>
            <a:ext cx="36987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驗證：抽樣一致率、領域合作者複核</a:t>
            </a:r>
            <a:endParaRPr sz="12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640254-8473-41BE-98BF-3DE9787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4133088"/>
            <a:ext cx="4064508" cy="1353312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5DC46B8-55B7-4207-AC0F-541B08D2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4270248"/>
            <a:ext cx="40645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WT 降風險</a:t>
            </a:r>
            <a:endParaRPr sz="16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DC63F14-F402-48DD-9911-6384C21D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4" y="4608576"/>
            <a:ext cx="369874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停用故障平台、方案額度、問答快取、備份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8CB0705-16E3-42C3-A4F0-DAA65DF9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4" y="5120640"/>
            <a:ext cx="36987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驗證：用量紀錄與備份還原測試</a:t>
            </a:r>
            <a:endParaRPr sz="12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18A8F5E-2D8E-4B81-9EFA-3204C312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2700">
            <a:solidFill>
              <a:srgbClr val="FDEEDF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B25984E-EAEC-47F6-92CA-36239A5D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Agentic AI 是評審C最後的提問：通用 AI 能自己搜尋整理，我們靠累積資料與可回查做區隔</a:t>
            </a:r>
            <a:endParaRPr sz="1400"/>
          </a:p>
        </p:txBody>
      </p:sp>
      <p:sp>
        <p:nvSpPr>
          <p:cNvPr id="38" name="陳威帆 · 3:50–4:25">
            <a:extLst xmlns:a="http://schemas.openxmlformats.org/drawingml/2006/main">
              <a:ext uri="{FF2B5EF4-FFF2-40B4-BE49-F238E27FC236}">
                <a16:creationId xmlns:a16="http://schemas.microsoft.com/office/drawing/2014/main" id="{5E1A92CE-5E9B-40D4-AB1B-030C85CB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3:50–4:25</a:t>
            </a:r>
          </a:p>
        </p:txBody>
      </p:sp>
      <p:sp>
        <p:nvSpPr>
          <p:cNvPr id="39" name="08">
            <a:extLst xmlns:a="http://schemas.openxmlformats.org/drawingml/2006/main">
              <a:ext uri="{FF2B5EF4-FFF2-40B4-BE49-F238E27FC236}">
                <a16:creationId xmlns:a16="http://schemas.microsoft.com/office/drawing/2014/main" id="{229CB9A2-69C0-4C75-85FB-11A89FBA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3096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382AC0-1725-4E97-8880-5B5576A9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HOW · 系統架構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0A85B40-B96A-4BB1-BD59-C068ED22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三層架構：介面、服務、資料各司其職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03EE594-5EDB-41D5-BE3E-3295AFAF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3108960" cy="2697480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5F89204-804D-4C6F-A555-4A6F12DD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17A77513-39CF-4F27-8FF0-A8A6A8B97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52d51b342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3120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4A656B7-DF83-4AFB-BA98-70487856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B04266-7968-48EC-839F-0794A6C3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83280"/>
            <a:ext cx="28346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Vue 3 ＋ Chart.js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儀表板、問答、歷史、管理</a:t>
            </a:r>
            <a:endParaRPr sz="1400"/>
          </a:p>
        </p:txBody>
      </p:sp>
      <p:pic>
        <p:nvPicPr>
          <p:cNvPr id="11" name="Image 1">
            <a:extLst xmlns:a="http://schemas.openxmlformats.org/drawingml/2006/main">
              <a:ext uri="{FF2B5EF4-FFF2-40B4-BE49-F238E27FC236}">
                <a16:creationId xmlns:a16="http://schemas.microsoft.com/office/drawing/2014/main" id="{AAA88FCC-54F8-4A98-9B7A-242591F616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1858e9be948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0792" y="299923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DB0C8BB0-8FAB-4F7B-9CD1-8E6413E1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996" y="1783080"/>
            <a:ext cx="3108960" cy="2697480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A46EAA1-0024-4E88-A877-B817B00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292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4" name="Image 2">
            <a:extLst xmlns:a="http://schemas.openxmlformats.org/drawingml/2006/main">
              <a:ext uri="{FF2B5EF4-FFF2-40B4-BE49-F238E27FC236}">
                <a16:creationId xmlns:a16="http://schemas.microsoft.com/office/drawing/2014/main" id="{6B868C35-7FAF-4E6D-85D7-7C2533098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f51fb52274b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1596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B396E06-7935-4F69-8CA0-F6C17232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156" y="2880360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應用服務</a:t>
            </a:r>
            <a:endParaRPr sz="18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D343DCAE-088D-467D-8243-70F1E0AB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156" y="3383280"/>
            <a:ext cx="28346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FastAPI ＋ 服務層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授權、分析、檢索、匯出</a:t>
            </a:r>
            <a:endParaRPr sz="1400"/>
          </a:p>
        </p:txBody>
      </p:sp>
      <p:pic>
        <p:nvPicPr>
          <p:cNvPr id="17" name="Image 3">
            <a:extLst xmlns:a="http://schemas.openxmlformats.org/drawingml/2006/main">
              <a:ext uri="{FF2B5EF4-FFF2-40B4-BE49-F238E27FC236}">
                <a16:creationId xmlns:a16="http://schemas.microsoft.com/office/drawing/2014/main" id="{B18B74B6-6479-43C4-A545-09C863EDB0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7e10a7cbd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9268" y="299923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B5B3E279-45FD-4B70-B404-921CE581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783080"/>
            <a:ext cx="3108960" cy="2697480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CC3FEFD1-EE3C-491B-848D-5295F403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20" name="Image 4">
            <a:extLst xmlns:a="http://schemas.openxmlformats.org/drawingml/2006/main">
              <a:ext uri="{FF2B5EF4-FFF2-40B4-BE49-F238E27FC236}">
                <a16:creationId xmlns:a16="http://schemas.microsoft.com/office/drawing/2014/main" id="{00D2973F-29C1-4627-8278-F6CE0DD797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9bd094e9444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0072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4F8A541F-FC5B-499D-B2BA-DA7F8ED2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880360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資料與外部服務</a:t>
            </a:r>
            <a:endParaRPr sz="18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73CCB1A8-6878-4626-93D8-4F1B26E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3383280"/>
            <a:ext cx="28346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PostgreSQL ＋ SQLAlchemy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四平台爬蟲、Gemini API</a:t>
            </a:r>
            <a:endParaRPr sz="140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55DCD4F6-04AB-47AD-A817-2C060B02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25603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EDF2F8"/>
            </a:solidFill>
            <a:prstDash val="solid"/>
          </a:ln>
        </p:spPr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9E5FE95C-0D73-41E5-B6B7-365C1F22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18 張表・Alembic 遷移</a:t>
            </a:r>
            <a:endParaRPr sz="120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600FC39A-0A2D-4EDE-AE89-E236798B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89" y="4754880"/>
            <a:ext cx="25603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EDF2F8"/>
            </a:solidFill>
            <a:prstDash val="solid"/>
          </a:ln>
        </p:spPr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9804428B-B261-410C-9E6E-D1188CD3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89" y="475488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問答：關鍵字＋向量 RRF</a:t>
            </a:r>
            <a:endParaRPr sz="12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92DBFD1B-3A96-44D2-984C-2BFD2252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858" y="4754880"/>
            <a:ext cx="25603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EDF2F8"/>
            </a:solidFill>
            <a:prstDash val="solid"/>
          </a:ln>
        </p:spPr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3F04553E-9670-46C5-AD97-A31B89A3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858" y="475488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WebSocket：爬取進度推送</a:t>
            </a:r>
            <a:endParaRPr sz="12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B5B492EC-BAF0-4474-9106-B7115F8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026" y="4754880"/>
            <a:ext cx="25603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EDF2F8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BA5E8A2E-0EED-4FB1-95E4-F8595C93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026" y="475488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cloudflared：HTTPS 對外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8FBCDF45-118E-4FBE-98E3-451060B5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78CB195D-AC11-4DB4-9EEC-E5137624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主要 API 由後端檢查權限與額度；預警已讀端點仍有帳號隔離缺口。</a:t>
            </a:r>
            <a:endParaRPr sz="1400"/>
          </a:p>
        </p:txBody>
      </p:sp>
      <p:sp>
        <p:nvSpPr>
          <p:cNvPr id="33" name="許家全 · 4:25–5:10">
            <a:extLst xmlns:a="http://schemas.openxmlformats.org/drawingml/2006/main">
              <a:ext uri="{FF2B5EF4-FFF2-40B4-BE49-F238E27FC236}">
                <a16:creationId xmlns:a16="http://schemas.microsoft.com/office/drawing/2014/main" id="{D88E650D-A0FC-41A9-8332-49B526C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許家全 · 4:25–5:10</a:t>
            </a:r>
          </a:p>
        </p:txBody>
      </p:sp>
      <p:sp>
        <p:nvSpPr>
          <p:cNvPr id="34" name="09">
            <a:extLst xmlns:a="http://schemas.openxmlformats.org/drawingml/2006/main">
              <a:ext uri="{FF2B5EF4-FFF2-40B4-BE49-F238E27FC236}">
                <a16:creationId xmlns:a16="http://schemas.microsoft.com/office/drawing/2014/main" id="{F9B4ED37-4DCC-419D-B661-AADC07E1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4693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329953-4910-47FA-969C-2A92C2CC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評審C · 爬蟲觸發 ／ 評審B · 資料篩選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A082D87-CCD7-43A8-91CA-40A94DBB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從一個論壇，到四個平台自動收錄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221DA69-9696-4C45-A925-D461420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2331720" cy="274320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906CE69-A9A4-4981-B25F-8F711E9A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96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67540054-5A8D-477E-9B21-C967856343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7235476fd43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0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870681-CC95-4CE7-B3E1-6F9779BF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觸發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50A0FCC-D00C-4C22-9E37-7D01AC13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83280"/>
            <a:ext cx="2057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管理員手動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或每日排程</a:t>
            </a:r>
            <a:endParaRPr sz="1400"/>
          </a:p>
        </p:txBody>
      </p:sp>
      <p:pic>
        <p:nvPicPr>
          <p:cNvPr id="11" name="Image 1">
            <a:extLst xmlns:a="http://schemas.openxmlformats.org/drawingml/2006/main">
              <a:ext uri="{FF2B5EF4-FFF2-40B4-BE49-F238E27FC236}">
                <a16:creationId xmlns:a16="http://schemas.microsoft.com/office/drawing/2014/main" id="{7E07D1F4-56F3-4DC1-8514-D098450FC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d67d940a443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54680" y="30175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E5235BA2-4DF4-47EA-A4A7-EDEEE454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1783080"/>
            <a:ext cx="2331720" cy="274320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A5E936C-8D45-4659-AB91-BC037CED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4" name="Image 2">
            <a:extLst xmlns:a="http://schemas.openxmlformats.org/drawingml/2006/main">
              <a:ext uri="{FF2B5EF4-FFF2-40B4-BE49-F238E27FC236}">
                <a16:creationId xmlns:a16="http://schemas.microsoft.com/office/drawing/2014/main" id="{D24F1D12-48F5-4CA3-B3FF-BD1E58BC1B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9eaac7ee74f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2564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48570E2-B196-43D5-8C75-E1EE20B7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2880360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爬取</a:t>
            </a:r>
            <a:endParaRPr sz="18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CA670059-18CE-4BE9-8D06-FE786D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383280"/>
            <a:ext cx="2057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PTT・Dcard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Mobile01・Threads</a:t>
            </a:r>
            <a:endParaRPr sz="1400"/>
          </a:p>
        </p:txBody>
      </p:sp>
      <p:pic>
        <p:nvPicPr>
          <p:cNvPr id="17" name="Image 3">
            <a:extLst xmlns:a="http://schemas.openxmlformats.org/drawingml/2006/main">
              <a:ext uri="{FF2B5EF4-FFF2-40B4-BE49-F238E27FC236}">
                <a16:creationId xmlns:a16="http://schemas.microsoft.com/office/drawing/2014/main" id="{75BE6797-EC12-4239-800A-D7733C804F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37a106ac24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744" y="30175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4E0C1B37-12D1-41D3-92C7-794D999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783080"/>
            <a:ext cx="2331720" cy="274320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3AD08487-3D79-4B53-9591-16730930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4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20" name="Image 4">
            <a:extLst xmlns:a="http://schemas.openxmlformats.org/drawingml/2006/main">
              <a:ext uri="{FF2B5EF4-FFF2-40B4-BE49-F238E27FC236}">
                <a16:creationId xmlns:a16="http://schemas.microsoft.com/office/drawing/2014/main" id="{43CEFB47-56E5-4289-B01D-49BC5D5D67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0099d6fa6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0628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27DFC239-9632-4CCC-ABF7-53E0A972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880360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自動收錄</a:t>
            </a:r>
            <a:endParaRPr sz="18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FE8EE5EF-0578-4288-AA18-774C17C1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383280"/>
            <a:ext cx="2057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領域詞命中計分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依平台與看板判斷</a:t>
            </a:r>
          </a:p>
        </p:txBody>
      </p:sp>
      <p:pic>
        <p:nvPicPr>
          <p:cNvPr id="23" name="Image 5">
            <a:extLst xmlns:a="http://schemas.openxmlformats.org/drawingml/2006/main">
              <a:ext uri="{FF2B5EF4-FFF2-40B4-BE49-F238E27FC236}">
                <a16:creationId xmlns:a16="http://schemas.microsoft.com/office/drawing/2014/main" id="{93458B57-3A19-4D73-A910-5AF3F22583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ff8319c49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0808" y="30175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4" name="Shape 16">
            <a:extLst xmlns:a="http://schemas.openxmlformats.org/drawingml/2006/main">
              <a:ext uri="{FF2B5EF4-FFF2-40B4-BE49-F238E27FC236}">
                <a16:creationId xmlns:a16="http://schemas.microsoft.com/office/drawing/2014/main" id="{DDF022F1-ACAA-452B-8962-3FF27805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1783080"/>
            <a:ext cx="2331720" cy="274320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5" name="Shape 17">
            <a:extLst xmlns:a="http://schemas.openxmlformats.org/drawingml/2006/main">
              <a:ext uri="{FF2B5EF4-FFF2-40B4-BE49-F238E27FC236}">
                <a16:creationId xmlns:a16="http://schemas.microsoft.com/office/drawing/2014/main" id="{7CF5314B-BDE4-465B-9892-CCC1B9C5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388" y="205740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26" name="Image 6">
            <a:extLst xmlns:a="http://schemas.openxmlformats.org/drawingml/2006/main">
              <a:ext uri="{FF2B5EF4-FFF2-40B4-BE49-F238E27FC236}">
                <a16:creationId xmlns:a16="http://schemas.microsoft.com/office/drawing/2014/main" id="{502EF078-5A73-4C50-83AD-A338EC53C2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176296cb549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8692" y="22037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ABACF938-DDAC-4833-B479-AC194F7A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880360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入庫</a:t>
            </a:r>
            <a:endParaRPr sz="1800"/>
          </a:p>
        </p:txBody>
      </p:sp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70073DD7-ABFC-47D4-AF5F-0F20A3F9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3383280"/>
            <a:ext cx="2057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18 張資料表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文章、留言、切段</a:t>
            </a:r>
            <a:endParaRPr sz="1400"/>
          </a:p>
        </p:txBody>
      </p:sp>
      <p:sp>
        <p:nvSpPr>
          <p:cNvPr id="29" name="Shape 20">
            <a:extLst xmlns:a="http://schemas.openxmlformats.org/drawingml/2006/main">
              <a:ext uri="{FF2B5EF4-FFF2-40B4-BE49-F238E27FC236}">
                <a16:creationId xmlns:a16="http://schemas.microsoft.com/office/drawing/2014/main" id="{0D1857AC-A072-4D6D-983A-057B03A7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846320"/>
            <a:ext cx="3474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1A457C06-BFAC-4639-BC68-95A477DB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84632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WebSocket 即時回報爬取進度</a:t>
            </a:r>
            <a:endParaRPr sz="1200"/>
          </a:p>
        </p:txBody>
      </p:sp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7F7E1441-4D8A-426D-864B-E3E011C0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846320"/>
            <a:ext cx="3474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2" name="Text 23">
            <a:extLst xmlns:a="http://schemas.openxmlformats.org/drawingml/2006/main">
              <a:ext uri="{FF2B5EF4-FFF2-40B4-BE49-F238E27FC236}">
                <a16:creationId xmlns:a16="http://schemas.microsoft.com/office/drawing/2014/main" id="{65FF2298-BEE7-4B41-BB94-90D33EED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84632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租約鎖：手動與排程不重複跑</a:t>
            </a:r>
            <a:endParaRPr sz="1200"/>
          </a:p>
        </p:txBody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7425DDD9-6192-4E87-9376-4FB80BB5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2700">
            <a:solidFill>
              <a:srgbClr val="FDEEDF"/>
            </a:solidFill>
            <a:prstDash val="solid"/>
          </a:ln>
        </p:spPr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7EE680D6-AFDF-4F56-9F2E-036E857C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相關性規則已自動化；不等同業配、真偽或醫療知識驗證，人工複核流程待建立。</a:t>
            </a:r>
            <a:endParaRPr sz="1400"/>
          </a:p>
        </p:txBody>
      </p:sp>
      <p:sp>
        <p:nvSpPr>
          <p:cNvPr id="35" name="許家全 · 5:10–5:50">
            <a:extLst xmlns:a="http://schemas.openxmlformats.org/drawingml/2006/main">
              <a:ext uri="{FF2B5EF4-FFF2-40B4-BE49-F238E27FC236}">
                <a16:creationId xmlns:a16="http://schemas.microsoft.com/office/drawing/2014/main" id="{1199BFDD-CEBC-4035-91D6-76DEC2CF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許家全 · 5:10–5:50</a:t>
            </a:r>
          </a:p>
        </p:txBody>
      </p:sp>
      <p:sp>
        <p:nvSpPr>
          <p:cNvPr id="36" name="10">
            <a:extLst xmlns:a="http://schemas.openxmlformats.org/drawingml/2006/main">
              <a:ext uri="{FF2B5EF4-FFF2-40B4-BE49-F238E27FC236}">
                <a16:creationId xmlns:a16="http://schemas.microsoft.com/office/drawing/2014/main" id="{6C7CD6C5-8790-4F00-9A64-73A0743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773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評審 B · RAG 修正">
            <a:extLst xmlns:a="http://schemas.openxmlformats.org/drawingml/2006/main">
              <a:ext uri="{FF2B5EF4-FFF2-40B4-BE49-F238E27FC236}">
                <a16:creationId xmlns:a16="http://schemas.microsoft.com/office/drawing/2014/main" id="{75DE63E1-E2C4-45FD-85D0-6BD338CA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評審 B · RAG 修正</a:t>
            </a:r>
          </a:p>
        </p:txBody>
      </p:sp>
      <p:sp>
        <p:nvSpPr>
          <p:cNvPr id="2" name="RAG：先找證據，再依問題整理答案">
            <a:extLst xmlns:a="http://schemas.openxmlformats.org/drawingml/2006/main">
              <a:ext uri="{FF2B5EF4-FFF2-40B4-BE49-F238E27FC236}">
                <a16:creationId xmlns:a16="http://schemas.microsoft.com/office/drawing/2014/main" id="{B9A53406-8A5D-42E6-95B8-D77620C0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RAG：先找證據，再依問題整理答案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7CCB0-E324-40E6-9857-9A7CA4EB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81225"/>
            <a:ext cx="2409825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4" name="1｜解析問題">
            <a:extLst xmlns:a="http://schemas.openxmlformats.org/drawingml/2006/main">
              <a:ext uri="{FF2B5EF4-FFF2-40B4-BE49-F238E27FC236}">
                <a16:creationId xmlns:a16="http://schemas.microsoft.com/office/drawing/2014/main" id="{A9A8F6FF-F78F-40D6-B591-F3964E8C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90775"/>
            <a:ext cx="2066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1｜解析問題</a:t>
            </a:r>
          </a:p>
        </p:txBody>
      </p:sp>
      <p:sp>
        <p:nvSpPr>
          <p:cNvPr id="5" name="關鍵字、平台、期間&#10;辨識問題類型">
            <a:extLst xmlns:a="http://schemas.openxmlformats.org/drawingml/2006/main">
              <a:ext uri="{FF2B5EF4-FFF2-40B4-BE49-F238E27FC236}">
                <a16:creationId xmlns:a16="http://schemas.microsoft.com/office/drawing/2014/main" id="{BA7B32A6-2946-4558-A0F5-9F504D6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57525"/>
            <a:ext cx="2066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關鍵字、平台、期間</a:t>
            </a:r>
          </a:p>
          <a:p xmlns:a="http://schemas.openxmlformats.org/drawingml/2006/main"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辨識問題類型</a:t>
            </a:r>
          </a:p>
        </p:txBody>
      </p:sp>
      <p:sp>
        <p:nvSpPr>
          <p:cNvPr id="6" name="→">
            <a:extLst xmlns:a="http://schemas.openxmlformats.org/drawingml/2006/main">
              <a:ext uri="{FF2B5EF4-FFF2-40B4-BE49-F238E27FC236}">
                <a16:creationId xmlns:a16="http://schemas.microsoft.com/office/drawing/2014/main" id="{09145811-D4EB-43FE-81FA-D0FBE75B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81325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128E4-B351-4E52-823F-BADFB5B4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81225"/>
            <a:ext cx="2409825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8" name="2｜雙路檢索">
            <a:extLst xmlns:a="http://schemas.openxmlformats.org/drawingml/2006/main">
              <a:ext uri="{FF2B5EF4-FFF2-40B4-BE49-F238E27FC236}">
                <a16:creationId xmlns:a16="http://schemas.microsoft.com/office/drawing/2014/main" id="{C43B28F5-73C2-499A-BFE2-0FA448C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90775"/>
            <a:ext cx="2066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2｜雙路檢索</a:t>
            </a:r>
          </a:p>
        </p:txBody>
      </p:sp>
      <p:sp>
        <p:nvSpPr>
          <p:cNvPr id="9" name="關鍵字命中文章&#10;向量搜尋相似切段">
            <a:extLst xmlns:a="http://schemas.openxmlformats.org/drawingml/2006/main">
              <a:ext uri="{FF2B5EF4-FFF2-40B4-BE49-F238E27FC236}">
                <a16:creationId xmlns:a16="http://schemas.microsoft.com/office/drawing/2014/main" id="{245FB36B-CCAD-493D-856B-DFA03BF5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57525"/>
            <a:ext cx="2066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關鍵字命中文章</a:t>
            </a:r>
          </a:p>
          <a:p xmlns:a="http://schemas.openxmlformats.org/drawingml/2006/main"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向量搜尋相似切段</a:t>
            </a:r>
          </a:p>
        </p:txBody>
      </p:sp>
      <p:sp>
        <p:nvSpPr>
          <p:cNvPr id="10" name="→">
            <a:extLst xmlns:a="http://schemas.openxmlformats.org/drawingml/2006/main">
              <a:ext uri="{FF2B5EF4-FFF2-40B4-BE49-F238E27FC236}">
                <a16:creationId xmlns:a16="http://schemas.microsoft.com/office/drawing/2014/main" id="{C5FF2BD1-F159-45DB-96A7-5737760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81325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F99D2-85E1-4652-AA2C-32820DBC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81225"/>
            <a:ext cx="2409825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12" name="3｜融合證據">
            <a:extLst xmlns:a="http://schemas.openxmlformats.org/drawingml/2006/main">
              <a:ext uri="{FF2B5EF4-FFF2-40B4-BE49-F238E27FC236}">
                <a16:creationId xmlns:a16="http://schemas.microsoft.com/office/drawing/2014/main" id="{37ECD397-79E6-4977-BDC2-7EA74FEB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90775"/>
            <a:ext cx="2066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3｜融合證據</a:t>
            </a:r>
          </a:p>
        </p:txBody>
      </p:sp>
      <p:sp>
        <p:nvSpPr>
          <p:cNvPr id="13" name="RRF 合併排序&#10;整理文章與留言">
            <a:extLst xmlns:a="http://schemas.openxmlformats.org/drawingml/2006/main">
              <a:ext uri="{FF2B5EF4-FFF2-40B4-BE49-F238E27FC236}">
                <a16:creationId xmlns:a16="http://schemas.microsoft.com/office/drawing/2014/main" id="{9E31B891-4FEE-4EC5-9B80-4CC01DB7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57525"/>
            <a:ext cx="2066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RRF 合併排序</a:t>
            </a:r>
          </a:p>
          <a:p xmlns:a="http://schemas.openxmlformats.org/drawingml/2006/main"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整理文章與留言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CB0A0004-9FC8-44EF-8B0F-94560DF6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01A17-01D7-4F4E-A435-A67E266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81225"/>
            <a:ext cx="2409825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16" name="4｜生成與回查">
            <a:extLst xmlns:a="http://schemas.openxmlformats.org/drawingml/2006/main">
              <a:ext uri="{FF2B5EF4-FFF2-40B4-BE49-F238E27FC236}">
                <a16:creationId xmlns:a16="http://schemas.microsoft.com/office/drawing/2014/main" id="{C7D3F989-65D1-4905-93A3-F69A9147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90775"/>
            <a:ext cx="2066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4｜生成與回查</a:t>
            </a:r>
          </a:p>
        </p:txBody>
      </p:sp>
      <p:sp>
        <p:nvSpPr>
          <p:cNvPr id="17" name="Gemini 依證據回答&#10;顯示引用來源連結">
            <a:extLst xmlns:a="http://schemas.openxmlformats.org/drawingml/2006/main">
              <a:ext uri="{FF2B5EF4-FFF2-40B4-BE49-F238E27FC236}">
                <a16:creationId xmlns:a16="http://schemas.microsoft.com/office/drawing/2014/main" id="{21568FEA-2740-46DF-8E7E-05C2DF8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57525"/>
            <a:ext cx="2066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Gemini 依證據回答</a:t>
            </a:r>
          </a:p>
          <a:p xmlns:a="http://schemas.openxmlformats.org/drawingml/2006/main"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顯示引用來源連結</a:t>
            </a:r>
          </a:p>
        </p:txBody>
      </p:sp>
      <p:sp>
        <p:nvSpPr>
          <p:cNvPr id="18" name="初評：SQL 關鍵字比對">
            <a:extLst xmlns:a="http://schemas.openxmlformats.org/drawingml/2006/main">
              <a:ext uri="{FF2B5EF4-FFF2-40B4-BE49-F238E27FC236}">
                <a16:creationId xmlns:a16="http://schemas.microsoft.com/office/drawing/2014/main" id="{21E1B770-BB3D-456D-9E37-B54EC601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465E78"/>
                </a:solidFill>
              </a:defRPr>
            </a:pPr>
            <a:r>
              <a:rPr sz="1800" b="0">
                <a:solidFill>
                  <a:srgbClr val="465E78"/>
                </a:solidFill>
              </a:rPr>
              <a:t>初評：SQL 關鍵字比對</a:t>
            </a:r>
          </a:p>
        </p:txBody>
      </p:sp>
      <p:sp>
        <p:nvSpPr>
          <p:cNvPr id="19" name="現行：意圖解析＋混合檢索">
            <a:extLst xmlns:a="http://schemas.openxmlformats.org/drawingml/2006/main">
              <a:ext uri="{FF2B5EF4-FFF2-40B4-BE49-F238E27FC236}">
                <a16:creationId xmlns:a16="http://schemas.microsoft.com/office/drawing/2014/main" id="{6AAC09A4-89E6-43CC-B944-F63DCA8C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859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2073BE"/>
                </a:solidFill>
              </a:defRPr>
            </a:pPr>
            <a:r>
              <a:rPr sz="1800" b="1">
                <a:solidFill>
                  <a:srgbClr val="2073BE"/>
                </a:solidFill>
              </a:rPr>
              <a:t>現行：意圖解析＋混合檢索</a:t>
            </a:r>
          </a:p>
        </p:txBody>
      </p:sp>
      <p:sp>
        <p:nvSpPr>
          <p:cNvPr id="20" name="文章預處理：文章切段 → 建立向量 → 儲存 article">
            <a:extLst xmlns:a="http://schemas.openxmlformats.org/drawingml/2006/main">
              <a:ext uri="{FF2B5EF4-FFF2-40B4-BE49-F238E27FC236}">
                <a16:creationId xmlns:a16="http://schemas.microsoft.com/office/drawing/2014/main" id="{CC43DE36-80D4-4D7C-8680-E179EF10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29175"/>
            <a:ext cx="1072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465E78"/>
                </a:solidFill>
              </a:defRPr>
            </a:pPr>
            <a:r>
              <a:rPr sz="1800" b="0">
                <a:solidFill>
                  <a:srgbClr val="465E78"/>
                </a:solidFill>
              </a:rPr>
              <a:t>文章預處理：文章切段 → 建立向量 → 儲存 article_chunks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7B715-1567-4D18-979F-61EE189B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22" name="向量無結果時回退關鍵字；引用可核對來源，但仍需驗證答案品質。">
            <a:extLst xmlns:a="http://schemas.openxmlformats.org/drawingml/2006/main">
              <a:ext uri="{FF2B5EF4-FFF2-40B4-BE49-F238E27FC236}">
                <a16:creationId xmlns:a16="http://schemas.microsoft.com/office/drawing/2014/main" id="{41A3AE8C-22B4-4507-9429-9A536FD2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向量無結果時回退關鍵字；引用可核對來源，但仍需驗證答案品質。</a:t>
            </a:r>
          </a:p>
        </p:txBody>
      </p:sp>
      <p:sp>
        <p:nvSpPr>
          <p:cNvPr id="23" name="許家全 · 5:50–6:35">
            <a:extLst xmlns:a="http://schemas.openxmlformats.org/drawingml/2006/main">
              <a:ext uri="{FF2B5EF4-FFF2-40B4-BE49-F238E27FC236}">
                <a16:creationId xmlns:a16="http://schemas.microsoft.com/office/drawing/2014/main" id="{209D6858-4F66-42BB-AE07-5F5B74BF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許家全 · 5:50–6:35</a:t>
            </a:r>
          </a:p>
        </p:txBody>
      </p:sp>
      <p:sp>
        <p:nvSpPr>
          <p:cNvPr id="24" name="11">
            <a:extLst xmlns:a="http://schemas.openxmlformats.org/drawingml/2006/main">
              <a:ext uri="{FF2B5EF4-FFF2-40B4-BE49-F238E27FC236}">
                <a16:creationId xmlns:a16="http://schemas.microsoft.com/office/drawing/2014/main" id="{CACC4743-E5A1-4826-B85C-32F0F333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89718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AAFB14-3979-4C29-A168-E86AC5F8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評審B · 分數一致性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33F3C0-5A8E-4E34-8ECF-E33A23B4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情緒驗證：區分模型一致性與重跑穩定性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5CEA188-EA69-45AE-A12C-C3167970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3429000" cy="210312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C4B1AC-B8EB-4E5D-9805-9C092E6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82%</a:t>
            </a:r>
            <a:endParaRPr sz="3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7EE03E4-B401-4044-8DC0-F7AB6406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3246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與另一模型盲標一致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21E905-8B4E-4856-BA54-CF33C512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1840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100 篇分層抽樣，κ ≈ 0.73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6FE9418-C4CC-4F04-BE99-2259F43F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783080"/>
            <a:ext cx="3429000" cy="210312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330BEC-080B-46C0-BF9E-710871B6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057400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12 → 0</a:t>
            </a:r>
            <a:endParaRPr sz="3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5C05624-C73B-490A-99FD-E14AC740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880360"/>
            <a:ext cx="3246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本批 100 篇標籤變動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B3BE34B-8396-4F77-8F37-752D0C7A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291840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temperature 0.3 → 0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238C662-39CA-44E4-9046-5A77CF04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783080"/>
            <a:ext cx="3429000" cy="210312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3B5637-06BD-4EA7-8079-48688A05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057400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0.67</a:t>
            </a:r>
            <a:endParaRPr sz="3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0B1C888-5786-4E85-9B7F-75A54D45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880360"/>
            <a:ext cx="3246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負面 precision（AI 對照）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2E9DD7-396D-458E-91C7-4A553156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3291840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以另一模型標籤為參照，非人工準確度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495A569-2A36-44A4-BA0D-4D48EB5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69080"/>
            <a:ext cx="10725912" cy="128016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17C0E2E-3F9B-4759-8BCF-5D07BDFC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7259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比較用分數 ＝ 50 ＋（正面% − 負面%）÷ 2</a:t>
            </a:r>
            <a:endParaRPr sz="2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DBF1759-9F6A-4EAD-AD43-1F8388C5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107259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例如正面 60%、負面 10% → 75 分；須在相同範圍及分母下比較。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A5F12A4-CE1B-41B2-88F4-7C16AD0D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2700">
            <a:solidFill>
              <a:srgbClr val="FDEED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6E680E5-C80B-4BC0-ADD1-10CDEAC2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 變動僅代表本批兩次測試；模型一致率不等於正確率，人工標註待補。</a:t>
            </a:r>
            <a:endParaRPr sz="1400"/>
          </a:p>
        </p:txBody>
      </p:sp>
      <p:sp>
        <p:nvSpPr>
          <p:cNvPr id="23" name="許家全 · 6:35–7:20">
            <a:extLst xmlns:a="http://schemas.openxmlformats.org/drawingml/2006/main">
              <a:ext uri="{FF2B5EF4-FFF2-40B4-BE49-F238E27FC236}">
                <a16:creationId xmlns:a16="http://schemas.microsoft.com/office/drawing/2014/main" id="{FA88BA15-74D1-4710-8B9E-0D832E8B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許家全 · 6:35–7:20</a:t>
            </a:r>
          </a:p>
        </p:txBody>
      </p:sp>
      <p:sp>
        <p:nvSpPr>
          <p:cNvPr id="24" name="12">
            <a:extLst xmlns:a="http://schemas.openxmlformats.org/drawingml/2006/main">
              <a:ext uri="{FF2B5EF4-FFF2-40B4-BE49-F238E27FC236}">
                <a16:creationId xmlns:a16="http://schemas.microsoft.com/office/drawing/2014/main" id="{6E8821F2-C3F9-4329-AF81-AFBBB376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5046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E45A7A-556D-4F81-83A7-14615AB2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系統完成度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137F97-A0DA-4BE7-90F8-DC23A4E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系統完成度：核心已實作，驗收仍有缺口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DB0BBF-30F6-4DC6-95B8-C2DD0C30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3429000" cy="361188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CB9C0CF-009C-4D19-BE99-D8226979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836" y="201168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4AF8D58E-104C-4539-847D-587A19083F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74151dbb54a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3140" y="21579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6DECED8-F6E0-4C42-935A-88647A15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已實作的核心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0C65E00-C153-4A54-A212-A7176CF5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30632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四平台爬蟲與每日排程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儀表板、文章詳情、文字雲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AI 問答附來源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個人歷史、比較、Excel 匯出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帳號角色、方案額度、監測預警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Alembic 資料庫遷移</a:t>
            </a:r>
            <a:endParaRPr sz="14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8C928EB-5393-40E6-88E5-AB37A99A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783080"/>
            <a:ext cx="3429000" cy="361188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6A12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93B97AE-7A1B-4A20-A702-8098EB9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292" y="201168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3" name="Image 1">
            <a:extLst xmlns:a="http://schemas.openxmlformats.org/drawingml/2006/main">
              <a:ext uri="{FF2B5EF4-FFF2-40B4-BE49-F238E27FC236}">
                <a16:creationId xmlns:a16="http://schemas.microsoft.com/office/drawing/2014/main" id="{6228734B-0F17-4F5F-A60E-AC1D32E2D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d62c036fe49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1596" y="21579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18E5ED8-45D7-4578-A247-1BB53D2A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274320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待修正・待驗證</a:t>
            </a:r>
            <a:endParaRPr sz="18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1DA4A7D-B8D3-4F19-BE11-C888272E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291840"/>
            <a:ext cx="30632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預警已讀的帳號隔離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Linux 建置與部署驗證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情緒準確度（人工標註）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檢索相關性（固定題組）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高負載與多使用者</a:t>
            </a:r>
            <a:endParaRPr sz="14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42AC430-86BA-48DE-986E-C676D28D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783080"/>
            <a:ext cx="3429000" cy="361188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0EF4F65E-758A-4E09-8FD0-F3E96682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748" y="201168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8" name="Image 2">
            <a:extLst xmlns:a="http://schemas.openxmlformats.org/drawingml/2006/main">
              <a:ext uri="{FF2B5EF4-FFF2-40B4-BE49-F238E27FC236}">
                <a16:creationId xmlns:a16="http://schemas.microsoft.com/office/drawing/2014/main" id="{5087F159-9941-4BFF-B53B-F14175154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0eded80b1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0052" y="21579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F5100BB6-0D7E-4E9A-AFF4-AD721DB2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74320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規劃中（不計入）</a:t>
            </a:r>
            <a:endParaRPr sz="18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D86EF59-CB22-4022-B197-EC040A35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291840"/>
            <a:ext cx="30632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訂閱收款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業配辨識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知識萃取與專家驗證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一般消費者版本</a:t>
            </a:r>
            <a:endParaRPr sz="14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90E245E7-B93B-4453-8342-2C55280C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9A411FC2-DF37-4156-8DA8-61080FED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依「已實作／待驗證／規劃」分列；未定義驗收分母，不宣稱完成百分比。</a:t>
            </a:r>
            <a:endParaRPr sz="1400"/>
          </a:p>
        </p:txBody>
      </p:sp>
      <p:sp>
        <p:nvSpPr>
          <p:cNvPr id="23" name="許家全 · 7:20–8:00">
            <a:extLst xmlns:a="http://schemas.openxmlformats.org/drawingml/2006/main">
              <a:ext uri="{FF2B5EF4-FFF2-40B4-BE49-F238E27FC236}">
                <a16:creationId xmlns:a16="http://schemas.microsoft.com/office/drawing/2014/main" id="{3CFAA62A-AF22-4B52-AE23-A600D1B9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許家全 · 7:20–8:00</a:t>
            </a:r>
          </a:p>
        </p:txBody>
      </p:sp>
      <p:sp>
        <p:nvSpPr>
          <p:cNvPr id="24" name="13">
            <a:extLst xmlns:a="http://schemas.openxmlformats.org/drawingml/2006/main">
              <a:ext uri="{FF2B5EF4-FFF2-40B4-BE49-F238E27FC236}">
                <a16:creationId xmlns:a16="http://schemas.microsoft.com/office/drawing/2014/main" id="{BFD69344-8AE2-42D9-B1F5-611FD6B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5722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功能完整性">
            <a:extLst xmlns:a="http://schemas.openxmlformats.org/drawingml/2006/main">
              <a:ext uri="{FF2B5EF4-FFF2-40B4-BE49-F238E27FC236}">
                <a16:creationId xmlns:a16="http://schemas.microsoft.com/office/drawing/2014/main" id="{6E42A8D1-38E0-47A4-9BC4-5B5DFEDF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功能完整性</a:t>
            </a:r>
          </a:p>
        </p:txBody>
      </p:sp>
      <p:sp>
        <p:nvSpPr>
          <p:cNvPr id="2" name="一條研究流程，對應六組可操作功能">
            <a:extLst xmlns:a="http://schemas.openxmlformats.org/drawingml/2006/main">
              <a:ext uri="{FF2B5EF4-FFF2-40B4-BE49-F238E27FC236}">
                <a16:creationId xmlns:a16="http://schemas.microsoft.com/office/drawing/2014/main" id="{BE27C868-2AD2-4089-8BF8-60D6F295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一條研究流程，對應六組可操作功能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1F4E0-905D-41F2-BD1B-FB7836BCADB3}"/>
              </a:ext>
            </a:extLst>
          </p:cNvPr>
          <p:cNvGraphicFramePr/>
          <p:nvPr/>
        </p:nvGraphicFramePr>
        <p:xfrm>
          <a:off xmlns:a="http://schemas.openxmlformats.org/drawingml/2006/main" x="733425" y="1771650"/>
          <a:ext xmlns:a="http://schemas.openxmlformats.org/drawingml/2006/main" cx="107251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5010150"/>
                <a:gridCol w="3886200"/>
              </a:tblGrid>
              <a:tr h="53884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流程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使用者能完成的操作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輸出／驗收重點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設定範圍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關鍵字、平台、期間篩選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查詢條件與資料範圍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觀察討論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趨勢、情緒、主題、熱門文章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圖表與文章明細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追問與核對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AI 問答、展開來源、回原文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回答與引用清單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留存與比較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儲存分析歷史、比較兩次結果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歷史列表與差異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輸出成果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Excel 匯出、報告列印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可下載／可列印資料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持續監測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關鍵字監測、預警列表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已讀權限隔離仍待修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1D8A4-4F17-4D2A-8002-55C9ADD1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5" name="涵蓋搜尋 → 分析 → 問答 → 回查 → 留存 → 輸出；">
            <a:extLst xmlns:a="http://schemas.openxmlformats.org/drawingml/2006/main">
              <a:ext uri="{FF2B5EF4-FFF2-40B4-BE49-F238E27FC236}">
                <a16:creationId xmlns:a16="http://schemas.microsoft.com/office/drawing/2014/main" id="{F3F2EEEA-0C9E-42FA-A4D3-4091B38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涵蓋搜尋 → 分析 → 問答 → 回查 → 留存 → 輸出；品質與權限另列驗證。</a:t>
            </a:r>
          </a:p>
        </p:txBody>
      </p:sp>
      <p:sp>
        <p:nvSpPr>
          <p:cNvPr id="6" name="許家全 · 8:00–8:35">
            <a:extLst xmlns:a="http://schemas.openxmlformats.org/drawingml/2006/main">
              <a:ext uri="{FF2B5EF4-FFF2-40B4-BE49-F238E27FC236}">
                <a16:creationId xmlns:a16="http://schemas.microsoft.com/office/drawing/2014/main" id="{256D84E3-1A04-45AE-B6C2-61D7838A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許家全 · 8:00–8:35</a:t>
            </a:r>
          </a:p>
        </p:txBody>
      </p:sp>
      <p:sp>
        <p:nvSpPr>
          <p:cNvPr id="7" name="14">
            <a:extLst xmlns:a="http://schemas.openxmlformats.org/drawingml/2006/main">
              <a:ext uri="{FF2B5EF4-FFF2-40B4-BE49-F238E27FC236}">
                <a16:creationId xmlns:a16="http://schemas.microsoft.com/office/drawing/2014/main" id="{9C267043-34B0-4751-9CE1-2E6AD157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8775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實機展示 · 2 分 20 秒">
            <a:extLst xmlns:a="http://schemas.openxmlformats.org/drawingml/2006/main">
              <a:ext uri="{FF2B5EF4-FFF2-40B4-BE49-F238E27FC236}">
                <a16:creationId xmlns:a16="http://schemas.microsoft.com/office/drawing/2014/main" id="{6A4537BA-0D5D-4481-9844-C69165E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實機展示 · 2 分 20 秒</a:t>
            </a:r>
          </a:p>
        </p:txBody>
      </p:sp>
      <p:sp>
        <p:nvSpPr>
          <p:cNvPr id="2" name="Demo：完成一次跨平台口碑研究">
            <a:extLst xmlns:a="http://schemas.openxmlformats.org/drawingml/2006/main">
              <a:ext uri="{FF2B5EF4-FFF2-40B4-BE49-F238E27FC236}">
                <a16:creationId xmlns:a16="http://schemas.microsoft.com/office/drawing/2014/main" id="{972B6D80-BB92-4BA7-BCC1-8C2E2AAE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Demo：完成一次跨平台口碑研究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A6399-C70D-43BD-B052-11B64F9E93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bc89e017e4048"/>
          <a:stretch xmlns:a="http://schemas.openxmlformats.org/drawingml/2006/main"/>
        </p:blipFill>
        <p:spPr>
          <a:xfrm xmlns:a="http://schemas.openxmlformats.org/drawingml/2006/main">
            <a:off x="1584325" y="1771650"/>
            <a:ext cx="6032500" cy="3771900"/>
          </a:xfrm>
          <a:prstGeom xmlns:a="http://schemas.openxmlformats.org/drawingml/2006/main" prst="rect">
            <a:avLst/>
          </a:prstGeom>
        </p:spPr>
      </p:pic>
      <p:sp>
        <p:nvSpPr>
          <p:cNvPr id="4" name="01  範圍與趨勢">
            <a:extLst xmlns:a="http://schemas.openxmlformats.org/drawingml/2006/main">
              <a:ext uri="{FF2B5EF4-FFF2-40B4-BE49-F238E27FC236}">
                <a16:creationId xmlns:a16="http://schemas.microsoft.com/office/drawing/2014/main" id="{C97588E4-F0F7-4492-819D-5189D84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1452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01  範圍與趨勢</a:t>
            </a:r>
          </a:p>
        </p:txBody>
      </p:sp>
      <p:sp>
        <p:nvSpPr>
          <p:cNvPr id="5" name="選擇關鍵字、平台與期間&#10;核對趨勢及文章明細">
            <a:extLst xmlns:a="http://schemas.openxmlformats.org/drawingml/2006/main">
              <a:ext uri="{FF2B5EF4-FFF2-40B4-BE49-F238E27FC236}">
                <a16:creationId xmlns:a16="http://schemas.microsoft.com/office/drawing/2014/main" id="{9A78CDC3-CED4-4044-92C1-FEACD92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3812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選擇關鍵字、平台與期間</a:t>
            </a:r>
          </a:p>
          <a:p xmlns:a="http://schemas.openxmlformats.org/drawingml/2006/main"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核對趨勢及文章明細</a:t>
            </a:r>
          </a:p>
        </p:txBody>
      </p:sp>
      <p:sp>
        <p:nvSpPr>
          <p:cNvPr id="6" name="02  問答與回查">
            <a:extLst xmlns:a="http://schemas.openxmlformats.org/drawingml/2006/main">
              <a:ext uri="{FF2B5EF4-FFF2-40B4-BE49-F238E27FC236}">
                <a16:creationId xmlns:a16="http://schemas.microsoft.com/office/drawing/2014/main" id="{83B7B1E0-BED3-4132-B003-B5BFA1A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575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02  問答與回查</a:t>
            </a:r>
          </a:p>
        </p:txBody>
      </p:sp>
      <p:sp>
        <p:nvSpPr>
          <p:cNvPr id="7" name="提出研究問題&#10;展開引用，返回原文">
            <a:extLst xmlns:a="http://schemas.openxmlformats.org/drawingml/2006/main">
              <a:ext uri="{FF2B5EF4-FFF2-40B4-BE49-F238E27FC236}">
                <a16:creationId xmlns:a16="http://schemas.microsoft.com/office/drawing/2014/main" id="{BB4CA276-D84B-4107-B496-81E35364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724275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提出研究問題</a:t>
            </a:r>
          </a:p>
          <a:p xmlns:a="http://schemas.openxmlformats.org/drawingml/2006/main"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展開引用，返回原文</a:t>
            </a:r>
          </a:p>
        </p:txBody>
      </p:sp>
      <p:sp>
        <p:nvSpPr>
          <p:cNvPr id="8" name="03  比較與匯出">
            <a:extLst xmlns:a="http://schemas.openxmlformats.org/drawingml/2006/main">
              <a:ext uri="{FF2B5EF4-FFF2-40B4-BE49-F238E27FC236}">
                <a16:creationId xmlns:a16="http://schemas.microsoft.com/office/drawing/2014/main" id="{51972152-5DF2-4E83-B7CA-DE2DAFC5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7434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03  比較與匯出</a:t>
            </a:r>
          </a:p>
        </p:txBody>
      </p:sp>
      <p:sp>
        <p:nvSpPr>
          <p:cNvPr id="9" name="比較歷史，匯出 Excel">
            <a:extLst xmlns:a="http://schemas.openxmlformats.org/drawingml/2006/main">
              <a:ext uri="{FF2B5EF4-FFF2-40B4-BE49-F238E27FC236}">
                <a16:creationId xmlns:a16="http://schemas.microsoft.com/office/drawing/2014/main" id="{015E1E5A-6369-4DFA-87A2-D0F21F35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238750"/>
            <a:ext cx="2686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比較歷史，匯出 Excel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DC994-AF3A-4CCE-AE30-84C0746A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11" name="示範重點：相同查詢條件、可回查的來源、可留存的結果。">
            <a:extLst xmlns:a="http://schemas.openxmlformats.org/drawingml/2006/main">
              <a:ext uri="{FF2B5EF4-FFF2-40B4-BE49-F238E27FC236}">
                <a16:creationId xmlns:a16="http://schemas.microsoft.com/office/drawing/2014/main" id="{507120D7-1814-4148-9CE6-178D939A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示範重點：相同查詢條件、可回查的來源、可留存的結果。</a:t>
            </a:r>
          </a:p>
        </p:txBody>
      </p:sp>
      <p:sp>
        <p:nvSpPr>
          <p:cNvPr id="12" name="許家全 · 8:35–10:55">
            <a:extLst xmlns:a="http://schemas.openxmlformats.org/drawingml/2006/main">
              <a:ext uri="{FF2B5EF4-FFF2-40B4-BE49-F238E27FC236}">
                <a16:creationId xmlns:a16="http://schemas.microsoft.com/office/drawing/2014/main" id="{3FAED758-A0C2-4EBA-A42C-BB1D0193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許家全 · 8:35–10:55</a:t>
            </a:r>
          </a:p>
        </p:txBody>
      </p:sp>
      <p:sp>
        <p:nvSpPr>
          <p:cNvPr id="13" name="15">
            <a:extLst xmlns:a="http://schemas.openxmlformats.org/drawingml/2006/main">
              <a:ext uri="{FF2B5EF4-FFF2-40B4-BE49-F238E27FC236}">
                <a16:creationId xmlns:a16="http://schemas.microsoft.com/office/drawing/2014/main" id="{0EA590A7-008B-4E74-A0EE-42FF4FC6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01646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驗證證據">
            <a:extLst xmlns:a="http://schemas.openxmlformats.org/drawingml/2006/main">
              <a:ext uri="{FF2B5EF4-FFF2-40B4-BE49-F238E27FC236}">
                <a16:creationId xmlns:a16="http://schemas.microsoft.com/office/drawing/2014/main" id="{38E10553-FCB4-4202-94B2-40896151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驗證證據</a:t>
            </a:r>
          </a:p>
        </p:txBody>
      </p:sp>
      <p:sp>
        <p:nvSpPr>
          <p:cNvPr id="2" name="分層測試：區分原始報告與原稿紀錄">
            <a:extLst xmlns:a="http://schemas.openxmlformats.org/drawingml/2006/main">
              <a:ext uri="{FF2B5EF4-FFF2-40B4-BE49-F238E27FC236}">
                <a16:creationId xmlns:a16="http://schemas.microsoft.com/office/drawing/2014/main" id="{D16A66BA-E063-48C5-8CED-B168A753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分層測試：區分原始報告與原稿紀錄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A74EC-4A35-461F-ABDB-A1528177ABA7}"/>
              </a:ext>
            </a:extLst>
          </p:cNvPr>
          <p:cNvGraphicFramePr/>
          <p:nvPr/>
        </p:nvGraphicFramePr>
        <p:xfrm>
          <a:off xmlns:a="http://schemas.openxmlformats.org/drawingml/2006/main" x="733425" y="1771650"/>
          <a:ext xmlns:a="http://schemas.openxmlformats.org/drawingml/2006/main" cx="107251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000500"/>
                <a:gridCol w="4305300"/>
              </a:tblGrid>
              <a:tr h="6381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層級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結果與日期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本次可核對的證據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PostgreSQL 整合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10 通過｜2026/10/03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postgres-results.xml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Chromium 端對端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4 通過｜2026/09/27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all-results.xml 內 4 個 E2E 案例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後端 pytest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487 通過｜原稿記載 10/08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缺該批原始報告，待重跑保存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前端 Vitest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43 通過｜原稿記載 10/08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缺該批原始報告，待重跑保存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4" name="測試能支持流程；外部模型的固定回應不能證明回答品質。">
            <a:extLst xmlns:a="http://schemas.openxmlformats.org/drawingml/2006/main">
              <a:ext uri="{FF2B5EF4-FFF2-40B4-BE49-F238E27FC236}">
                <a16:creationId xmlns:a16="http://schemas.microsoft.com/office/drawing/2014/main" id="{2794C48B-BB46-47CC-BC47-B9099746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81600"/>
            <a:ext cx="1072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465E78"/>
                </a:solidFill>
              </a:defRPr>
            </a:pPr>
            <a:r>
              <a:rPr sz="1800" b="0">
                <a:solidFill>
                  <a:srgbClr val="465E78"/>
                </a:solidFill>
              </a:rPr>
              <a:t>測試能支持流程；外部模型的固定回應不能證明回答品質。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D7C7B-A4A7-4323-83BE-56D71FBE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6" name="以上為歷史紀錄，本次未重跑系統測試；不同日期、範圍的測試不累">
            <a:extLst xmlns:a="http://schemas.openxmlformats.org/drawingml/2006/main">
              <a:ext uri="{FF2B5EF4-FFF2-40B4-BE49-F238E27FC236}">
                <a16:creationId xmlns:a16="http://schemas.microsoft.com/office/drawing/2014/main" id="{474FE176-8F6C-43D2-BF97-B262F2A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以上為歷史紀錄，本次未重跑系統測試；不同日期、範圍的測試不累加。</a:t>
            </a:r>
          </a:p>
        </p:txBody>
      </p:sp>
      <p:sp>
        <p:nvSpPr>
          <p:cNvPr id="7" name="許家全 · 10:55–11:30">
            <a:extLst xmlns:a="http://schemas.openxmlformats.org/drawingml/2006/main">
              <a:ext uri="{FF2B5EF4-FFF2-40B4-BE49-F238E27FC236}">
                <a16:creationId xmlns:a16="http://schemas.microsoft.com/office/drawing/2014/main" id="{ADC34263-8249-4F0D-8E5E-90DCF42F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許家全 · 10:55–11:30</a:t>
            </a:r>
          </a:p>
        </p:txBody>
      </p:sp>
      <p:sp>
        <p:nvSpPr>
          <p:cNvPr id="8" name="16">
            <a:extLst xmlns:a="http://schemas.openxmlformats.org/drawingml/2006/main">
              <a:ext uri="{FF2B5EF4-FFF2-40B4-BE49-F238E27FC236}">
                <a16:creationId xmlns:a16="http://schemas.microsoft.com/office/drawing/2014/main" id="{0F8FF5F3-E919-4AB8-85B5-F26C52CD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438303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7474F0-F8F4-49B2-B021-2841AA6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評審C · 甘特圖年月 ／ GitHub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19F8EF-F5DF-40AA-9A65-9DD5DD1F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一年兩學期：用實際月份管進度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50CE05C-0D67-44F9-A324-DEE1C27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115/2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6172688-1603-49F3-9037-34F87F86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346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3月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DF420BD-015E-4EC4-9A61-03E00EC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172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4月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5F6480C-F537-4BEB-B40F-F6EF40BB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998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5月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F17DD7-21C0-4EEB-9208-13438D2A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6月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CD1FBEE-868C-45F1-879C-75AAFC53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7月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DF6BD7C-6AF6-411A-B983-A925B6CB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8月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1B3BC42-EBF2-463E-BDC3-DF66A676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9月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73730A-AD3F-4629-8749-02C46522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10月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3727586-7BC0-4AA2-B812-CF674A06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954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11月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EB3137D-C277-4BFF-AAFF-55F9FFCC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12月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D6C11BB-135C-4DD4-B084-C935FAAD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606" y="1783080"/>
            <a:ext cx="8938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116/1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CA6B60B-938D-4823-BCC2-411DD7C2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12264"/>
            <a:ext cx="1285875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6670DA9-0465-461E-AA7C-02D55AB3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12264"/>
            <a:ext cx="13407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起始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67B7FF5-F52F-4975-B88F-F9F8D17E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91" y="2112264"/>
            <a:ext cx="1554023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CDDD2A-5E57-4149-A269-2104A0A4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259" y="2112264"/>
            <a:ext cx="160888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精化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0ACEE37-122A-4799-BB96-38088912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578" y="2112264"/>
            <a:ext cx="4414266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6149992-F0B7-4DEC-97E1-9E72FAC9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146" y="2112264"/>
            <a:ext cx="446913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建構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E2DD23C-1F13-4B52-A47E-C4E8B7CD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708" y="2112264"/>
            <a:ext cx="325229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2700">
            <a:solidFill>
              <a:srgbClr val="D46A1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AAA81B3-D9E4-41F5-A3B7-43021EA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76" y="2112264"/>
            <a:ext cx="33071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移轉（進行中）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C78BB86-82BA-44D9-99B4-72053C76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343" y="258775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12"/>
          </a:solidFill>
          <a:ln xmlns:a="http://schemas.openxmlformats.org/drawingml/2006/main" w="12700">
            <a:solidFill>
              <a:srgbClr val="D46A12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831BA3F-DA7A-4203-9754-4624537A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999" y="278892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6/2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初審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A486A40-9025-445C-BF06-E4A57A54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362" y="258775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12"/>
          </a:solidFill>
          <a:ln xmlns:a="http://schemas.openxmlformats.org/drawingml/2006/main" w="12700">
            <a:solidFill>
              <a:srgbClr val="D46A12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906C453-B41D-4EDF-8F56-CF584557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018" y="278892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10/13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複審繳件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3C9906E-D32A-4BA9-A3B4-BEC39368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719" y="258775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12"/>
          </a:solidFill>
          <a:ln xmlns:a="http://schemas.openxmlformats.org/drawingml/2006/main" w="12700">
            <a:solidFill>
              <a:srgbClr val="D46A12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BC57DE1-F6A8-4D40-9146-3FD4D0BB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375" y="278892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11/25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觀摩展</a:t>
            </a:r>
            <a:endParaRPr sz="12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72DB685-AB9D-4363-B773-0D7CF409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619" y="258775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12"/>
          </a:solidFill>
          <a:ln xmlns:a="http://schemas.openxmlformats.org/drawingml/2006/main" w="12700">
            <a:solidFill>
              <a:srgbClr val="D46A12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74F7715-C5AD-4AD8-8777-D6C4C57D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275" y="278892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12/29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最終版</a:t>
            </a:r>
            <a:endParaRPr sz="12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B0BBB13-89B7-45AB-951A-48BEFA7E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035040" cy="2148840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643EAF1-6475-49A7-A48F-A432EAFE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383280"/>
            <a:ext cx="4507992" cy="2148840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02A8C67-D741-49E1-9E36-B97E8D78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566160"/>
            <a:ext cx="82296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0E730E12-F1AC-47E1-A3A6-3FD8BBC6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566160"/>
            <a:ext cx="822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5 月</a:t>
            </a:r>
            <a:endParaRPr sz="12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B239023-9E52-4116-B7F8-29BE9432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47872"/>
            <a:ext cx="3154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PTT 爬蟲、儀表板雛形</a:t>
            </a:r>
            <a:endParaRPr sz="14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2A69462-030D-4208-B9BA-475C0E95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50208"/>
            <a:ext cx="82296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093B1419-DF2B-4FAA-B2BD-EE694173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50208"/>
            <a:ext cx="822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7 月</a:t>
            </a:r>
            <a:endParaRPr sz="120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7B9FB28-D2A6-4787-9847-0600FCA0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931920"/>
            <a:ext cx="3154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帳號、WebSocket、Threads</a:t>
            </a:r>
            <a:endParaRPr sz="14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8FE1E07-1E40-4B32-BCD9-A4934E54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334256"/>
            <a:ext cx="82296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21099281-C000-4EAE-B247-E0855EE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334256"/>
            <a:ext cx="822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8 月</a:t>
            </a:r>
            <a:endParaRPr sz="12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43D7E73D-6558-4FCB-B74E-F9BEF1F3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315968"/>
            <a:ext cx="3154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Dcard、Mobile01、方案額度</a:t>
            </a:r>
            <a:endParaRPr sz="140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551EF12F-89F5-42E4-95D5-1BACD5D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718304"/>
            <a:ext cx="82296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64826EBD-EDD1-4A9F-9D99-14C6FCA0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718304"/>
            <a:ext cx="822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9 月</a:t>
            </a:r>
            <a:endParaRPr sz="12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97A4B502-DDBF-4AE9-B88B-96868612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700016"/>
            <a:ext cx="3154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Alembic 遷移、向量檢索</a:t>
            </a:r>
            <a:endParaRPr sz="1400"/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013B4DC3-643A-4B1A-81C6-E3AE9F64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102352"/>
            <a:ext cx="82296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68A1ADBC-DD35-4C29-A297-584A9573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102352"/>
            <a:ext cx="822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10 月</a:t>
            </a:r>
            <a:endParaRPr sz="1200"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4CBCE47-65E0-4426-AD10-3048A47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084064"/>
            <a:ext cx="3154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整合測試、情緒一致性修正</a:t>
            </a:r>
            <a:endParaRPr sz="140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1BC04AE9-A050-40E6-AA53-5E1A8A20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DEEDF"/>
          </a:solidFill>
          <a:ln xmlns:a="http://schemas.openxmlformats.org/drawingml/2006/main" w="12700">
            <a:solidFill>
              <a:srgbClr val="FDEEDF"/>
            </a:solidFill>
            <a:prstDash val="solid"/>
          </a:ln>
        </p:spPr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15366697-B447-49EA-A244-2C2D721D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本機 Git：7–10 月 143 次提交（截至 10/11）；集中於單一作者，非逐人貢獻比例。</a:t>
            </a:r>
            <a:endParaRPr sz="1400"/>
          </a:p>
        </p:txBody>
      </p:sp>
      <p:sp>
        <p:nvSpPr>
          <p:cNvPr id="54" name="陳威帆 · 11:30–12:15">
            <a:extLst xmlns:a="http://schemas.openxmlformats.org/drawingml/2006/main">
              <a:ext uri="{FF2B5EF4-FFF2-40B4-BE49-F238E27FC236}">
                <a16:creationId xmlns:a16="http://schemas.microsoft.com/office/drawing/2014/main" id="{CB8A64D2-E498-4020-B1A2-49E6B8E7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11:30–12:15</a:t>
            </a:r>
          </a:p>
        </p:txBody>
      </p:sp>
      <p:sp>
        <p:nvSpPr>
          <p:cNvPr id="55" name="17">
            <a:extLst xmlns:a="http://schemas.openxmlformats.org/drawingml/2006/main">
              <a:ext uri="{FF2B5EF4-FFF2-40B4-BE49-F238E27FC236}">
                <a16:creationId xmlns:a16="http://schemas.microsoft.com/office/drawing/2014/main" id="{A13AD611-5595-4DFB-8BD9-6296EE5D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17</a:t>
            </a:r>
          </a:p>
        </p:txBody>
      </p:sp>
      <p:graphicFrame>
        <p:nvGraphicFramePr>
          <p:cNvPr id="56" name="Chart">
            <a:extLst xmlns:a="http://schemas.openxmlformats.org/drawingml/2006/main">
              <a:ext uri="{FF2B5EF4-FFF2-40B4-BE49-F238E27FC236}">
                <a16:creationId xmlns:a16="http://schemas.microsoft.com/office/drawing/2014/main" id="{1010574F-0FDF-4032-8F0A-AF35C50413F4}"/>
              </a:ext>
            </a:extLst>
          </p:cNvPr>
          <p:cNvGraphicFramePr/>
          <p:nvPr/>
        </p:nvGraphicFramePr>
        <p:xfrm>
          <a:off xmlns:a="http://schemas.openxmlformats.org/drawingml/2006/main" x="914400" y="3474720"/>
          <a:ext xmlns:a="http://schemas.openxmlformats.org/drawingml/2006/main" cx="5669280" cy="19659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d47b1b21624dc2"/>
          </a:graphicData>
        </a:graphic>
      </p:graphicFrame>
    </p:spTree>
    <p:extLst>
      <p:ext uri="{BB962C8B-B14F-4D97-AF65-F5344CB8AC3E}">
        <p14:creationId xmlns:p14="http://schemas.microsoft.com/office/powerpoint/2010/main" val="11449582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6872A3-C2B2-4E51-AA59-7D11832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分工參與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B8CFF4-E02B-4252-8BD1-762D52C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兩人分工：一人顧需求與營運，一人顧系統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8E681A0-5409-45C5-8409-963228D4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5257800" cy="3611880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76B4F59-4499-4213-A914-8E3D6E7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236" y="201168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EDD4EF95-F430-4C5B-813C-59626F21D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4c86ae98f4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7540" y="21579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B05FFBB-F3A1-4E2E-A848-8A9E15C4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5257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陳威帆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F192125-9823-46B2-B755-8AA0B628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54680"/>
            <a:ext cx="5257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組長 · 11246044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3A718B3-CAC3-4AD1-A310-D4FA4F81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11880"/>
            <a:ext cx="47091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需求企劃與雜誌社交流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營運計畫：成本、STP、TOWS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系統手冊統整、第 1–6 章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簡報與報告</a:t>
            </a:r>
            <a:endParaRPr sz="1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C4B1D09-965F-4278-BB96-05EDC629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783080"/>
            <a:ext cx="5257800" cy="3611880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A7D5A10-81B8-439B-8B6B-2F620F6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348" y="201168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B7C32F33-4147-4F1C-A934-265AD1D55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0a7f01c864a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5652" y="21579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B6C6DAE-D43E-4E74-91FE-6BC25773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743200"/>
            <a:ext cx="5257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許家全</a:t>
            </a:r>
            <a:endParaRPr sz="2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9737799-19A1-4BE2-AB26-D915C2E6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154680"/>
            <a:ext cx="5257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組員 · 11246039</a:t>
            </a:r>
            <a:endParaRPr sz="12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C700552-A3FE-47BF-A790-D921C5B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611880"/>
            <a:ext cx="47091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系統架構、資料庫、FastAPI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四平台爬蟲與每日排程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AI 問答、情緒評分、向量檢索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前端介面、測試、手冊第 7–12 章</a:t>
            </a:r>
            <a:endParaRPr sz="14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A07CAEA-8240-4DE0-AEC2-AA671D0B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98A2BE1-896E-4C16-BFFC-0BF8E304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程式提交與文件、企劃工作分開佐證；不以單一帳號的提交次數推算貢獻比例。</a:t>
            </a:r>
            <a:endParaRPr sz="1400"/>
          </a:p>
        </p:txBody>
      </p:sp>
      <p:sp>
        <p:nvSpPr>
          <p:cNvPr id="20" name="陳威帆 · 12:15–12:45">
            <a:extLst xmlns:a="http://schemas.openxmlformats.org/drawingml/2006/main">
              <a:ext uri="{FF2B5EF4-FFF2-40B4-BE49-F238E27FC236}">
                <a16:creationId xmlns:a16="http://schemas.microsoft.com/office/drawing/2014/main" id="{D2AEDEB7-F2B9-4051-8EE1-9EAEFFA5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12:15–12:45</a:t>
            </a:r>
          </a:p>
        </p:txBody>
      </p:sp>
      <p:sp>
        <p:nvSpPr>
          <p:cNvPr id="21" name="18">
            <a:extLst xmlns:a="http://schemas.openxmlformats.org/drawingml/2006/main">
              <a:ext uri="{FF2B5EF4-FFF2-40B4-BE49-F238E27FC236}">
                <a16:creationId xmlns:a16="http://schemas.microsoft.com/office/drawing/2014/main" id="{5915EECD-9CB3-4C20-BD63-1E2E077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661943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112E93-58A0-4FBC-948D-8502D6A3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WRAP-UP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8207CD5-442C-4087-92D6-711674D5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107259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做到了什麼，也說清楚還差什麼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1FD7E8F-C86E-46D8-A462-78EF5A1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3429000" cy="365760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F9608BE-8DFF-4BAD-AA7B-345E728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836" y="201168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762B4E0E-9370-4F7E-9D18-A3B9E4B85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1aaf8a6b14a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3140" y="21579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15D9D35-5B72-459C-900C-482ED22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EF85B4D-3111-4A00-8620-86B1F1AF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7560"/>
            <a:ext cx="3063240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四平台自動收錄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混合檢索 AI 問答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100 篇重跑一致性紀錄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帳號、方案、監測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成本試算、STP、TOWS</a:t>
            </a:r>
            <a:endParaRPr sz="14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B866582-65E0-4169-A760-EF0AEB53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783080"/>
            <a:ext cx="3429000" cy="365760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EEA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BB554AC-7DB0-4616-8B90-F6F5589C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292" y="201168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3" name="Image 1">
            <a:extLst xmlns:a="http://schemas.openxmlformats.org/drawingml/2006/main">
              <a:ext uri="{FF2B5EF4-FFF2-40B4-BE49-F238E27FC236}">
                <a16:creationId xmlns:a16="http://schemas.microsoft.com/office/drawing/2014/main" id="{B0A8DD29-9224-4225-B6BF-35B0BB16C3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33f426126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1596" y="21579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D62EDA9-B302-45AD-9AC3-55AF423C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278892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  <a:endParaRPr sz="18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C596423-02A8-4E00-9A10-913695B3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337560"/>
            <a:ext cx="3063240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人工標註驗證情緒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固定題組測檢索品質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業配辨識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預警帳號隔離修正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正式需求訪談</a:t>
            </a:r>
            <a:endParaRPr sz="14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F9B1004A-9689-45C5-B410-1E76FA46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783080"/>
            <a:ext cx="3429000" cy="365760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6A12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0FC89931-319C-434A-9FD0-F122821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748" y="201168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pic>
        <p:nvPicPr>
          <p:cNvPr id="18" name="Image 2">
            <a:extLst xmlns:a="http://schemas.openxmlformats.org/drawingml/2006/main">
              <a:ext uri="{FF2B5EF4-FFF2-40B4-BE49-F238E27FC236}">
                <a16:creationId xmlns:a16="http://schemas.microsoft.com/office/drawing/2014/main" id="{8012532D-7C24-4164-92E0-B8A4E8668C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3636d51454f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0052" y="21579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C18D32F-DC6B-40F4-8BAF-E987D501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78892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面對 AI 代理</a:t>
            </a:r>
            <a:endParaRPr sz="18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7646DF6-F8C2-450D-9506-D54667FF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337560"/>
            <a:ext cx="3063240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通用 AI 能搜尋整理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我們的定位：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長期累積的歷史資料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回答附引用來源清單</a:t>
            </a:r>
            <a:endParaRPr sz="1400"/>
          </a:p>
          <a:p xmlns:a="http://schemas.openxmlformats.org/drawingml/2006/main"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帳號化的持續監測</a:t>
            </a:r>
            <a:endParaRPr sz="14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47EE1155-878C-490A-827B-63704F8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2EDF9"/>
          </a:solidFill>
          <a:ln xmlns:a="http://schemas.openxmlformats.org/drawingml/2006/main" w="12700">
            <a:solidFill>
              <a:srgbClr val="E2EDF9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4BB1571-CFFA-4015-A62E-1FD8E4B2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謝謝老師，敬請指教</a:t>
            </a:r>
            <a:endParaRPr sz="1400"/>
          </a:p>
        </p:txBody>
      </p:sp>
      <p:sp>
        <p:nvSpPr>
          <p:cNvPr id="23" name="陳威帆 · 12:45–14:30">
            <a:extLst xmlns:a="http://schemas.openxmlformats.org/drawingml/2006/main">
              <a:ext uri="{FF2B5EF4-FFF2-40B4-BE49-F238E27FC236}">
                <a16:creationId xmlns:a16="http://schemas.microsoft.com/office/drawing/2014/main" id="{E7AAF622-5A08-4036-802C-FF55E468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陳威帆 · 12:45–14:30</a:t>
            </a:r>
          </a:p>
        </p:txBody>
      </p:sp>
      <p:sp>
        <p:nvSpPr>
          <p:cNvPr id="24" name="19">
            <a:extLst xmlns:a="http://schemas.openxmlformats.org/drawingml/2006/main">
              <a:ext uri="{FF2B5EF4-FFF2-40B4-BE49-F238E27FC236}">
                <a16:creationId xmlns:a16="http://schemas.microsoft.com/office/drawing/2014/main" id="{FBA77503-0410-404C-97E1-8E9015C6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54890851"/>
      </p:ext>
    </p:extLst>
  </p:cSld>
</p:sld>
</file>

<file path=ppt/slides/slide2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 A · 前次評審意見修正情形">
            <a:extLst xmlns:a="http://schemas.openxmlformats.org/drawingml/2006/main">
              <a:ext uri="{FF2B5EF4-FFF2-40B4-BE49-F238E27FC236}">
                <a16:creationId xmlns:a16="http://schemas.microsoft.com/office/drawing/2014/main" id="{857FA5A3-3658-46EE-AAB5-0C9EECE7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附錄 A · 前次評審意見修正情形</a:t>
            </a:r>
          </a:p>
        </p:txBody>
      </p:sp>
      <p:sp>
        <p:nvSpPr>
          <p:cNvPr id="2" name="16 項意見對照：定位、營運與實作（1/2）">
            <a:extLst xmlns:a="http://schemas.openxmlformats.org/drawingml/2006/main">
              <a:ext uri="{FF2B5EF4-FFF2-40B4-BE49-F238E27FC236}">
                <a16:creationId xmlns:a16="http://schemas.microsoft.com/office/drawing/2014/main" id="{E2BC45AA-4715-493E-B4D5-33FB96DE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16 項意見對照：定位、營運與實作（1/2）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8E32A-5362-4E24-9516-8370F47A193D}"/>
              </a:ext>
            </a:extLst>
          </p:cNvPr>
          <p:cNvGraphicFramePr/>
          <p:nvPr/>
        </p:nvGraphicFramePr>
        <p:xfrm>
          <a:off xmlns:a="http://schemas.openxmlformats.org/drawingml/2006/main" x="733425" y="1771650"/>
          <a:ext xmlns:a="http://schemas.openxmlformats.org/drawingml/2006/main" cx="107251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4181475"/>
                <a:gridCol w="3762375"/>
              </a:tblGrid>
              <a:tr h="4233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編號與意見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本次回應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尚待完成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R01 成本量化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p7 情境與附錄 C 敏感度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帳單、維護工時、獲利時點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R02 九大區塊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p6 訂閱模式與額度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付費意願及收款驗證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R03 STP 區隔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規模／主題／頻率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需求訪談驗證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R04 TOWS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p8 四類策略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試用與策略成效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R05 爬蟲觸發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p10 手動／每日排程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持續運行監測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R06 甘特年月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p17 實際月份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更新每月進度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R07 GitHub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p17 提交紀錄；p18 分工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逐人可追溯的交付物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R08 RAG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p11 混合檢索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固定題組與檢索評估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6DADCECF-885F-4182-BC39-B667DC02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49368395"/>
      </p:ext>
    </p:extLst>
  </p:cSld>
</p:sld>
</file>

<file path=ppt/slides/slide2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附錄 B · 前次評審意見修正情形">
            <a:extLst xmlns:a="http://schemas.openxmlformats.org/drawingml/2006/main">
              <a:ext uri="{FF2B5EF4-FFF2-40B4-BE49-F238E27FC236}">
                <a16:creationId xmlns:a16="http://schemas.microsoft.com/office/drawing/2014/main" id="{642ACF4E-61A3-4305-ADAD-3A0BA312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附錄 B · 前次評審意見修正情形</a:t>
            </a:r>
          </a:p>
        </p:txBody>
      </p:sp>
      <p:sp>
        <p:nvSpPr>
          <p:cNvPr id="2" name="16 項意見對照：資料品質與驗證（2/2）">
            <a:extLst xmlns:a="http://schemas.openxmlformats.org/drawingml/2006/main">
              <a:ext uri="{FF2B5EF4-FFF2-40B4-BE49-F238E27FC236}">
                <a16:creationId xmlns:a16="http://schemas.microsoft.com/office/drawing/2014/main" id="{CF353B7E-532B-48C0-B4DB-3B5F5BA6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16 項意見對照：資料品質與驗證（2/2）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B7F4D-56E5-4B29-B78B-45A9377CD51F}"/>
              </a:ext>
            </a:extLst>
          </p:cNvPr>
          <p:cNvGraphicFramePr/>
          <p:nvPr/>
        </p:nvGraphicFramePr>
        <p:xfrm>
          <a:off xmlns:a="http://schemas.openxmlformats.org/drawingml/2006/main" x="733425" y="1771650"/>
          <a:ext xmlns:a="http://schemas.openxmlformats.org/drawingml/2006/main" cx="107251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4181475"/>
                <a:gridCol w="3762375"/>
              </a:tblGrid>
              <a:tr h="4233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編號與意見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本次回應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尚待完成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R09 分數一致性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p12 分數規則與重跑紀錄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人工標註及模型版本追蹤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R10 自動篩選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p10 相關性規則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業配辨識與抽樣複核流程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R11 領域知識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p11 社群證據範圍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知識萃取、專家驗證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R12 使用對象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先聚焦從業人員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一般消費者版另行設計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R13 通用 AI 差異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流程整合；p8 策略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同題比較，不宣稱優於所有 AI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R14 需求訪談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初評口頭交流來源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正式訪談紀錄與需求驗收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R15 Agentic AI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p8 TOWS；p19 後續策略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同題實測；補聽未轉錄錄音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R16 文件強化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本簡報與現有系統手冊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同步修正狀態、版本與證據</a:t>
                      </a:r>
                    </a:p>
                  </a:txBody>
                  <a:tcPr marL="114300" marR="114300" marT="38100" marB="381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F10B7-20FE-41DE-8503-C7370D7F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5" name="編號依「初評評審意見整理」第 3 頁；原錄音 29:58 後">
            <a:extLst xmlns:a="http://schemas.openxmlformats.org/drawingml/2006/main">
              <a:ext uri="{FF2B5EF4-FFF2-40B4-BE49-F238E27FC236}">
                <a16:creationId xmlns:a16="http://schemas.microsoft.com/office/drawing/2014/main" id="{8BBCBDA4-46AC-433C-ABB3-A7EBC155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編號依「初評評審意見整理」第 3 頁；原錄音 29:58 後未轉錄，待補聽。</a:t>
            </a:r>
          </a:p>
        </p:txBody>
      </p:sp>
      <p:sp>
        <p:nvSpPr>
          <p:cNvPr id="6" name="21">
            <a:extLst xmlns:a="http://schemas.openxmlformats.org/drawingml/2006/main">
              <a:ext uri="{FF2B5EF4-FFF2-40B4-BE49-F238E27FC236}">
                <a16:creationId xmlns:a16="http://schemas.microsoft.com/office/drawing/2014/main" id="{E66E2EA8-3A40-4E76-BC94-46395AAD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11770878"/>
      </p:ext>
    </p:extLst>
  </p:cSld>
</p:sld>
</file>

<file path=ppt/slides/slide2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附錄 C · 成本敏感度（純情境）">
            <a:extLst xmlns:a="http://schemas.openxmlformats.org/drawingml/2006/main">
              <a:ext uri="{FF2B5EF4-FFF2-40B4-BE49-F238E27FC236}">
                <a16:creationId xmlns:a16="http://schemas.microsoft.com/office/drawing/2014/main" id="{214F1E84-FCAD-443F-93C1-46E8045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附錄 C · 成本敏感度（純情境）</a:t>
            </a:r>
          </a:p>
        </p:txBody>
      </p:sp>
      <p:sp>
        <p:nvSpPr>
          <p:cNvPr id="2" name="人力成本納入後，平衡帳號數會上升">
            <a:extLst xmlns:a="http://schemas.openxmlformats.org/drawingml/2006/main">
              <a:ext uri="{FF2B5EF4-FFF2-40B4-BE49-F238E27FC236}">
                <a16:creationId xmlns:a16="http://schemas.microsoft.com/office/drawing/2014/main" id="{D86BB3C5-1D82-4414-88DB-A862FA32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人力成本納入後，平衡帳號數會上升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21EE2-8B48-4CDD-97BA-BC1BC3B65AE8}"/>
              </a:ext>
            </a:extLst>
          </p:cNvPr>
          <p:cNvGraphicFramePr/>
          <p:nvPr/>
        </p:nvGraphicFramePr>
        <p:xfrm>
          <a:off xmlns:a="http://schemas.openxmlformats.org/drawingml/2006/main" x="733425" y="1771650"/>
          <a:ext xmlns:a="http://schemas.openxmlformats.org/drawingml/2006/main" cx="1072515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95900"/>
                <a:gridCol w="2400300"/>
                <a:gridCol w="302895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情境（新臺幣／月）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月基礎支出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平衡付費帳號數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原稿基礎預算；未含人力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1,681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⌈1,681 ÷ 445⌉ = 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另假設維護人力 5,000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6,681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⌈6,681 ÷ 445⌉ = 16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另假設維護人力 10,000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11,681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⌈11,681 ÷ 445⌉ = 27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3DEEA"/>
                      </a:solidFill>
                      <a:prstDash val="solid"/>
                    </a:lnR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每帳號月貢獻＝月費 490 − 變動費 45＝445 元">
            <a:extLst xmlns:a="http://schemas.openxmlformats.org/drawingml/2006/main">
              <a:ext uri="{FF2B5EF4-FFF2-40B4-BE49-F238E27FC236}">
                <a16:creationId xmlns:a16="http://schemas.microsoft.com/office/drawing/2014/main" id="{5A8AC995-D2D2-4F10-BB20-CADB82A3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76800"/>
            <a:ext cx="10725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073BE"/>
                </a:solidFill>
              </a:defRPr>
            </a:pPr>
            <a:r>
              <a:rPr sz="2100" b="1">
                <a:solidFill>
                  <a:srgbClr val="2073BE"/>
                </a:solidFill>
              </a:rPr>
              <a:t>每帳號月貢獻＝月費 490 − 變動費 45＝445 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E7565-3C9A-44C9-9E38-FB4B602F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6" name="5,000／10,000 為示例假設；未含開發回收、稅費，尚">
            <a:extLst xmlns:a="http://schemas.openxmlformats.org/drawingml/2006/main">
              <a:ext uri="{FF2B5EF4-FFF2-40B4-BE49-F238E27FC236}">
                <a16:creationId xmlns:a16="http://schemas.microsoft.com/office/drawing/2014/main" id="{5A5C9110-23D8-450C-A17D-5B8B8C1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5,000／10,000 為示例假設；未含開發回收、稅費，尚無可驗證的獲利日期。</a:t>
            </a:r>
          </a:p>
        </p:txBody>
      </p:sp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E95ED7AE-7A40-4AE6-A2CF-82D57A64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08444520"/>
      </p:ext>
    </p:extLst>
  </p:cSld>
</p:sld>
</file>

<file path=ppt/slides/slide2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附錄 D · Demo 備援畫面">
            <a:extLst xmlns:a="http://schemas.openxmlformats.org/drawingml/2006/main">
              <a:ext uri="{FF2B5EF4-FFF2-40B4-BE49-F238E27FC236}">
                <a16:creationId xmlns:a16="http://schemas.microsoft.com/office/drawing/2014/main" id="{5CE1F2A8-0EE7-40D8-80F0-F729CCA9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附錄 D · Demo 備援畫面</a:t>
            </a:r>
          </a:p>
        </p:txBody>
      </p:sp>
      <p:sp>
        <p:nvSpPr>
          <p:cNvPr id="2" name="AI 問答：從回答回到引用文章">
            <a:extLst xmlns:a="http://schemas.openxmlformats.org/drawingml/2006/main">
              <a:ext uri="{FF2B5EF4-FFF2-40B4-BE49-F238E27FC236}">
                <a16:creationId xmlns:a16="http://schemas.microsoft.com/office/drawing/2014/main" id="{CD4E88AE-E5B8-4FC4-AFE2-AC0F898C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AI 問答：從回答回到引用文章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1255E-DF0F-4CF2-8509-CAAC79799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623db041404b"/>
          <a:stretch xmlns:a="http://schemas.openxmlformats.org/drawingml/2006/main"/>
        </p:blipFill>
        <p:spPr>
          <a:xfrm xmlns:a="http://schemas.openxmlformats.org/drawingml/2006/main">
            <a:off x="2819400" y="169545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746D0-4EA9-4B28-B657-30B4A22C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5" name="既有管理員操作截圖（2026/10/07）；示範引用回查，不">
            <a:extLst xmlns:a="http://schemas.openxmlformats.org/drawingml/2006/main">
              <a:ext uri="{FF2B5EF4-FFF2-40B4-BE49-F238E27FC236}">
                <a16:creationId xmlns:a16="http://schemas.microsoft.com/office/drawing/2014/main" id="{E70FBA50-1BEB-4C84-BBA4-85069240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既有管理員操作截圖（2026/10/07）；示範引用回查，不代表即時服務狀態。</a:t>
            </a:r>
          </a:p>
        </p:txBody>
      </p:sp>
      <p:sp>
        <p:nvSpPr>
          <p:cNvPr id="6" name="23">
            <a:extLst xmlns:a="http://schemas.openxmlformats.org/drawingml/2006/main">
              <a:ext uri="{FF2B5EF4-FFF2-40B4-BE49-F238E27FC236}">
                <a16:creationId xmlns:a16="http://schemas.microsoft.com/office/drawing/2014/main" id="{3D9CCD87-5EA3-481E-AD2D-07ADB22B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9713143"/>
      </p:ext>
    </p:extLst>
  </p:cSld>
</p:sld>
</file>

<file path=ppt/slides/slide2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附錄 E · Demo 備援畫面">
            <a:extLst xmlns:a="http://schemas.openxmlformats.org/drawingml/2006/main">
              <a:ext uri="{FF2B5EF4-FFF2-40B4-BE49-F238E27FC236}">
                <a16:creationId xmlns:a16="http://schemas.microsoft.com/office/drawing/2014/main" id="{5EA75AAF-5CFE-49EB-A641-5693FBDA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C85C00"/>
                </a:solidFill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C85C00"/>
                </a:solidFill>
              </a:defRPr>
            </a:pPr>
            <a:r>
              <a:rPr sz="1350" b="1">
                <a:solidFill>
                  <a:srgbClr val="C85C00"/>
                </a:solidFill>
              </a:rPr>
              <a:t>附錄 E · Demo 備援畫面</a:t>
            </a:r>
          </a:p>
        </p:txBody>
      </p:sp>
      <p:sp>
        <p:nvSpPr>
          <p:cNvPr id="2" name="歷史比較：保留兩次查詢的分析結果">
            <a:extLst xmlns:a="http://schemas.openxmlformats.org/drawingml/2006/main">
              <a:ext uri="{FF2B5EF4-FFF2-40B4-BE49-F238E27FC236}">
                <a16:creationId xmlns:a16="http://schemas.microsoft.com/office/drawing/2014/main" id="{18FF3E2A-7776-4E3F-9C3A-5421CE75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3450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歷史比較：保留兩次查詢的分析結果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42545-9ADE-4B0D-974B-AB090D5F2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491f3d8804055"/>
          <a:stretch xmlns:a="http://schemas.openxmlformats.org/drawingml/2006/main"/>
        </p:blipFill>
        <p:spPr>
          <a:xfrm xmlns:a="http://schemas.openxmlformats.org/drawingml/2006/main">
            <a:off x="2819400" y="169545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E8307-5D00-4CBB-B2E0-8E2AA7ED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7251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2EEFA"/>
          </a:solidFill>
          <a:ln xmlns:a="http://schemas.openxmlformats.org/drawingml/2006/main" w="9525">
            <a:solidFill>
              <a:srgbClr val="D3DEEA"/>
            </a:solidFill>
          </a:ln>
        </p:spPr>
      </p:sp>
      <p:sp>
        <p:nvSpPr>
          <p:cNvPr id="5" name="沿用原稿實際畫面；確認兩次範圍與分母後再解讀差異。">
            <a:extLst xmlns:a="http://schemas.openxmlformats.org/drawingml/2006/main">
              <a:ext uri="{FF2B5EF4-FFF2-40B4-BE49-F238E27FC236}">
                <a16:creationId xmlns:a16="http://schemas.microsoft.com/office/drawing/2014/main" id="{A862B7B2-8384-4BF5-8414-716962CE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073BE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沿用原稿實際畫面；確認兩次範圍與分母後再解讀差異。</a:t>
            </a:r>
          </a:p>
        </p:txBody>
      </p:sp>
      <p:sp>
        <p:nvSpPr>
          <p:cNvPr id="6" name="24">
            <a:extLst xmlns:a="http://schemas.openxmlformats.org/drawingml/2006/main">
              <a:ext uri="{FF2B5EF4-FFF2-40B4-BE49-F238E27FC236}">
                <a16:creationId xmlns:a16="http://schemas.microsoft.com/office/drawing/2014/main" id="{A96C2179-D115-407C-A957-021583D9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912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65E78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487860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2026-10-12T01:12:13.2290000Z</dcterms:created>
  <dcterms:modified xsi:type="dcterms:W3CDTF">2026-10-12T01:12:13.2290000Z</dcterms:modified>
</coreProperties>
</file>